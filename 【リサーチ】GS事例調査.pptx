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72" r:id="rId4"/>
    <p:sldId id="262" r:id="rId5"/>
    <p:sldId id="263" r:id="rId6"/>
    <p:sldId id="270" r:id="rId7"/>
    <p:sldId id="271" r:id="rId8"/>
    <p:sldId id="264" r:id="rId9"/>
    <p:sldId id="268" r:id="rId10"/>
    <p:sldId id="265" r:id="rId11"/>
    <p:sldId id="266" r:id="rId12"/>
    <p:sldId id="259"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FB150-3AE8-432F-821C-B63F3266519A}" v="79" dt="2025-09-28T14:45:41.4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泰弘 仲山" userId="857b4835f3abfbd8" providerId="LiveId" clId="{1719127F-B280-47D0-B899-2028F4F2809D}"/>
    <pc:docChg chg="undo custSel addSld delSld modSld sldOrd">
      <pc:chgData name="泰弘 仲山" userId="857b4835f3abfbd8" providerId="LiveId" clId="{1719127F-B280-47D0-B899-2028F4F2809D}" dt="2025-09-28T14:45:51.743" v="6584" actId="14100"/>
      <pc:docMkLst>
        <pc:docMk/>
      </pc:docMkLst>
      <pc:sldChg chg="addSp delSp modSp new del mod">
        <pc:chgData name="泰弘 仲山" userId="857b4835f3abfbd8" providerId="LiveId" clId="{1719127F-B280-47D0-B899-2028F4F2809D}" dt="2025-09-12T03:32:04.392" v="1790" actId="47"/>
        <pc:sldMkLst>
          <pc:docMk/>
          <pc:sldMk cId="133475008" sldId="256"/>
        </pc:sldMkLst>
      </pc:sldChg>
      <pc:sldChg chg="modSp add del mod ord">
        <pc:chgData name="泰弘 仲山" userId="857b4835f3abfbd8" providerId="LiveId" clId="{1719127F-B280-47D0-B899-2028F4F2809D}" dt="2025-09-12T03:44:15.028" v="2542" actId="47"/>
        <pc:sldMkLst>
          <pc:docMk/>
          <pc:sldMk cId="1166410302" sldId="257"/>
        </pc:sldMkLst>
      </pc:sldChg>
      <pc:sldChg chg="modSp add del mod">
        <pc:chgData name="泰弘 仲山" userId="857b4835f3abfbd8" providerId="LiveId" clId="{1719127F-B280-47D0-B899-2028F4F2809D}" dt="2025-09-12T03:33:37.987" v="1910" actId="47"/>
        <pc:sldMkLst>
          <pc:docMk/>
          <pc:sldMk cId="846674619" sldId="258"/>
        </pc:sldMkLst>
      </pc:sldChg>
      <pc:sldChg chg="addSp delSp modSp add mod">
        <pc:chgData name="泰弘 仲山" userId="857b4835f3abfbd8" providerId="LiveId" clId="{1719127F-B280-47D0-B899-2028F4F2809D}" dt="2025-09-12T03:26:10.527" v="1493" actId="1038"/>
        <pc:sldMkLst>
          <pc:docMk/>
          <pc:sldMk cId="235616622" sldId="259"/>
        </pc:sldMkLst>
        <pc:spChg chg="mod">
          <ac:chgData name="泰弘 仲山" userId="857b4835f3abfbd8" providerId="LiveId" clId="{1719127F-B280-47D0-B899-2028F4F2809D}" dt="2025-09-12T03:23:45.625" v="1295" actId="20577"/>
          <ac:spMkLst>
            <pc:docMk/>
            <pc:sldMk cId="235616622" sldId="259"/>
            <ac:spMk id="2" creationId="{1952008A-E8FB-3ED2-90E4-3C6D40C8D46F}"/>
          </ac:spMkLst>
        </pc:spChg>
        <pc:spChg chg="mod">
          <ac:chgData name="泰弘 仲山" userId="857b4835f3abfbd8" providerId="LiveId" clId="{1719127F-B280-47D0-B899-2028F4F2809D}" dt="2025-09-12T03:26:10.527" v="1493" actId="1038"/>
          <ac:spMkLst>
            <pc:docMk/>
            <pc:sldMk cId="235616622" sldId="259"/>
            <ac:spMk id="3" creationId="{54DA002E-D7AC-3FCC-857A-8D53DA4E25E1}"/>
          </ac:spMkLst>
        </pc:spChg>
        <pc:spChg chg="add mod">
          <ac:chgData name="泰弘 仲山" userId="857b4835f3abfbd8" providerId="LiveId" clId="{1719127F-B280-47D0-B899-2028F4F2809D}" dt="2025-09-12T03:26:00.170" v="1481" actId="1076"/>
          <ac:spMkLst>
            <pc:docMk/>
            <pc:sldMk cId="235616622" sldId="259"/>
            <ac:spMk id="6" creationId="{77181321-6953-DA39-19C6-F87031208D64}"/>
          </ac:spMkLst>
        </pc:spChg>
      </pc:sldChg>
      <pc:sldChg chg="addSp delSp modSp add del mod">
        <pc:chgData name="泰弘 仲山" userId="857b4835f3abfbd8" providerId="LiveId" clId="{1719127F-B280-47D0-B899-2028F4F2809D}" dt="2025-09-28T14:11:52.176" v="6127" actId="20577"/>
        <pc:sldMkLst>
          <pc:docMk/>
          <pc:sldMk cId="677794036" sldId="260"/>
        </pc:sldMkLst>
        <pc:spChg chg="mod">
          <ac:chgData name="泰弘 仲山" userId="857b4835f3abfbd8" providerId="LiveId" clId="{1719127F-B280-47D0-B899-2028F4F2809D}" dt="2025-09-28T14:05:25.454" v="6073" actId="14100"/>
          <ac:spMkLst>
            <pc:docMk/>
            <pc:sldMk cId="677794036" sldId="260"/>
            <ac:spMk id="3" creationId="{48D0B4B0-0652-07C2-B47B-38517004A203}"/>
          </ac:spMkLst>
        </pc:spChg>
        <pc:spChg chg="add mod">
          <ac:chgData name="泰弘 仲山" userId="857b4835f3abfbd8" providerId="LiveId" clId="{1719127F-B280-47D0-B899-2028F4F2809D}" dt="2025-09-28T14:11:52.176" v="6127" actId="20577"/>
          <ac:spMkLst>
            <pc:docMk/>
            <pc:sldMk cId="677794036" sldId="260"/>
            <ac:spMk id="4" creationId="{401C29DD-27FD-EBB5-28CF-393B47760161}"/>
          </ac:spMkLst>
        </pc:spChg>
      </pc:sldChg>
      <pc:sldChg chg="addSp delSp modSp add mod">
        <pc:chgData name="泰弘 仲山" userId="857b4835f3abfbd8" providerId="LiveId" clId="{1719127F-B280-47D0-B899-2028F4F2809D}" dt="2025-09-28T14:34:21.348" v="6485" actId="113"/>
        <pc:sldMkLst>
          <pc:docMk/>
          <pc:sldMk cId="823954339" sldId="261"/>
        </pc:sldMkLst>
        <pc:spChg chg="del">
          <ac:chgData name="泰弘 仲山" userId="857b4835f3abfbd8" providerId="LiveId" clId="{1719127F-B280-47D0-B899-2028F4F2809D}" dt="2025-09-28T14:17:00.201" v="6135" actId="478"/>
          <ac:spMkLst>
            <pc:docMk/>
            <pc:sldMk cId="823954339" sldId="261"/>
            <ac:spMk id="2" creationId="{43B10E61-056C-21D7-7DB3-0EEDFA6D603B}"/>
          </ac:spMkLst>
        </pc:spChg>
        <pc:spChg chg="del mod">
          <ac:chgData name="泰弘 仲山" userId="857b4835f3abfbd8" providerId="LiveId" clId="{1719127F-B280-47D0-B899-2028F4F2809D}" dt="2025-09-28T14:16:34.418" v="6132" actId="478"/>
          <ac:spMkLst>
            <pc:docMk/>
            <pc:sldMk cId="823954339" sldId="261"/>
            <ac:spMk id="3" creationId="{5BD13D01-9AB3-872D-8A05-4533B48D5293}"/>
          </ac:spMkLst>
        </pc:spChg>
        <pc:spChg chg="add del mod">
          <ac:chgData name="泰弘 仲山" userId="857b4835f3abfbd8" providerId="LiveId" clId="{1719127F-B280-47D0-B899-2028F4F2809D}" dt="2025-09-28T14:16:36.324" v="6133" actId="478"/>
          <ac:spMkLst>
            <pc:docMk/>
            <pc:sldMk cId="823954339" sldId="261"/>
            <ac:spMk id="5" creationId="{1DE7F49E-8FA0-F107-D3B1-C9323ED94552}"/>
          </ac:spMkLst>
        </pc:spChg>
        <pc:spChg chg="add del mod">
          <ac:chgData name="泰弘 仲山" userId="857b4835f3abfbd8" providerId="LiveId" clId="{1719127F-B280-47D0-B899-2028F4F2809D}" dt="2025-09-28T14:17:01.674" v="6136" actId="478"/>
          <ac:spMkLst>
            <pc:docMk/>
            <pc:sldMk cId="823954339" sldId="261"/>
            <ac:spMk id="7" creationId="{523D0E2F-B042-05D6-38A4-4C284D5CDB14}"/>
          </ac:spMkLst>
        </pc:spChg>
        <pc:spChg chg="add mod">
          <ac:chgData name="泰弘 仲山" userId="857b4835f3abfbd8" providerId="LiveId" clId="{1719127F-B280-47D0-B899-2028F4F2809D}" dt="2025-09-28T14:19:40.429" v="6354" actId="20577"/>
          <ac:spMkLst>
            <pc:docMk/>
            <pc:sldMk cId="823954339" sldId="261"/>
            <ac:spMk id="8" creationId="{670FE170-F076-C2F4-AD04-779C3AA91ECE}"/>
          </ac:spMkLst>
        </pc:spChg>
        <pc:spChg chg="mod">
          <ac:chgData name="泰弘 仲山" userId="857b4835f3abfbd8" providerId="LiveId" clId="{1719127F-B280-47D0-B899-2028F4F2809D}" dt="2025-09-28T14:34:21.348" v="6485" actId="113"/>
          <ac:spMkLst>
            <pc:docMk/>
            <pc:sldMk cId="823954339" sldId="261"/>
            <ac:spMk id="10" creationId="{415D50D2-25D8-713B-C7A0-7943DC2465BD}"/>
          </ac:spMkLst>
        </pc:spChg>
        <pc:spChg chg="mod">
          <ac:chgData name="泰弘 仲山" userId="857b4835f3abfbd8" providerId="LiveId" clId="{1719127F-B280-47D0-B899-2028F4F2809D}" dt="2025-09-28T14:18:17.665" v="6149" actId="27636"/>
          <ac:spMkLst>
            <pc:docMk/>
            <pc:sldMk cId="823954339" sldId="261"/>
            <ac:spMk id="11" creationId="{D2002270-9E3E-C568-97AE-22663E01FCF7}"/>
          </ac:spMkLst>
        </pc:spChg>
      </pc:sldChg>
      <pc:sldChg chg="addSp modSp add mod">
        <pc:chgData name="泰弘 仲山" userId="857b4835f3abfbd8" providerId="LiveId" clId="{1719127F-B280-47D0-B899-2028F4F2809D}" dt="2025-09-23T18:36:51.798" v="6044" actId="1076"/>
        <pc:sldMkLst>
          <pc:docMk/>
          <pc:sldMk cId="844496991" sldId="262"/>
        </pc:sldMkLst>
        <pc:spChg chg="add mod">
          <ac:chgData name="泰弘 仲山" userId="857b4835f3abfbd8" providerId="LiveId" clId="{1719127F-B280-47D0-B899-2028F4F2809D}" dt="2025-09-23T18:36:48.325" v="6043" actId="1076"/>
          <ac:spMkLst>
            <pc:docMk/>
            <pc:sldMk cId="844496991" sldId="262"/>
            <ac:spMk id="3" creationId="{6DE39AC5-70A4-5712-C4F6-758E78FD21B5}"/>
          </ac:spMkLst>
        </pc:spChg>
        <pc:spChg chg="mod">
          <ac:chgData name="泰弘 仲山" userId="857b4835f3abfbd8" providerId="LiveId" clId="{1719127F-B280-47D0-B899-2028F4F2809D}" dt="2025-09-23T18:02:09.909" v="5837" actId="20577"/>
          <ac:spMkLst>
            <pc:docMk/>
            <pc:sldMk cId="844496991" sldId="262"/>
            <ac:spMk id="4" creationId="{0E306C8F-F31C-17CF-1C21-7067C3DCBF06}"/>
          </ac:spMkLst>
        </pc:spChg>
        <pc:spChg chg="mod">
          <ac:chgData name="泰弘 仲山" userId="857b4835f3abfbd8" providerId="LiveId" clId="{1719127F-B280-47D0-B899-2028F4F2809D}" dt="2025-09-23T18:36:46.523" v="6042" actId="1076"/>
          <ac:spMkLst>
            <pc:docMk/>
            <pc:sldMk cId="844496991" sldId="262"/>
            <ac:spMk id="5" creationId="{55F36758-8CB8-B096-B2DE-80B065116318}"/>
          </ac:spMkLst>
        </pc:spChg>
        <pc:spChg chg="mod">
          <ac:chgData name="泰弘 仲山" userId="857b4835f3abfbd8" providerId="LiveId" clId="{1719127F-B280-47D0-B899-2028F4F2809D}" dt="2025-09-23T18:36:51.798" v="6044" actId="1076"/>
          <ac:spMkLst>
            <pc:docMk/>
            <pc:sldMk cId="844496991" sldId="262"/>
            <ac:spMk id="9" creationId="{052CACCE-3821-A9AA-D430-866C841BEB6F}"/>
          </ac:spMkLst>
        </pc:spChg>
      </pc:sldChg>
      <pc:sldChg chg="addSp modSp add mod">
        <pc:chgData name="泰弘 仲山" userId="857b4835f3abfbd8" providerId="LiveId" clId="{1719127F-B280-47D0-B899-2028F4F2809D}" dt="2025-09-23T18:12:34.450" v="5879" actId="12"/>
        <pc:sldMkLst>
          <pc:docMk/>
          <pc:sldMk cId="1087718593" sldId="263"/>
        </pc:sldMkLst>
        <pc:spChg chg="mod">
          <ac:chgData name="泰弘 仲山" userId="857b4835f3abfbd8" providerId="LiveId" clId="{1719127F-B280-47D0-B899-2028F4F2809D}" dt="2025-09-23T18:12:06.462" v="5873" actId="1076"/>
          <ac:spMkLst>
            <pc:docMk/>
            <pc:sldMk cId="1087718593" sldId="263"/>
            <ac:spMk id="3" creationId="{99A2861E-5B69-D31D-9558-8C5CE5E19FA3}"/>
          </ac:spMkLst>
        </pc:spChg>
        <pc:spChg chg="add mod">
          <ac:chgData name="泰弘 仲山" userId="857b4835f3abfbd8" providerId="LiveId" clId="{1719127F-B280-47D0-B899-2028F4F2809D}" dt="2025-09-23T18:12:30.115" v="5878" actId="12"/>
          <ac:spMkLst>
            <pc:docMk/>
            <pc:sldMk cId="1087718593" sldId="263"/>
            <ac:spMk id="4" creationId="{072AFF96-539E-415D-C7C9-448D6DED5182}"/>
          </ac:spMkLst>
        </pc:spChg>
        <pc:spChg chg="add mod">
          <ac:chgData name="泰弘 仲山" userId="857b4835f3abfbd8" providerId="LiveId" clId="{1719127F-B280-47D0-B899-2028F4F2809D}" dt="2025-09-23T18:12:34.450" v="5879" actId="12"/>
          <ac:spMkLst>
            <pc:docMk/>
            <pc:sldMk cId="1087718593" sldId="263"/>
            <ac:spMk id="5" creationId="{A7DC358C-9F72-88A6-D9BF-E2662FDA8AA7}"/>
          </ac:spMkLst>
        </pc:spChg>
      </pc:sldChg>
      <pc:sldChg chg="addSp modSp new mod">
        <pc:chgData name="泰弘 仲山" userId="857b4835f3abfbd8" providerId="LiveId" clId="{1719127F-B280-47D0-B899-2028F4F2809D}" dt="2025-09-28T14:45:51.743" v="6584" actId="14100"/>
        <pc:sldMkLst>
          <pc:docMk/>
          <pc:sldMk cId="3707174948" sldId="264"/>
        </pc:sldMkLst>
        <pc:spChg chg="add mod">
          <ac:chgData name="泰弘 仲山" userId="857b4835f3abfbd8" providerId="LiveId" clId="{1719127F-B280-47D0-B899-2028F4F2809D}" dt="2025-09-28T14:16:26.562" v="6131" actId="1076"/>
          <ac:spMkLst>
            <pc:docMk/>
            <pc:sldMk cId="3707174948" sldId="264"/>
            <ac:spMk id="2" creationId="{FFD006C4-DF94-DFA8-7B14-A3A94F5F059A}"/>
          </ac:spMkLst>
        </pc:spChg>
        <pc:spChg chg="add mod">
          <ac:chgData name="泰弘 仲山" userId="857b4835f3abfbd8" providerId="LiveId" clId="{1719127F-B280-47D0-B899-2028F4F2809D}" dt="2025-09-28T14:16:23.276" v="6130" actId="1076"/>
          <ac:spMkLst>
            <pc:docMk/>
            <pc:sldMk cId="3707174948" sldId="264"/>
            <ac:spMk id="3" creationId="{17A9CA01-9C91-864F-2460-E55E22A0716F}"/>
          </ac:spMkLst>
        </pc:spChg>
        <pc:spChg chg="add mod">
          <ac:chgData name="泰弘 仲山" userId="857b4835f3abfbd8" providerId="LiveId" clId="{1719127F-B280-47D0-B899-2028F4F2809D}" dt="2025-09-28T14:45:51.743" v="6584" actId="14100"/>
          <ac:spMkLst>
            <pc:docMk/>
            <pc:sldMk cId="3707174948" sldId="264"/>
            <ac:spMk id="7" creationId="{306E4C15-AE6D-68C5-7E2E-71C4EEF70C5B}"/>
          </ac:spMkLst>
        </pc:spChg>
      </pc:sldChg>
      <pc:sldChg chg="add">
        <pc:chgData name="泰弘 仲山" userId="857b4835f3abfbd8" providerId="LiveId" clId="{1719127F-B280-47D0-B899-2028F4F2809D}" dt="2025-09-12T03:32:01.925" v="1789"/>
        <pc:sldMkLst>
          <pc:docMk/>
          <pc:sldMk cId="247884534" sldId="265"/>
        </pc:sldMkLst>
      </pc:sldChg>
      <pc:sldChg chg="add">
        <pc:chgData name="泰弘 仲山" userId="857b4835f3abfbd8" providerId="LiveId" clId="{1719127F-B280-47D0-B899-2028F4F2809D}" dt="2025-09-12T03:33:35.427" v="1909"/>
        <pc:sldMkLst>
          <pc:docMk/>
          <pc:sldMk cId="1520983431" sldId="266"/>
        </pc:sldMkLst>
      </pc:sldChg>
      <pc:sldChg chg="add del">
        <pc:chgData name="泰弘 仲山" userId="857b4835f3abfbd8" providerId="LiveId" clId="{1719127F-B280-47D0-B899-2028F4F2809D}" dt="2025-09-12T03:45:18.457" v="2649" actId="47"/>
        <pc:sldMkLst>
          <pc:docMk/>
          <pc:sldMk cId="1820186218" sldId="267"/>
        </pc:sldMkLst>
      </pc:sldChg>
      <pc:sldChg chg="add">
        <pc:chgData name="泰弘 仲山" userId="857b4835f3abfbd8" providerId="LiveId" clId="{1719127F-B280-47D0-B899-2028F4F2809D}" dt="2025-09-12T03:45:16.522" v="2648"/>
        <pc:sldMkLst>
          <pc:docMk/>
          <pc:sldMk cId="1608590044" sldId="268"/>
        </pc:sldMkLst>
      </pc:sldChg>
      <pc:sldChg chg="addSp delSp modSp mod">
        <pc:chgData name="泰弘 仲山" userId="857b4835f3abfbd8" providerId="LiveId" clId="{1719127F-B280-47D0-B899-2028F4F2809D}" dt="2025-09-28T14:45:38.797" v="6581" actId="21"/>
        <pc:sldMkLst>
          <pc:docMk/>
          <pc:sldMk cId="790716467" sldId="270"/>
        </pc:sldMkLst>
        <pc:spChg chg="mod">
          <ac:chgData name="泰弘 仲山" userId="857b4835f3abfbd8" providerId="LiveId" clId="{1719127F-B280-47D0-B899-2028F4F2809D}" dt="2025-09-23T18:34:21.701" v="6020"/>
          <ac:spMkLst>
            <pc:docMk/>
            <pc:sldMk cId="790716467" sldId="270"/>
            <ac:spMk id="2" creationId="{00A8B2AD-EF14-6EC4-E023-E1CAAD28532F}"/>
          </ac:spMkLst>
        </pc:spChg>
        <pc:spChg chg="mod">
          <ac:chgData name="泰弘 仲山" userId="857b4835f3abfbd8" providerId="LiveId" clId="{1719127F-B280-47D0-B899-2028F4F2809D}" dt="2025-09-23T17:54:06.146" v="5672" actId="27636"/>
          <ac:spMkLst>
            <pc:docMk/>
            <pc:sldMk cId="790716467" sldId="270"/>
            <ac:spMk id="3" creationId="{5B24DE6C-2FEE-E8A7-B71B-0AF3264C1398}"/>
          </ac:spMkLst>
        </pc:spChg>
        <pc:spChg chg="add mod">
          <ac:chgData name="泰弘 仲山" userId="857b4835f3abfbd8" providerId="LiveId" clId="{1719127F-B280-47D0-B899-2028F4F2809D}" dt="2025-09-23T17:54:14.609" v="5675" actId="1076"/>
          <ac:spMkLst>
            <pc:docMk/>
            <pc:sldMk cId="790716467" sldId="270"/>
            <ac:spMk id="5" creationId="{65A07E75-E1F3-DB96-0FF9-7EC3FD1747AE}"/>
          </ac:spMkLst>
        </pc:spChg>
        <pc:spChg chg="del mod">
          <ac:chgData name="泰弘 仲山" userId="857b4835f3abfbd8" providerId="LiveId" clId="{1719127F-B280-47D0-B899-2028F4F2809D}" dt="2025-09-28T14:45:38.797" v="6581" actId="21"/>
          <ac:spMkLst>
            <pc:docMk/>
            <pc:sldMk cId="790716467" sldId="270"/>
            <ac:spMk id="7" creationId="{306E4C15-AE6D-68C5-7E2E-71C4EEF70C5B}"/>
          </ac:spMkLst>
        </pc:spChg>
      </pc:sldChg>
      <pc:sldChg chg="addSp delSp modSp mod">
        <pc:chgData name="泰弘 仲山" userId="857b4835f3abfbd8" providerId="LiveId" clId="{1719127F-B280-47D0-B899-2028F4F2809D}" dt="2025-09-23T18:36:17.555" v="6040" actId="1076"/>
        <pc:sldMkLst>
          <pc:docMk/>
          <pc:sldMk cId="3609960549" sldId="271"/>
        </pc:sldMkLst>
        <pc:spChg chg="mod">
          <ac:chgData name="泰弘 仲山" userId="857b4835f3abfbd8" providerId="LiveId" clId="{1719127F-B280-47D0-B899-2028F4F2809D}" dt="2025-09-23T18:34:25.539" v="6021"/>
          <ac:spMkLst>
            <pc:docMk/>
            <pc:sldMk cId="3609960549" sldId="271"/>
            <ac:spMk id="2" creationId="{88D8FF32-6152-EF32-523E-5F52FE3AAF17}"/>
          </ac:spMkLst>
        </pc:spChg>
        <pc:spChg chg="mod">
          <ac:chgData name="泰弘 仲山" userId="857b4835f3abfbd8" providerId="LiveId" clId="{1719127F-B280-47D0-B899-2028F4F2809D}" dt="2025-09-23T18:35:41.359" v="6034" actId="1076"/>
          <ac:spMkLst>
            <pc:docMk/>
            <pc:sldMk cId="3609960549" sldId="271"/>
            <ac:spMk id="3" creationId="{57DAA86F-8EF1-F448-E283-1CA3A144B652}"/>
          </ac:spMkLst>
        </pc:spChg>
        <pc:spChg chg="add mod">
          <ac:chgData name="泰弘 仲山" userId="857b4835f3abfbd8" providerId="LiveId" clId="{1719127F-B280-47D0-B899-2028F4F2809D}" dt="2025-09-23T18:36:17.555" v="6040" actId="1076"/>
          <ac:spMkLst>
            <pc:docMk/>
            <pc:sldMk cId="3609960549" sldId="271"/>
            <ac:spMk id="4" creationId="{2EF393D7-FEEC-21E8-C761-5DCD1538AD8B}"/>
          </ac:spMkLst>
        </pc:spChg>
        <pc:spChg chg="mod">
          <ac:chgData name="泰弘 仲山" userId="857b4835f3abfbd8" providerId="LiveId" clId="{1719127F-B280-47D0-B899-2028F4F2809D}" dt="2025-09-23T18:35:34.433" v="6032" actId="1076"/>
          <ac:spMkLst>
            <pc:docMk/>
            <pc:sldMk cId="3609960549" sldId="271"/>
            <ac:spMk id="5" creationId="{0E9237ED-AA9D-864C-FC34-D1035CD045CF}"/>
          </ac:spMkLst>
        </pc:spChg>
        <pc:spChg chg="mod">
          <ac:chgData name="泰弘 仲山" userId="857b4835f3abfbd8" providerId="LiveId" clId="{1719127F-B280-47D0-B899-2028F4F2809D}" dt="2025-09-23T18:35:38.274" v="6033" actId="1076"/>
          <ac:spMkLst>
            <pc:docMk/>
            <pc:sldMk cId="3609960549" sldId="271"/>
            <ac:spMk id="9" creationId="{55188BD7-3FCB-7A2C-26CC-EE5E3EFC71D4}"/>
          </ac:spMkLst>
        </pc:spChg>
      </pc:sldChg>
      <pc:sldChg chg="modSp mod">
        <pc:chgData name="泰弘 仲山" userId="857b4835f3abfbd8" providerId="LiveId" clId="{1719127F-B280-47D0-B899-2028F4F2809D}" dt="2025-09-28T14:44:36.160" v="6580" actId="14100"/>
        <pc:sldMkLst>
          <pc:docMk/>
          <pc:sldMk cId="3944248409" sldId="272"/>
        </pc:sldMkLst>
        <pc:spChg chg="mod">
          <ac:chgData name="泰弘 仲山" userId="857b4835f3abfbd8" providerId="LiveId" clId="{1719127F-B280-47D0-B899-2028F4F2809D}" dt="2025-09-28T14:44:36.160" v="6580" actId="14100"/>
          <ac:spMkLst>
            <pc:docMk/>
            <pc:sldMk cId="3944248409" sldId="272"/>
            <ac:spMk id="3" creationId="{85D7AF5F-A732-682A-E7A1-63CF2A71E63A}"/>
          </ac:spMkLst>
        </pc:spChg>
      </pc:sldChg>
      <pc:sldChg chg="addSp delSp modSp add del mod ord">
        <pc:chgData name="泰弘 仲山" userId="857b4835f3abfbd8" providerId="LiveId" clId="{1719127F-B280-47D0-B899-2028F4F2809D}" dt="2025-09-23T18:36:28.660" v="6041" actId="47"/>
        <pc:sldMkLst>
          <pc:docMk/>
          <pc:sldMk cId="205757652" sldId="27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46150-7024-A237-A494-20117C2E888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1202FEB-7908-D494-9953-0F1B73E796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9985A51-01FE-0D1E-129B-ACF29733063C}"/>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D8CDFC7D-CDBC-CD4C-3836-3731C09BD4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C7FEC0-C2F9-F53A-C0F6-CAD9F531E98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6510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AB005-A50F-0F97-26A7-EB1935FD01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10DA353-11B9-B79A-2D80-66C4BCF773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73FFCA-33C0-316C-A431-7F48598EBE3E}"/>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C8319489-9E3C-CF1D-16A2-6245CA7E90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DCF772-0CCF-84EF-ACDA-7E8FC6FC8EC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066836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848DB-FC19-F6F2-9263-873F08B2C1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B37E65-7CDA-F9AA-46D3-3420756FC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62DC345-3935-26E7-C3EB-72E8CACFFD21}"/>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37644EC6-5878-A7E1-CAA8-70DA4A0BBA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76FBEE-C633-3E27-B995-3D944C869A0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1355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1B10E6-D9D3-F486-799E-284C38DD42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00C0D2-7261-1C0A-49DE-632987C6CCA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7CDD066-F08B-091C-85F5-CCA2A61E637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BCF92A9-B1D6-512C-C62B-F39E2F170AD2}"/>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E29C255F-9BD5-7052-0718-E813DBC1A1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E5D367-E4C2-D201-78F7-24C3C2AC1935}"/>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3594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826E6-769C-1B04-140A-0F7D88E5F9D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D630D-552F-95F6-8896-150F08C2B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C21F7A-C887-6188-0EC0-044C7472E8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A47D06F-E4F4-321B-1EC4-728FBD1E0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AB620A2-D40D-5592-3CA6-CB28402DDCF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11F0356-4C7F-BEB5-6666-4037A6081DF3}"/>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8" name="フッター プレースホルダー 7">
            <a:extLst>
              <a:ext uri="{FF2B5EF4-FFF2-40B4-BE49-F238E27FC236}">
                <a16:creationId xmlns:a16="http://schemas.microsoft.com/office/drawing/2014/main" id="{7E54B120-E238-2144-ED19-D0C23BA2DE2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8FB0EE5-C067-E881-FD06-C9F72B2B47C4}"/>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265334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B5F560-40FA-9559-5F86-57EF3FB66B0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9D839F0-6F36-E359-F252-6BE4B786CB80}"/>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4" name="フッター プレースホルダー 3">
            <a:extLst>
              <a:ext uri="{FF2B5EF4-FFF2-40B4-BE49-F238E27FC236}">
                <a16:creationId xmlns:a16="http://schemas.microsoft.com/office/drawing/2014/main" id="{B4FF57D4-7D9F-A28D-CE57-19B4D03A8C3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D07054E-3A01-C3E6-48B5-6C504C774A9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39407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699F7C-A5A0-56C7-5B77-B0605AA4CC39}"/>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3" name="フッター プレースホルダー 2">
            <a:extLst>
              <a:ext uri="{FF2B5EF4-FFF2-40B4-BE49-F238E27FC236}">
                <a16:creationId xmlns:a16="http://schemas.microsoft.com/office/drawing/2014/main" id="{536D66A3-05E8-06C6-345A-EB1023F00E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490283-0B2F-05BE-93E0-35DC8BE485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63186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67C94-7B3C-617D-BAB8-AA2DCA4666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0140C6-79EA-A6F7-5307-AB87446F82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34427D6-C773-F586-66D8-9F605FBB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1672B41-A27D-6343-4BDB-22C509D114BB}"/>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9977F93E-C55C-0D7F-7C2B-2CBF99C8398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3171B6F-FBB0-A351-34D8-5214DCBF44FE}"/>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7821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F8E91B-0792-5E17-F35E-602474E05FA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30D1473-9863-6F21-C0A5-C29B2D720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0460E25-C9C9-DF34-A413-1DA67FE1C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E8B398F-23A4-B33D-DC86-FC499D5757C3}"/>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09D2BAD3-3A1B-0276-4771-2AC92806D4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B56D2E-6026-9E4A-FC1C-4F0C9AAB52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752616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A8C847-D4D5-00E9-6E55-C599E9F8C00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4A8FDD1-8D89-1FE9-B77C-064B347900A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997E92-4F64-C899-B58B-7F7B8B08D6EF}"/>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27FD953D-838B-B507-9C81-DC5D565B09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BF5B0F-39D1-7FDB-F3DD-D158F5BD8A2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012330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C0B2519-F3B9-F493-CA6F-E27B95489FC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75ECA5-D8F2-F75B-9D51-6513C88DFB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6327A5-4357-BA6C-BE70-84AACB618376}"/>
              </a:ext>
            </a:extLst>
          </p:cNvPr>
          <p:cNvSpPr>
            <a:spLocks noGrp="1"/>
          </p:cNvSpPr>
          <p:nvPr>
            <p:ph type="dt" sz="half" idx="10"/>
          </p:nvPr>
        </p:nvSpPr>
        <p:spPr/>
        <p:txBody>
          <a:body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57588722-DF81-CA8B-FE71-0C9BD74012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E37F6D-BDB9-E2D3-B584-DAF98C68A05A}"/>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349680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75611D3-A636-2594-D405-A35A90EE93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14936B-63BE-D0B6-F9C1-1F7D84ED8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BAD8F0-A59C-BCD2-2A3F-936D9005A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2A811F-0634-4C16-AFC8-ADA08BBDD964}"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03BA694E-6423-6DF7-670F-2FB53A2B7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DB88FD3-A3A7-E199-71F2-7259D0FD57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219986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ldmansachs.com/insights/goldman-sachs-exchanges/03-28-2023-cohen-lee" TargetMode="External"/><Relationship Id="rId2" Type="http://schemas.openxmlformats.org/officeDocument/2006/relationships/hyperlink" Target="https://www.wealthmanagement.com/ria-news/goldman-sachs-bets-on-trading-and-investment-power-to-lure-rias" TargetMode="External"/><Relationship Id="rId1" Type="http://schemas.openxmlformats.org/officeDocument/2006/relationships/slideLayout" Target="../slideLayouts/slideLayout2.xml"/><Relationship Id="rId4" Type="http://schemas.openxmlformats.org/officeDocument/2006/relationships/hyperlink" Target="https://www.finextra.com/newsarticle/45684/goldman-adopts-measured-approach-to-roll-out-of-ai#:~:text=use%20agentic%20AI"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am.gs.com/en-us/advisors/insights/article/2024/harnessing-the-power-of-ai-to-enhance-investment-decision-making#:~:text=detect%20these%20themes%20systematically%20in,million%20patents%20globally%20per%20year" TargetMode="External"/><Relationship Id="rId2" Type="http://schemas.openxmlformats.org/officeDocument/2006/relationships/hyperlink" Target="https://am.gs.com/en-dk/institutions/insights/article/2025/AI-education-private-equity" TargetMode="External"/><Relationship Id="rId1" Type="http://schemas.openxmlformats.org/officeDocument/2006/relationships/slideLayout" Target="../slideLayouts/slideLayout2.xml"/><Relationship Id="rId4" Type="http://schemas.openxmlformats.org/officeDocument/2006/relationships/hyperlink" Target="https://am.gs.com/en-us/advisors/insights/article/2024/harnessing-the-power-of-ai-to-enhance-investment-decision-making#:~:text=While%20traditional%20methods%20of%20analysis,web%20that%20would%20be%20impacted"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marquee.gs.com/welcome/news/in-the-media#:~:text=Goldman%20Sachs%20expands%20options%20visualization,to%20include%20equities%20and%20crypto" TargetMode="External"/><Relationship Id="rId2" Type="http://schemas.openxmlformats.org/officeDocument/2006/relationships/hyperlink" Target="https://marquee.gs.com/welcome/our-platform/data-servic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ldmansachs.com/pressroom/press-releases/2021/goldman-sachs-aws-announcement-30-nov-2021" TargetMode="External"/><Relationship Id="rId2" Type="http://schemas.openxmlformats.org/officeDocument/2006/relationships/hyperlink" Target="https://edworking.com/news/startups/goldman-sachs-python-toolkit-for-quantitative-finance" TargetMode="External"/><Relationship Id="rId1" Type="http://schemas.openxmlformats.org/officeDocument/2006/relationships/slideLayout" Target="../slideLayouts/slideLayout2.xml"/><Relationship Id="rId4" Type="http://schemas.openxmlformats.org/officeDocument/2006/relationships/hyperlink" Target="https://www.goldmansachs.com/what-we-do/ficc-and-equities/gset-equiti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oldmansachs.com/careers/blog/possibilities-quantum-computing" TargetMode="External"/><Relationship Id="rId2" Type="http://schemas.openxmlformats.org/officeDocument/2006/relationships/hyperlink" Target="https://www.reuters.com/article/us-goldman-sachs-h20-ai/goldman-sachs-chinas-ping-an-back-artificial-intelligence-firm-h20ai-idUSKCN1VA1S7/#:~:text=At%20a%20bank%20like%20Goldman,processes%20related%20to%20bond%20pricing" TargetMode="External"/><Relationship Id="rId1" Type="http://schemas.openxmlformats.org/officeDocument/2006/relationships/slideLayout" Target="../slideLayouts/slideLayout2.xml"/><Relationship Id="rId5" Type="http://schemas.openxmlformats.org/officeDocument/2006/relationships/hyperlink" Target="https://fif.com/index.php?option=com_content&amp;view=article&amp;id=23537&amp;catid=78&amp;Itemid=1749#:~:text=Goldman%20Sachs%20launched%20GS%20DAP%2C,and%20first%20using%20private%20blockchain" TargetMode="External"/><Relationship Id="rId4" Type="http://schemas.openxmlformats.org/officeDocument/2006/relationships/hyperlink" Target="https://medium.com/@deltorobarba/how-quantum-computing-could-accelerate-finance-and-economics-80555e80f76b"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businessinsider.com/wall-street-goldman-jpmorgan-bridgewater-using-ai-2023-12#:~:text=%2A%20AI%20is%20doing%2095,prospectus%2C%20Goldman%20Sachs%20CEO%20says" TargetMode="External"/><Relationship Id="rId2" Type="http://schemas.openxmlformats.org/officeDocument/2006/relationships/hyperlink" Target="https://www.reuters.com/business/goldman-sachs-launches-ai-assistant-firmwide-memo-shows-2025-06-23/#:~:text=June%2023%20%28Reuters%29%20,internal%20memo%20seen%20by%20Reuters" TargetMode="External"/><Relationship Id="rId1" Type="http://schemas.openxmlformats.org/officeDocument/2006/relationships/slideLayout" Target="../slideLayouts/slideLayout2.xml"/><Relationship Id="rId5" Type="http://schemas.openxmlformats.org/officeDocument/2006/relationships/hyperlink" Target="https://www.finextra.com/newsarticle/45684/goldman-adopts-measured-approach-to-roll-out-of-ai#:~:text=Roughly%20one%20out%20of%20every,most%20creative%20uses%20of%20AI" TargetMode="External"/><Relationship Id="rId4" Type="http://schemas.openxmlformats.org/officeDocument/2006/relationships/hyperlink" Target="https://www.pymnts.com/news/artificial-intelligence/2025/goldman-sachs-expands-availability-ai-assistant-across-firm/#:~:text=It%20was%20reported%20in%20January,its%20knowledge%20workers%20this%20yea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goldmansachs.com/pressroom/press-releases/2024/mit-ibm-watson-ai-lab" TargetMode="External"/><Relationship Id="rId2" Type="http://schemas.openxmlformats.org/officeDocument/2006/relationships/hyperlink" Target="https://www.pymnts.com/news/artificial-intelligence/2025/goldman-sachs-expands-availability-ai-assistant-across-firm/#:~:text=It%20was%20reported%20in%20January,its%20knowledge%20workers%20this%20year" TargetMode="External"/><Relationship Id="rId1" Type="http://schemas.openxmlformats.org/officeDocument/2006/relationships/slideLayout" Target="../slideLayouts/slideLayout2.xml"/><Relationship Id="rId5" Type="http://schemas.openxmlformats.org/officeDocument/2006/relationships/hyperlink" Target="https://www.goldmansachs.com/insights/articles/what-to-expect-from-ai-in-2025-hybrid-workers-robotics-expert-models" TargetMode="External"/><Relationship Id="rId4" Type="http://schemas.openxmlformats.org/officeDocument/2006/relationships/hyperlink" Target="https://chatgpt.com/c/68cf5b4e-fbb8-8323-be3c-d4ed8888f729"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ewadirect.com/proceedings/aemps/article/view/23748#:~:text=processes%2C%20developing%20intelligent%20regulatory%20document,as%20summarized%20in%20Table%201" TargetMode="External"/><Relationship Id="rId2" Type="http://schemas.openxmlformats.org/officeDocument/2006/relationships/hyperlink" Target="https://digitaldefynd.com/IQ/goldman-sachs-using-ai-case-study/"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jpmorgan.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finance.yahoo/"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9AB6-FBCC-3C6F-C358-EE33E3F0DC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BD7DF4-B57C-B874-B2A8-FB60D397F9C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に関する組織</a:t>
            </a:r>
          </a:p>
        </p:txBody>
      </p:sp>
      <p:sp>
        <p:nvSpPr>
          <p:cNvPr id="3" name="コンテンツ プレースホルダー 2">
            <a:extLst>
              <a:ext uri="{FF2B5EF4-FFF2-40B4-BE49-F238E27FC236}">
                <a16:creationId xmlns:a16="http://schemas.microsoft.com/office/drawing/2014/main" id="{48D0B4B0-0652-07C2-B47B-38517004A203}"/>
              </a:ext>
            </a:extLst>
          </p:cNvPr>
          <p:cNvSpPr>
            <a:spLocks noGrp="1"/>
          </p:cNvSpPr>
          <p:nvPr>
            <p:ph idx="1"/>
          </p:nvPr>
        </p:nvSpPr>
        <p:spPr>
          <a:xfrm>
            <a:off x="197875" y="847204"/>
            <a:ext cx="11796250" cy="1587883"/>
          </a:xfrm>
          <a:ln>
            <a:solidFill>
              <a:schemeClr val="tx1"/>
            </a:solidFill>
          </a:ln>
        </p:spPr>
        <p:txBody>
          <a:bodyPr>
            <a:normAutofit/>
          </a:bodyPr>
          <a:lstStyle/>
          <a:p>
            <a:r>
              <a:rPr lang="ja-JP" altLang="en-US" sz="1200" b="1" u="sng" dirty="0">
                <a:latin typeface="Meiryo UI" panose="020B0604030504040204" pitchFamily="50" charset="-128"/>
                <a:ea typeface="Meiryo UI" panose="020B0604030504040204" pitchFamily="50" charset="-128"/>
              </a:rPr>
              <a:t>テクノロジー戦略は、全社の中核に位置づけられたエンジニアリング部門によって推進</a:t>
            </a:r>
          </a:p>
          <a:p>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のグローバル本社に加え、戦略的なテクノロジーハブをグローバルに配置</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全従業員の約４分の１（</a:t>
            </a:r>
            <a:r>
              <a:rPr lang="en-US" altLang="ja-JP" sz="1200" dirty="0">
                <a:latin typeface="Meiryo UI" panose="020B0604030504040204" pitchFamily="50" charset="-128"/>
                <a:ea typeface="Meiryo UI" panose="020B0604030504040204" pitchFamily="50" charset="-128"/>
              </a:rPr>
              <a:t>1</a:t>
            </a:r>
            <a:r>
              <a:rPr lang="ja-JP" altLang="en-US" sz="1200" dirty="0">
                <a:latin typeface="Meiryo UI" panose="020B0604030504040204" pitchFamily="50" charset="-128"/>
                <a:ea typeface="Meiryo UI" panose="020B0604030504040204" pitchFamily="50" charset="-128"/>
              </a:rPr>
              <a:t>万人超）がエンジニア職　</a:t>
            </a:r>
            <a:endParaRPr lang="en-US" altLang="ja-JP" sz="1200" dirty="0">
              <a:latin typeface="Meiryo UI" panose="020B0604030504040204" pitchFamily="50" charset="-128"/>
              <a:ea typeface="Meiryo UI" panose="020B0604030504040204" pitchFamily="50" charset="-128"/>
            </a:endParaRPr>
          </a:p>
          <a:p>
            <a:pPr marL="457200" lvl="1"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https://www.wealthmanagement.com/ria-news/goldman-sachs-bets-on-trading-and-investment-power-to-lure-rias</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やロンドンを中心に、世界各地に大規模なテクノロジー拠点を構えている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エンジニアは投資銀行内のトレーディングから資産運用、リスク管理、消費者金融部門に至るまで横断的に存在し、先端テクノロジーの開発・導入を推進</a:t>
            </a: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401C29DD-27FD-EBB5-28CF-393B47760161}"/>
              </a:ext>
            </a:extLst>
          </p:cNvPr>
          <p:cNvSpPr txBox="1">
            <a:spLocks/>
          </p:cNvSpPr>
          <p:nvPr/>
        </p:nvSpPr>
        <p:spPr>
          <a:xfrm>
            <a:off x="186813" y="2609799"/>
            <a:ext cx="11796250" cy="397984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b="1" u="sng" dirty="0">
                <a:latin typeface="Meiryo UI" panose="020B0604030504040204" pitchFamily="50" charset="-128"/>
                <a:ea typeface="Meiryo UI" panose="020B0604030504040204" pitchFamily="50" charset="-128"/>
              </a:rPr>
              <a:t>エンジニアリング部門</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役割</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大規模でスケーラブルなソフトウェアやシステムの構築、低遅延インフラ、サイバーセキュリティ</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機械学習と金融工学を組み合わせて、データを具体的なアクションへと継続的に転換</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チーム</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エンベッド</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組込型</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事業部門（トレーディング、資産運用、バンキングなど）と直接協業</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コア・エンジニアリング・チーム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データエンジニアリング、機械学習、ネットワーク、開発者ツール、クラウドソリューションなど、全事業の基盤となる信頼性とスケーラビリティの高いプラットフォームを提供</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応用イノベーション部門</a:t>
            </a:r>
            <a:endParaRPr lang="en-US" altLang="ja-JP" sz="1200" b="1" u="sng"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年に設立された、テクノロジーや地政学がビジネスに与える影響を研究する部門。社内のイノベーション推進とクライアントへの先端技術アドバイザリーを担い、</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を含む新技術の活用戦略を主導。（テクノロジー分野出身のジョージ・リーと外交政策の専門家ジャレッド・コーエンが共同責任者に就任）</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https://www.goldmansachs.com/insights/goldman-sachs-exchanges/03-28-2023-cohen-lee</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機械学習クオンツチーム</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トレーディング部門内に編成され、機械学習の専門家がアルゴリズム取引やリスク管理モデルの開発を推進。</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https://www.finextra.com/newsarticle/45684/goldman-adopts-measured-approach-to-roll-out-of-ai#:~:text=use%20agentic%20AI</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7779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18B55-CFBF-46C3-08B5-AAA96720828F}"/>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415D50D2-25D8-713B-C7A0-7943DC2465BD}"/>
              </a:ext>
            </a:extLst>
          </p:cNvPr>
          <p:cNvSpPr txBox="1">
            <a:spLocks/>
          </p:cNvSpPr>
          <p:nvPr/>
        </p:nvSpPr>
        <p:spPr>
          <a:xfrm>
            <a:off x="186812" y="1209040"/>
            <a:ext cx="11818373" cy="456184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定量投資戦略チーム（</a:t>
            </a:r>
            <a:r>
              <a:rPr lang="en-US" altLang="ja-JP" sz="1200" b="1" u="sng" dirty="0">
                <a:latin typeface="Meiryo UI" panose="020B0604030504040204" pitchFamily="50" charset="-128"/>
                <a:ea typeface="Meiryo UI" panose="020B0604030504040204" pitchFamily="50" charset="-128"/>
              </a:rPr>
              <a:t>QIS</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企業業績や市場の非構造データをアルファ創出に活用</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企業決算発表のテキストや音声データ解析を行い、経営者の発言内容・感情トーンから将来パフォーマンスを予測する手法を開発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BERT</a:t>
            </a:r>
            <a:r>
              <a:rPr lang="ja-JP" altLang="en-US" sz="1200" dirty="0">
                <a:latin typeface="Meiryo UI" panose="020B0604030504040204" pitchFamily="50" charset="-128"/>
                <a:ea typeface="Meiryo UI" panose="020B0604030504040204" pitchFamily="50" charset="-128"/>
              </a:rPr>
              <a:t>など最新の自然言語処理モデルで決算コールの文字起こしから発言のポジティブ</a:t>
            </a: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ネガティブな感情スコアを算出し、さらに</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年からは</a:t>
            </a:r>
            <a:r>
              <a:rPr lang="ja-JP" altLang="en-US" sz="1200" b="1" dirty="0">
                <a:latin typeface="Meiryo UI" panose="020B0604030504040204" pitchFamily="50" charset="-128"/>
                <a:ea typeface="Meiryo UI" panose="020B0604030504040204" pitchFamily="50" charset="-128"/>
              </a:rPr>
              <a:t>音声そのもの（声の抑揚や曖昧さ）をディープラーニングで分析して経営者の自信度合いや微妙なニュアンスを定量化</a:t>
            </a:r>
            <a:endParaRPr lang="en-US" altLang="ja-JP" sz="1200" b="1"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過去</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年以上に渡る</a:t>
            </a:r>
            <a:r>
              <a:rPr lang="en-US" altLang="ja-JP" sz="1200" dirty="0">
                <a:latin typeface="Meiryo UI" panose="020B0604030504040204" pitchFamily="50" charset="-128"/>
                <a:ea typeface="Meiryo UI" panose="020B0604030504040204" pitchFamily="50" charset="-128"/>
              </a:rPr>
              <a:t>40</a:t>
            </a:r>
            <a:r>
              <a:rPr lang="ja-JP" altLang="en-US" sz="1200" dirty="0">
                <a:latin typeface="Meiryo UI" panose="020B0604030504040204" pitchFamily="50" charset="-128"/>
                <a:ea typeface="Meiryo UI" panose="020B0604030504040204" pitchFamily="50" charset="-128"/>
              </a:rPr>
              <a:t>万時間以上の決算コール音源データを保持し、これら</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モデルで解析することで、人手では把握しきれないインサイトを大規模に投資判断に組み込んでいる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はあくまで人間の洞察を補完するツールとの位置づけで、経験豊富な投資プロフェッショナルが高品質な仮説を立て、それを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で検証・実装するというプロセスを重視</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人間の創造力と機械学習のパワーの組み合わせにより、従来にはないアルファ源泉を発掘し、運用パフォーマンスの向上を図っている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https://am.gs.com/en-dk/institutions/insights/article/2025/AI-education-private-equity</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ニュース記事・アナリストレポート・特許 など年数千万件規模のテキストデータを自然言語処理で体系化し、企業をまたぐ</a:t>
            </a:r>
            <a:r>
              <a:rPr lang="ja-JP" altLang="en-US" sz="1200" b="1" dirty="0">
                <a:latin typeface="Meiryo UI" panose="020B0604030504040204" pitchFamily="50" charset="-128"/>
                <a:ea typeface="Meiryo UI" panose="020B0604030504040204" pitchFamily="50" charset="-128"/>
              </a:rPr>
              <a:t>テーマ・トレンド</a:t>
            </a:r>
            <a:r>
              <a:rPr lang="ja-JP" altLang="en-US" sz="1200" dirty="0">
                <a:latin typeface="Meiryo UI" panose="020B0604030504040204" pitchFamily="50" charset="-128"/>
                <a:ea typeface="Meiryo UI" panose="020B0604030504040204" pitchFamily="50" charset="-128"/>
              </a:rPr>
              <a:t>を機械学習で抽出</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https://am.gs.com/en-us/advisors/insights/article/2024/harnessing-the-power-of-ai-to-enhance-investment-decision-making#:~:text=detect%20these%20themes%20systematically%20in,million%20patents%20globally%20per%20year</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共通のテーマで結びつく企業群やセクター横断の</a:t>
            </a:r>
            <a:r>
              <a:rPr lang="ja-JP" altLang="en-US" sz="1200" b="1" dirty="0">
                <a:latin typeface="Meiryo UI" panose="020B0604030504040204" pitchFamily="50" charset="-128"/>
                <a:ea typeface="Meiryo UI" panose="020B0604030504040204" pitchFamily="50" charset="-128"/>
              </a:rPr>
              <a:t>リード・ラグ関係</a:t>
            </a:r>
            <a:r>
              <a:rPr lang="ja-JP" altLang="en-US" sz="1200" dirty="0">
                <a:latin typeface="Meiryo UI" panose="020B0604030504040204" pitchFamily="50" charset="-128"/>
                <a:ea typeface="Meiryo UI" panose="020B0604030504040204" pitchFamily="50" charset="-128"/>
              </a:rPr>
              <a:t>（株価の先行・遅行関係）を発見し、マーケットの価格形成メカニズムを深く洞察。「ニュース上で頻繁に一緒に言及される企業は経済的な繋がりが強く、投資家の反応が遅れると株価に先行・遅行が生まれる」という仮説に基づき、</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で数千銘柄の関連性ネットワークと波及効果を分析。これによりグローバルな大事件が特定企業群に与える一次・二次影響まで定量的に捉え、ポートフォリオ戦略へ反映させている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https://am.gs.com/en-us/advisors/insights/article/2024/harnessing-the-power-of-ai-to-enhance-investment-decision-making#:~:text=While%20traditional%20methods%20of%20analysis,web%20that%20would%20be%20impacted</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p:txBody>
      </p:sp>
      <p:sp>
        <p:nvSpPr>
          <p:cNvPr id="11" name="タイトル 1">
            <a:extLst>
              <a:ext uri="{FF2B5EF4-FFF2-40B4-BE49-F238E27FC236}">
                <a16:creationId xmlns:a16="http://schemas.microsoft.com/office/drawing/2014/main" id="{D2002270-9E3E-C568-97AE-22663E01FCF7}"/>
              </a:ext>
            </a:extLst>
          </p:cNvPr>
          <p:cNvSpPr txBox="1">
            <a:spLocks/>
          </p:cNvSpPr>
          <p:nvPr/>
        </p:nvSpPr>
        <p:spPr>
          <a:xfrm>
            <a:off x="95373" y="175102"/>
            <a:ext cx="11680721" cy="45856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b="1" dirty="0">
                <a:latin typeface="Meiryo UI" panose="020B0604030504040204" pitchFamily="50" charset="-128"/>
                <a:ea typeface="Meiryo UI" panose="020B0604030504040204" pitchFamily="50" charset="-128"/>
              </a:rPr>
              <a:t>【</a:t>
            </a:r>
            <a:r>
              <a:rPr lang="ja-JP" altLang="en-US" sz="1600" b="1" dirty="0">
                <a:latin typeface="Meiryo UI" panose="020B0604030504040204" pitchFamily="50" charset="-128"/>
                <a:ea typeface="Meiryo UI" panose="020B0604030504040204" pitchFamily="50" charset="-128"/>
              </a:rPr>
              <a:t>リサーチ</a:t>
            </a:r>
            <a:r>
              <a:rPr lang="en-US" altLang="ja-JP" sz="1600" b="1" dirty="0">
                <a:latin typeface="Meiryo UI" panose="020B0604030504040204" pitchFamily="50" charset="-128"/>
                <a:ea typeface="Meiryo UI" panose="020B0604030504040204" pitchFamily="50" charset="-128"/>
              </a:rPr>
              <a:t>】Goldman Sachs</a:t>
            </a:r>
            <a:r>
              <a:rPr lang="ja-JP" altLang="en-US" sz="1600" b="1" dirty="0">
                <a:latin typeface="Meiryo UI" panose="020B0604030504040204" pitchFamily="50" charset="-128"/>
                <a:ea typeface="Meiryo UI" panose="020B0604030504040204" pitchFamily="50" charset="-128"/>
              </a:rPr>
              <a:t> </a:t>
            </a:r>
            <a:r>
              <a:rPr lang="en-US" altLang="ja-JP" sz="1600" b="1" dirty="0">
                <a:latin typeface="Meiryo UI" panose="020B0604030504040204" pitchFamily="50" charset="-128"/>
                <a:ea typeface="Meiryo UI" panose="020B0604030504040204" pitchFamily="50" charset="-128"/>
              </a:rPr>
              <a:t>Asset Management(GSAM)</a:t>
            </a:r>
            <a:r>
              <a:rPr lang="ja-JP" altLang="en-US" sz="1600" b="1" dirty="0">
                <a:latin typeface="Meiryo UI" panose="020B0604030504040204" pitchFamily="50" charset="-128"/>
                <a:ea typeface="Meiryo UI" panose="020B0604030504040204" pitchFamily="50" charset="-128"/>
              </a:rPr>
              <a:t>のマーケッツ領域に関連する</a:t>
            </a:r>
            <a:r>
              <a:rPr lang="en-US" altLang="ja-JP" sz="1600" b="1" dirty="0">
                <a:latin typeface="Meiryo UI" panose="020B0604030504040204" pitchFamily="50" charset="-128"/>
                <a:ea typeface="Meiryo UI" panose="020B0604030504040204" pitchFamily="50" charset="-128"/>
              </a:rPr>
              <a:t>AI/Data/Data Science</a:t>
            </a:r>
            <a:r>
              <a:rPr lang="ja-JP" altLang="en-US" sz="1600" b="1" dirty="0">
                <a:latin typeface="Meiryo UI" panose="020B0604030504040204" pitchFamily="50" charset="-128"/>
                <a:ea typeface="Meiryo UI" panose="020B0604030504040204" pitchFamily="50" charset="-128"/>
              </a:rPr>
              <a:t>に関する取り組み</a:t>
            </a:r>
          </a:p>
        </p:txBody>
      </p:sp>
      <p:sp>
        <p:nvSpPr>
          <p:cNvPr id="8" name="コンテンツ プレースホルダー 2">
            <a:extLst>
              <a:ext uri="{FF2B5EF4-FFF2-40B4-BE49-F238E27FC236}">
                <a16:creationId xmlns:a16="http://schemas.microsoft.com/office/drawing/2014/main" id="{670FE170-F076-C2F4-AD04-779C3AA91ECE}"/>
              </a:ext>
            </a:extLst>
          </p:cNvPr>
          <p:cNvSpPr txBox="1">
            <a:spLocks/>
          </p:cNvSpPr>
          <p:nvPr/>
        </p:nvSpPr>
        <p:spPr>
          <a:xfrm>
            <a:off x="228598" y="715117"/>
            <a:ext cx="11776587" cy="33136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a:latin typeface="Meiryo UI" panose="020B0604030504040204" pitchFamily="50" charset="-128"/>
                <a:ea typeface="Meiryo UI" panose="020B0604030504040204" pitchFamily="50" charset="-128"/>
              </a:rPr>
              <a:t>Goldman Sachs</a:t>
            </a:r>
            <a:r>
              <a:rPr lang="ja-JP" altLang="en-US" sz="1200" dirty="0">
                <a:latin typeface="Meiryo UI" panose="020B0604030504040204" pitchFamily="50" charset="-128"/>
                <a:ea typeface="Meiryo UI" panose="020B0604030504040204" pitchFamily="50" charset="-128"/>
              </a:rPr>
              <a:t>本体においては、マーケッツ領域に関する信憑性の高い取り組み事例が確認できなかったため、代わりに</a:t>
            </a:r>
            <a:r>
              <a:rPr lang="en-US" altLang="ja-JP" sz="1200" dirty="0">
                <a:latin typeface="Meiryo UI" panose="020B0604030504040204" pitchFamily="50" charset="-128"/>
                <a:ea typeface="Meiryo UI" panose="020B0604030504040204" pitchFamily="50" charset="-128"/>
              </a:rPr>
              <a:t>GSAM</a:t>
            </a:r>
            <a:r>
              <a:rPr lang="ja-JP" altLang="en-US" sz="1200" dirty="0">
                <a:latin typeface="Meiryo UI" panose="020B0604030504040204" pitchFamily="50" charset="-128"/>
                <a:ea typeface="Meiryo UI" panose="020B0604030504040204" pitchFamily="50" charset="-128"/>
              </a:rPr>
              <a:t>の事例を紹介</a:t>
            </a:r>
            <a:r>
              <a:rPr lang="en-US" altLang="ja-JP" sz="1200" dirty="0">
                <a:latin typeface="Meiryo UI" panose="020B0604030504040204" pitchFamily="50" charset="-128"/>
                <a:ea typeface="Meiryo UI" panose="020B0604030504040204" pitchFamily="50" charset="-128"/>
              </a:rPr>
              <a:t> </a:t>
            </a:r>
          </a:p>
        </p:txBody>
      </p:sp>
    </p:spTree>
    <p:extLst>
      <p:ext uri="{BB962C8B-B14F-4D97-AF65-F5344CB8AC3E}">
        <p14:creationId xmlns:p14="http://schemas.microsoft.com/office/powerpoint/2010/main" val="82395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11E8C-D9E3-35B7-01BC-EEDD5B68EE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3FE190-77E1-9642-EAEF-3C28625FE8E4}"/>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3" name="コンテンツ プレースホルダー 2">
            <a:extLst>
              <a:ext uri="{FF2B5EF4-FFF2-40B4-BE49-F238E27FC236}">
                <a16:creationId xmlns:a16="http://schemas.microsoft.com/office/drawing/2014/main" id="{85D7AF5F-A732-682A-E7A1-63CF2A71E63A}"/>
              </a:ext>
            </a:extLst>
          </p:cNvPr>
          <p:cNvSpPr>
            <a:spLocks noGrp="1"/>
          </p:cNvSpPr>
          <p:nvPr>
            <p:ph idx="1"/>
          </p:nvPr>
        </p:nvSpPr>
        <p:spPr>
          <a:xfrm>
            <a:off x="186813" y="757085"/>
            <a:ext cx="11818374" cy="4769955"/>
          </a:xfrm>
          <a:ln>
            <a:solidFill>
              <a:schemeClr val="tx1"/>
            </a:solidFill>
          </a:ln>
        </p:spPr>
        <p:txBody>
          <a:bodyPr>
            <a:normAutofit/>
          </a:bodyPr>
          <a:lstStyle/>
          <a:p>
            <a:pPr marL="0" indent="0">
              <a:buNone/>
            </a:pPr>
            <a:r>
              <a:rPr lang="en-US" altLang="ja-JP" sz="1200" b="1" u="sng" dirty="0">
                <a:latin typeface="Meiryo UI" panose="020B0604030504040204" pitchFamily="50" charset="-128"/>
                <a:ea typeface="Meiryo UI" panose="020B0604030504040204" pitchFamily="50" charset="-128"/>
              </a:rPr>
              <a:t>Marquee</a:t>
            </a:r>
            <a:r>
              <a:rPr lang="ja-JP" altLang="en-US" sz="1200" b="1" u="sng" dirty="0">
                <a:latin typeface="Meiryo UI" panose="020B0604030504040204" pitchFamily="50" charset="-128"/>
                <a:ea typeface="Meiryo UI" panose="020B0604030504040204" pitchFamily="50" charset="-128"/>
              </a:rPr>
              <a:t>（マーキー）</a:t>
            </a:r>
            <a:endParaRPr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Marquee</a:t>
            </a:r>
            <a:r>
              <a:rPr kumimoji="1" lang="ja-JP" altLang="en-US" sz="1200" dirty="0">
                <a:latin typeface="Meiryo UI" panose="020B0604030504040204" pitchFamily="50" charset="-128"/>
                <a:ea typeface="Meiryo UI" panose="020B0604030504040204" pitchFamily="50" charset="-128"/>
              </a:rPr>
              <a:t>は機関投資家や法人向けに提供するデジタルプラットフォームで、月間</a:t>
            </a:r>
            <a:r>
              <a:rPr kumimoji="1" lang="en-US" altLang="ja-JP" sz="1200" dirty="0">
                <a:latin typeface="Meiryo UI" panose="020B0604030504040204" pitchFamily="50" charset="-128"/>
                <a:ea typeface="Meiryo UI" panose="020B0604030504040204" pitchFamily="50" charset="-128"/>
              </a:rPr>
              <a:t>7</a:t>
            </a:r>
            <a:r>
              <a:rPr kumimoji="1" lang="ja-JP" altLang="en-US" sz="1200" dirty="0">
                <a:latin typeface="Meiryo UI" panose="020B0604030504040204" pitchFamily="50" charset="-128"/>
                <a:ea typeface="Meiryo UI" panose="020B0604030504040204" pitchFamily="50" charset="-128"/>
              </a:rPr>
              <a:t>万以上のユーザーが利用している</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「ツールのエコシステム」として、ゴールドマン・サックスの最先端の知見、データ、分析、実行ツールへのアクセスを統合的に提供</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独自のデータにのみならず、</a:t>
            </a:r>
            <a:r>
              <a:rPr lang="ja-JP" altLang="en-US" sz="1200" dirty="0">
                <a:latin typeface="Meiryo UI" panose="020B0604030504040204" pitchFamily="50" charset="-128"/>
                <a:ea typeface="Meiryo UI" panose="020B0604030504040204" pitchFamily="50" charset="-128"/>
              </a:rPr>
              <a:t>サードパーティのデータセットも含め</a:t>
            </a:r>
            <a:r>
              <a:rPr lang="en-US" altLang="ja-JP" sz="1200" dirty="0">
                <a:latin typeface="Meiryo UI" panose="020B0604030504040204" pitchFamily="50" charset="-128"/>
                <a:ea typeface="Meiryo UI" panose="020B0604030504040204" pitchFamily="50" charset="-128"/>
              </a:rPr>
              <a:t>400</a:t>
            </a:r>
            <a:r>
              <a:rPr lang="ja-JP" altLang="en-US" sz="1200" dirty="0">
                <a:latin typeface="Meiryo UI" panose="020B0604030504040204" pitchFamily="50" charset="-128"/>
                <a:ea typeface="Meiryo UI" panose="020B0604030504040204" pitchFamily="50" charset="-128"/>
              </a:rPr>
              <a:t>以上の広範なデータセットを提供している。（利用課金モデルで販売することで、新たな収益源とし従来の投資銀行ビジネスを越えて 「データ＋テクノロジー企業」 への変貌を遂げつつある）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分析ツール「</a:t>
            </a:r>
            <a:r>
              <a:rPr lang="en-US" altLang="ja-JP" sz="1200" dirty="0">
                <a:latin typeface="Meiryo UI" panose="020B0604030504040204" pitchFamily="50" charset="-128"/>
                <a:ea typeface="Meiryo UI" panose="020B0604030504040204" pitchFamily="50" charset="-128"/>
              </a:rPr>
              <a:t>Marquee MarketView</a:t>
            </a:r>
            <a:r>
              <a:rPr lang="ja-JP" altLang="en-US" sz="1200" dirty="0">
                <a:latin typeface="Meiryo UI" panose="020B0604030504040204" pitchFamily="50" charset="-128"/>
                <a:ea typeface="Meiryo UI" panose="020B0604030504040204" pitchFamily="50" charset="-128"/>
              </a:rPr>
              <a:t>」や「</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」といったデータ分析やバックテスト機能の他、「</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」という機械学習を活用したデリバティブ商品の価格発見を迅速化する機能を提供している。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」を通じてリアルタイムの市場データ分析、予測モデル、発注執行ツールを統合し、高頻度かつ自動的な取引判断を実現</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Visual Structuring</a:t>
            </a:r>
            <a:r>
              <a:rPr lang="ja-JP" altLang="en-US" sz="1200" dirty="0">
                <a:latin typeface="Meiryo UI" panose="020B0604030504040204" pitchFamily="50" charset="-128"/>
                <a:ea typeface="Meiryo UI" panose="020B0604030504040204" pitchFamily="50" charset="-128"/>
              </a:rPr>
              <a:t>」：オプション取引構築ツール。自然言語による入力を解析してデリバティブ取引の構造を提案・視覚化する機能を備えており、ーザーはテキストベースで取引条件を指定するだけで、オプション戦略の様々なバリエーションを即座にプライシングでき、価格変動やリスク指標のシミュレーション結果がグラフ上に重ねて表示され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年にマクロ分析フィンテック企業</a:t>
            </a:r>
            <a:r>
              <a:rPr lang="en-US" altLang="ja-JP" sz="1200" dirty="0">
                <a:latin typeface="Meiryo UI" panose="020B0604030504040204" pitchFamily="50" charset="-128"/>
                <a:ea typeface="Meiryo UI" panose="020B0604030504040204" pitchFamily="50" charset="-128"/>
              </a:rPr>
              <a:t>Quant Insight</a:t>
            </a:r>
            <a:r>
              <a:rPr lang="ja-JP" altLang="en-US" sz="1200" dirty="0">
                <a:latin typeface="Meiryo UI" panose="020B0604030504040204" pitchFamily="50" charset="-128"/>
                <a:ea typeface="Meiryo UI" panose="020B0604030504040204" pitchFamily="50" charset="-128"/>
              </a:rPr>
              <a:t>社と提携し、同社の</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駆動マクロ経済分析を</a:t>
            </a:r>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に統合。これにより利用者はポートフォリオの</a:t>
            </a:r>
            <a:r>
              <a:rPr lang="en-US" altLang="ja-JP" sz="1200" dirty="0">
                <a:latin typeface="Meiryo UI" panose="020B0604030504040204" pitchFamily="50" charset="-128"/>
                <a:ea typeface="Meiryo UI" panose="020B0604030504040204" pitchFamily="50" charset="-128"/>
              </a:rPr>
              <a:t>GDP</a:t>
            </a:r>
            <a:r>
              <a:rPr lang="ja-JP" altLang="en-US" sz="1200" dirty="0">
                <a:latin typeface="Meiryo UI" panose="020B0604030504040204" pitchFamily="50" charset="-128"/>
                <a:ea typeface="Meiryo UI" panose="020B0604030504040204" pitchFamily="50" charset="-128"/>
              </a:rPr>
              <a:t>成長・インフレ感応度等を計測し、マーケットのマクロ要因を可視化する高度分析にもアクセス可能となった。</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2023</a:t>
            </a:r>
            <a:r>
              <a:rPr kumimoji="1" lang="ja-JP" altLang="en-US" sz="1200" dirty="0">
                <a:latin typeface="Meiryo UI" panose="020B0604030504040204" pitchFamily="50" charset="-128"/>
                <a:ea typeface="Meiryo UI" panose="020B0604030504040204" pitchFamily="50" charset="-128"/>
              </a:rPr>
              <a:t>年には、株式や仮想通貨（ビットコイン・イーサーリアム）のオプションにも対応範囲を拡大</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https://marquee.gs.com/welcome/news/in-the-media#:~:text=Goldman%20Sachs%20expands%20options%20visualization,to%20include%20equities%20and%20crypto</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ポートフォリオ分析エンジン、リスク指標算出、プライシングツール等が</a:t>
            </a:r>
            <a:r>
              <a:rPr kumimoji="1" lang="en-US" altLang="ja-JP" sz="1200" dirty="0">
                <a:latin typeface="Meiryo UI" panose="020B0604030504040204" pitchFamily="50" charset="-128"/>
                <a:ea typeface="Meiryo UI" panose="020B0604030504040204" pitchFamily="50" charset="-128"/>
              </a:rPr>
              <a:t>API</a:t>
            </a:r>
            <a:r>
              <a:rPr kumimoji="1" lang="ja-JP" altLang="en-US" sz="1200" dirty="0">
                <a:latin typeface="Meiryo UI" panose="020B0604030504040204" pitchFamily="50" charset="-128"/>
                <a:ea typeface="Meiryo UI" panose="020B0604030504040204" pitchFamily="50" charset="-128"/>
              </a:rPr>
              <a:t>で提供されており、ユーザーは自社ポートフォリオをアップロードして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の計算リソースで分析するといった利用法が可能</a:t>
            </a:r>
            <a:endParaRPr kumimoji="1"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424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D0D99-956A-DA86-F2DF-710CBD78D8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DC816A-0F12-CB92-6884-25CCB0D4A530}"/>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4" name="コンテンツ プレースホルダー 2">
            <a:extLst>
              <a:ext uri="{FF2B5EF4-FFF2-40B4-BE49-F238E27FC236}">
                <a16:creationId xmlns:a16="http://schemas.microsoft.com/office/drawing/2014/main" id="{0E306C8F-F31C-17CF-1C21-7067C3DCBF06}"/>
              </a:ext>
            </a:extLst>
          </p:cNvPr>
          <p:cNvSpPr txBox="1">
            <a:spLocks/>
          </p:cNvSpPr>
          <p:nvPr/>
        </p:nvSpPr>
        <p:spPr>
          <a:xfrm>
            <a:off x="219076" y="734031"/>
            <a:ext cx="11765218" cy="213108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GS Quant</a:t>
            </a:r>
          </a:p>
          <a:p>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は</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の定量分析ノウハウを</a:t>
            </a:r>
            <a:r>
              <a:rPr lang="en-US" altLang="ja-JP" sz="1200" dirty="0">
                <a:latin typeface="Meiryo UI" panose="020B0604030504040204" pitchFamily="50" charset="-128"/>
                <a:ea typeface="Meiryo UI" panose="020B0604030504040204" pitchFamily="50" charset="-128"/>
              </a:rPr>
              <a:t>Python</a:t>
            </a:r>
            <a:r>
              <a:rPr lang="ja-JP" altLang="en-US" sz="1200" dirty="0">
                <a:latin typeface="Meiryo UI" panose="020B0604030504040204" pitchFamily="50" charset="-128"/>
                <a:ea typeface="Meiryo UI" panose="020B0604030504040204" pitchFamily="50" charset="-128"/>
              </a:rPr>
              <a:t>ライブラリとしてオープンソース化したもの。</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定量分析コミュニティをの協働を通じて技術的ブランド力と高め、イノベーションを加速することを目的としている。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強力な時系列データ処理やあらゆる資産クラスを網羅するプライシング機能を備え、ゴールドマンのグローバル市場業務で鍛えられたモデルやデータセットを活用できる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「自分たちが使うものをそのまま提供する」とのコンセプトで</a:t>
            </a:r>
            <a:r>
              <a:rPr lang="en-US" altLang="ja-JP" sz="1200" dirty="0">
                <a:latin typeface="Meiryo UI" panose="020B0604030504040204" pitchFamily="50" charset="-128"/>
                <a:ea typeface="Meiryo UI" panose="020B0604030504040204" pitchFamily="50" charset="-128"/>
              </a:rPr>
              <a:t>2019</a:t>
            </a:r>
            <a:r>
              <a:rPr lang="ja-JP" altLang="en-US" sz="1200" dirty="0">
                <a:latin typeface="Meiryo UI" panose="020B0604030504040204" pitchFamily="50" charset="-128"/>
                <a:ea typeface="Meiryo UI" panose="020B0604030504040204" pitchFamily="50" charset="-128"/>
              </a:rPr>
              <a:t>年頃に公開されて以降、オープンソースコミュニティでも注目を集めている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https://edworking.com/news/startups/goldman-sachs-python-toolkit-for-quantitative-finance</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で提供されている各種分析の一部も</a:t>
            </a:r>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を通じて利用可能</a:t>
            </a:r>
            <a:endParaRPr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55F36758-8CB8-B096-B2DE-80B065116318}"/>
              </a:ext>
            </a:extLst>
          </p:cNvPr>
          <p:cNvSpPr txBox="1">
            <a:spLocks/>
          </p:cNvSpPr>
          <p:nvPr/>
        </p:nvSpPr>
        <p:spPr>
          <a:xfrm>
            <a:off x="219076" y="2966438"/>
            <a:ext cx="11776586" cy="188883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Goldman Sachs Financial Cloud for Data</a:t>
            </a:r>
          </a:p>
          <a:p>
            <a:r>
              <a:rPr lang="ja-JP" altLang="en-US" sz="1200" dirty="0">
                <a:latin typeface="Meiryo UI" panose="020B0604030504040204" pitchFamily="50" charset="-128"/>
                <a:ea typeface="Meiryo UI" panose="020B0604030504040204" pitchFamily="50" charset="-128"/>
              </a:rPr>
              <a:t>ヘッジファンドや資産運用会社など機関投資家向けに、ゴールドマンの持つ高機能なデータ管理・分析インフラを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上で提供するもの</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社内で使われている高速タイムシリーズデータベースや解析エンジン、プロットツール（</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ライブラリ等を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上で利用可能にし、顧客自身のデータと組み合わせて大規模分析できるプラットフォーム</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従来、金融機関が個別に構築していた煩雑なデータインフラを</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と</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の標準ソリューションで置き換える発想で、これによりクライアントはインフラ構築に時間を割かず投資アルゴリズム開発やデータ分析そのものに注力できるようになる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3"/>
              </a:rPr>
              <a:t>https://www.goldmansachs.com/pressroom/press-releases/2021/goldman-sachs-aws-announcement-30-nov-2021</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052CACCE-3821-A9AA-D430-866C841BEB6F}"/>
              </a:ext>
            </a:extLst>
          </p:cNvPr>
          <p:cNvSpPr txBox="1">
            <a:spLocks/>
          </p:cNvSpPr>
          <p:nvPr/>
        </p:nvSpPr>
        <p:spPr>
          <a:xfrm>
            <a:off x="207706" y="5897017"/>
            <a:ext cx="11776587" cy="839111"/>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Atlas</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新たな株式取引プラットフォーム。低遅延と大容量を実現するために再構築されており、</a:t>
            </a:r>
            <a:r>
              <a:rPr lang="en-US" altLang="ja-JP" sz="1200" dirty="0">
                <a:latin typeface="Meiryo UI" panose="020B0604030504040204" pitchFamily="50" charset="-128"/>
                <a:ea typeface="Meiryo UI" panose="020B0604030504040204" pitchFamily="50" charset="-128"/>
              </a:rPr>
              <a:t>AI/ML</a:t>
            </a:r>
            <a:r>
              <a:rPr lang="ja-JP" altLang="en-US" sz="1200" dirty="0">
                <a:latin typeface="Meiryo UI" panose="020B0604030504040204" pitchFamily="50" charset="-128"/>
                <a:ea typeface="Meiryo UI" panose="020B0604030504040204" pitchFamily="50" charset="-128"/>
              </a:rPr>
              <a:t>を活用した動的な取引戦略を可能にしている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4"/>
              </a:rPr>
              <a:t>https://www.goldmansachs.com/what-we-do/ficc-and-equities/gset-equities</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6DE39AC5-70A4-5712-C4F6-758E78FD21B5}"/>
              </a:ext>
            </a:extLst>
          </p:cNvPr>
          <p:cNvSpPr txBox="1">
            <a:spLocks/>
          </p:cNvSpPr>
          <p:nvPr/>
        </p:nvSpPr>
        <p:spPr>
          <a:xfrm>
            <a:off x="219076" y="4956588"/>
            <a:ext cx="11776587" cy="839111"/>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Legend</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データ管理プラットフォーム</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4449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DBA46-5DF6-DA64-4CF1-99953068F2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AEE350-4036-0B02-3CCE-7AD2FFFD0C22}"/>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のその他の取り組み</a:t>
            </a:r>
          </a:p>
        </p:txBody>
      </p:sp>
      <p:sp>
        <p:nvSpPr>
          <p:cNvPr id="3" name="コンテンツ プレースホルダー 2">
            <a:extLst>
              <a:ext uri="{FF2B5EF4-FFF2-40B4-BE49-F238E27FC236}">
                <a16:creationId xmlns:a16="http://schemas.microsoft.com/office/drawing/2014/main" id="{99A2861E-5B69-D31D-9558-8C5CE5E19FA3}"/>
              </a:ext>
            </a:extLst>
          </p:cNvPr>
          <p:cNvSpPr>
            <a:spLocks noGrp="1"/>
          </p:cNvSpPr>
          <p:nvPr>
            <p:ph idx="1"/>
          </p:nvPr>
        </p:nvSpPr>
        <p:spPr>
          <a:xfrm>
            <a:off x="181545" y="652794"/>
            <a:ext cx="11823642" cy="1508595"/>
          </a:xfrm>
          <a:ln>
            <a:solidFill>
              <a:schemeClr val="tx1"/>
            </a:solidFill>
          </a:ln>
        </p:spPr>
        <p:txBody>
          <a:bodyPr>
            <a:normAutofit/>
          </a:bodyPr>
          <a:lstStyle/>
          <a:p>
            <a:pPr marL="0" indent="0">
              <a:buNone/>
            </a:pPr>
            <a:r>
              <a:rPr kumimoji="1" lang="en-US" altLang="ja-JP" sz="1200" b="1" u="sng" dirty="0">
                <a:latin typeface="Meiryo UI" panose="020B0604030504040204" pitchFamily="50" charset="-128"/>
                <a:ea typeface="Meiryo UI" panose="020B0604030504040204" pitchFamily="50" charset="-128"/>
              </a:rPr>
              <a:t>H2O.ai</a:t>
            </a:r>
            <a:r>
              <a:rPr lang="ja-JP" altLang="en-US" sz="1200" b="1" u="sng" dirty="0">
                <a:latin typeface="Meiryo UI" panose="020B0604030504040204" pitchFamily="50" charset="-128"/>
                <a:ea typeface="Meiryo UI" panose="020B0604030504040204" pitchFamily="50" charset="-128"/>
              </a:rPr>
              <a:t>への</a:t>
            </a:r>
            <a:r>
              <a:rPr kumimoji="1" lang="ja-JP" altLang="en-US" sz="1200" b="1" u="sng" dirty="0">
                <a:latin typeface="Meiryo UI" panose="020B0604030504040204" pitchFamily="50" charset="-128"/>
                <a:ea typeface="Meiryo UI" panose="020B0604030504040204" pitchFamily="50" charset="-128"/>
              </a:rPr>
              <a:t>出資</a:t>
            </a:r>
            <a:endParaRPr kumimoji="1" lang="en-US" altLang="ja-JP" sz="1200" b="1" u="sng" dirty="0">
              <a:latin typeface="Meiryo UI" panose="020B0604030504040204" pitchFamily="50" charset="-128"/>
              <a:ea typeface="Meiryo UI" panose="020B0604030504040204" pitchFamily="50" charset="-128"/>
            </a:endParaRPr>
          </a:p>
          <a:p>
            <a:pPr marL="0" indent="0">
              <a:buNone/>
            </a:pP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2019</a:t>
            </a:r>
            <a:r>
              <a:rPr kumimoji="1" lang="ja-JP" altLang="en-US" sz="1200" dirty="0">
                <a:latin typeface="Meiryo UI" panose="020B0604030504040204" pitchFamily="50" charset="-128"/>
                <a:ea typeface="Meiryo UI" panose="020B0604030504040204" pitchFamily="50" charset="-128"/>
              </a:rPr>
              <a:t>年に機械学習プラットフォーム企業</a:t>
            </a:r>
            <a:r>
              <a:rPr kumimoji="1" lang="en-US" altLang="ja-JP" sz="1200" dirty="0">
                <a:latin typeface="Meiryo UI" panose="020B0604030504040204" pitchFamily="50" charset="-128"/>
                <a:ea typeface="Meiryo UI" panose="020B0604030504040204" pitchFamily="50" charset="-128"/>
              </a:rPr>
              <a:t>H2O.ai</a:t>
            </a:r>
            <a:r>
              <a:rPr kumimoji="1" lang="ja-JP" altLang="en-US" sz="1200" dirty="0">
                <a:latin typeface="Meiryo UI" panose="020B0604030504040204" pitchFamily="50" charset="-128"/>
                <a:ea typeface="Meiryo UI" panose="020B0604030504040204" pitchFamily="50" charset="-128"/>
              </a:rPr>
              <a:t>への出資を主導し、この技術を債券価格算定やマーケットメイク業務に活用</a:t>
            </a:r>
            <a:endParaRPr kumimoji="1" lang="en-US" altLang="ja-JP" sz="1200" dirty="0">
              <a:latin typeface="Meiryo UI" panose="020B0604030504040204" pitchFamily="50" charset="-128"/>
              <a:ea typeface="Meiryo UI" panose="020B0604030504040204" pitchFamily="50" charset="-128"/>
            </a:endParaRPr>
          </a:p>
          <a:p>
            <a:pPr marL="0" indent="0">
              <a:buNone/>
            </a:pP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H2O</a:t>
            </a:r>
            <a:r>
              <a:rPr kumimoji="1" lang="ja-JP" altLang="en-US" sz="1200" dirty="0">
                <a:latin typeface="Meiryo UI" panose="020B0604030504040204" pitchFamily="50" charset="-128"/>
                <a:ea typeface="Meiryo UI" panose="020B0604030504040204" pitchFamily="50" charset="-128"/>
              </a:rPr>
              <a:t>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モデル導入により債券プライシング工程の高度化が進み、株式トレーディング部門ではマーケットメイキングに</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モデルを本格採用していく計画</a:t>
            </a: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https://www.reuters.com/article/us-goldman-sachs-h20-ai/goldman-sachs-chinas-ping-an-back-artificial-intelligence-firm-h20ai-idUSKCN1VA1S7/#:~:text=At%20a%20bank%20like%20Goldman,processes%20related%20to%20bond%20pricing</a:t>
            </a:r>
            <a:endParaRPr lang="en-US" altLang="ja-JP" sz="1200" b="1" u="sng"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072AFF96-539E-415D-C7C9-448D6DED5182}"/>
              </a:ext>
            </a:extLst>
          </p:cNvPr>
          <p:cNvSpPr txBox="1">
            <a:spLocks/>
          </p:cNvSpPr>
          <p:nvPr/>
        </p:nvSpPr>
        <p:spPr>
          <a:xfrm>
            <a:off x="181545" y="2260815"/>
            <a:ext cx="11823642" cy="243579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量子コンピュータ</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R&amp;D</a:t>
            </a:r>
            <a:r>
              <a:rPr lang="ja-JP" altLang="en-US" sz="1200" dirty="0">
                <a:latin typeface="Meiryo UI" panose="020B0604030504040204" pitchFamily="50" charset="-128"/>
                <a:ea typeface="Meiryo UI" panose="020B0604030504040204" pitchFamily="50" charset="-128"/>
              </a:rPr>
              <a:t>エンジニアリングチームは量子コンピュータの専門研究者を招聘し、金融への応用研究を実施</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latin typeface="Meiryo UI" panose="020B0604030504040204" pitchFamily="50" charset="-128"/>
                <a:ea typeface="Meiryo UI" panose="020B0604030504040204" pitchFamily="50" charset="-128"/>
                <a:hlinkClick r:id="rId3"/>
              </a:rPr>
              <a:t>https://www.goldmansachs.com/careers/blog/possibilities-quantum-computing</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社内に専門の量子研究チームを置き、</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やスタートアップ企業と協働してポートフォリオ最適化やモンテカルロ・シミュレーションの量子アルゴリズム研究を進めている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2021</a:t>
            </a:r>
            <a:r>
              <a:rPr lang="ja-JP" altLang="en-US" sz="1200" dirty="0">
                <a:latin typeface="Meiryo UI" panose="020B0604030504040204" pitchFamily="50" charset="-128"/>
                <a:ea typeface="Meiryo UI" panose="020B0604030504040204" pitchFamily="50" charset="-128"/>
              </a:rPr>
              <a:t>年にはスタートアップ</a:t>
            </a:r>
            <a:r>
              <a:rPr lang="en-US" altLang="ja-JP" sz="1200" dirty="0">
                <a:latin typeface="Meiryo UI" panose="020B0604030504040204" pitchFamily="50" charset="-128"/>
                <a:ea typeface="Meiryo UI" panose="020B0604030504040204" pitchFamily="50" charset="-128"/>
              </a:rPr>
              <a:t>QC Ware</a:t>
            </a:r>
            <a:r>
              <a:rPr lang="ja-JP" altLang="en-US" sz="1200" dirty="0">
                <a:latin typeface="Meiryo UI" panose="020B0604030504040204" pitchFamily="50" charset="-128"/>
                <a:ea typeface="Meiryo UI" panose="020B0604030504040204" pitchFamily="50" charset="-128"/>
              </a:rPr>
              <a:t>や量子ハード企業</a:t>
            </a:r>
            <a:r>
              <a:rPr lang="en-US" altLang="ja-JP" sz="1200" dirty="0" err="1">
                <a:latin typeface="Meiryo UI" panose="020B0604030504040204" pitchFamily="50" charset="-128"/>
                <a:ea typeface="Meiryo UI" panose="020B0604030504040204" pitchFamily="50" charset="-128"/>
              </a:rPr>
              <a:t>IonQ</a:t>
            </a:r>
            <a:r>
              <a:rPr lang="ja-JP" altLang="en-US" sz="1200" dirty="0">
                <a:latin typeface="Meiryo UI" panose="020B0604030504040204" pitchFamily="50" charset="-128"/>
                <a:ea typeface="Meiryo UI" panose="020B0604030504040204" pitchFamily="50" charset="-128"/>
              </a:rPr>
              <a:t>と組み、モンテカルロ法によるリスク計算の量子加速を検証</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年には</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の量子研究部と共同で、量子アルゴリズム（</a:t>
            </a:r>
            <a:r>
              <a:rPr lang="en-US" altLang="ja-JP" sz="1200" dirty="0">
                <a:latin typeface="Meiryo UI" panose="020B0604030504040204" pitchFamily="50" charset="-128"/>
                <a:ea typeface="Meiryo UI" panose="020B0604030504040204" pitchFamily="50" charset="-128"/>
              </a:rPr>
              <a:t>QIPM: Quantum Interior Point Method</a:t>
            </a:r>
            <a:r>
              <a:rPr lang="ja-JP" altLang="en-US" sz="1200" dirty="0">
                <a:latin typeface="Meiryo UI" panose="020B0604030504040204" pitchFamily="50" charset="-128"/>
                <a:ea typeface="Meiryo UI" panose="020B0604030504040204" pitchFamily="50" charset="-128"/>
              </a:rPr>
              <a:t>）を用いたポートフォリオ最適化問題のエンドツーエンド資源評価を行い、その成果を論文発表している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latin typeface="Meiryo UI" panose="020B0604030504040204" pitchFamily="50" charset="-128"/>
                <a:ea typeface="Meiryo UI" panose="020B0604030504040204" pitchFamily="50" charset="-128"/>
                <a:hlinkClick r:id="rId4"/>
              </a:rPr>
              <a:t>https://medium.com/@deltorobarba/how-quantum-computing-could-accelerate-finance-and-economics-80555e80f76b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A7DC358C-9F72-88A6-D9BF-E2662FDA8AA7}"/>
              </a:ext>
            </a:extLst>
          </p:cNvPr>
          <p:cNvSpPr txBox="1">
            <a:spLocks/>
          </p:cNvSpPr>
          <p:nvPr/>
        </p:nvSpPr>
        <p:spPr>
          <a:xfrm>
            <a:off x="181545" y="4796039"/>
            <a:ext cx="11823642" cy="168604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ブロックチェーン分野</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デジタル資産部門を設置し、ブロックチェーン活用の新プラットフォーム「</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11</a:t>
            </a:r>
            <a:r>
              <a:rPr lang="ja-JP" altLang="en-US" sz="1200" dirty="0">
                <a:latin typeface="Meiryo UI" panose="020B0604030504040204" pitchFamily="50" charset="-128"/>
                <a:ea typeface="Meiryo UI" panose="020B0604030504040204" pitchFamily="50" charset="-128"/>
              </a:rPr>
              <a:t>月、</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上で欧州投資銀行（</a:t>
            </a:r>
            <a:r>
              <a:rPr lang="en-US" altLang="ja-JP" sz="1200" dirty="0">
                <a:latin typeface="Meiryo UI" panose="020B0604030504040204" pitchFamily="50" charset="-128"/>
                <a:ea typeface="Meiryo UI" panose="020B0604030504040204" pitchFamily="50" charset="-128"/>
              </a:rPr>
              <a:t>EIB</a:t>
            </a:r>
            <a:r>
              <a:rPr lang="ja-JP" altLang="en-US" sz="1200" dirty="0">
                <a:latin typeface="Meiryo UI" panose="020B0604030504040204" pitchFamily="50" charset="-128"/>
                <a:ea typeface="Meiryo UI" panose="020B0604030504040204" pitchFamily="50" charset="-128"/>
              </a:rPr>
              <a:t>）によるユーロ建てデジタル債券（</a:t>
            </a:r>
            <a:r>
              <a:rPr lang="en-US" altLang="ja-JP" sz="1200" dirty="0">
                <a:latin typeface="Meiryo UI" panose="020B0604030504040204" pitchFamily="50" charset="-128"/>
                <a:ea typeface="Meiryo UI" panose="020B0604030504040204" pitchFamily="50" charset="-128"/>
              </a:rPr>
              <a:t>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100</a:t>
            </a:r>
            <a:r>
              <a:rPr lang="ja-JP" altLang="en-US" sz="1200" dirty="0">
                <a:latin typeface="Meiryo UI" panose="020B0604030504040204" pitchFamily="50" charset="-128"/>
                <a:ea typeface="Meiryo UI" panose="020B0604030504040204" pitchFamily="50" charset="-128"/>
              </a:rPr>
              <a:t>百万ユーロ）の発行・決済を支援し、初のプライベートブロックチェーン上債券取引を成功させた</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latin typeface="Meiryo UI" panose="020B0604030504040204" pitchFamily="50" charset="-128"/>
                <a:ea typeface="Meiryo UI" panose="020B0604030504040204" pitchFamily="50" charset="-128"/>
                <a:hlinkClick r:id="rId5"/>
              </a:rPr>
              <a:t>https://fif.com/index.php?option=com_content&amp;view=article&amp;id=23537&amp;catid=78&amp;Itemid=1749#:~:text=Goldman%20Sachs%20launched%20GS%20DAP%2C,and%20first%20using%20private%20blockchain</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8771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8E1B-9582-35FA-0510-F9123E7A8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A8B2AD-EF14-6EC4-E023-E1CAAD28532F}"/>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B24DE6C-2FEE-E8A7-B71B-0AF3264C1398}"/>
              </a:ext>
            </a:extLst>
          </p:cNvPr>
          <p:cNvSpPr>
            <a:spLocks noGrp="1"/>
          </p:cNvSpPr>
          <p:nvPr>
            <p:ph idx="1"/>
          </p:nvPr>
        </p:nvSpPr>
        <p:spPr>
          <a:xfrm>
            <a:off x="228598" y="702369"/>
            <a:ext cx="11638936" cy="3240847"/>
          </a:xfrm>
          <a:ln>
            <a:solidFill>
              <a:schemeClr val="tx1"/>
            </a:solidFill>
          </a:ln>
        </p:spPr>
        <p:txBody>
          <a:bodyPr>
            <a:normAutofit fontScale="92500" lnSpcReduction="10000"/>
          </a:bodyPr>
          <a:lstStyle/>
          <a:p>
            <a:pPr marL="0" indent="0">
              <a:buNone/>
            </a:pPr>
            <a:r>
              <a:rPr kumimoji="1" lang="ja-JP" altLang="en-US" sz="1200" b="1" u="sng" dirty="0">
                <a:latin typeface="Meiryo UI" panose="020B0604030504040204" pitchFamily="50" charset="-128"/>
                <a:ea typeface="Meiryo UI" panose="020B0604030504040204" pitchFamily="50" charset="-128"/>
              </a:rPr>
              <a:t>生成</a:t>
            </a:r>
            <a:r>
              <a:rPr kumimoji="1" lang="en-US" altLang="ja-JP" sz="1200" b="1" u="sng" dirty="0">
                <a:latin typeface="Meiryo UI" panose="020B0604030504040204" pitchFamily="50" charset="-128"/>
                <a:ea typeface="Meiryo UI" panose="020B0604030504040204" pitchFamily="50" charset="-128"/>
              </a:rPr>
              <a:t>AI</a:t>
            </a:r>
            <a:r>
              <a:rPr kumimoji="1" lang="ja-JP" altLang="en-US" sz="1200" b="1" u="sng" dirty="0">
                <a:latin typeface="Meiryo UI" panose="020B0604030504040204" pitchFamily="50" charset="-128"/>
                <a:ea typeface="Meiryo UI" panose="020B0604030504040204" pitchFamily="50" charset="-128"/>
              </a:rPr>
              <a:t>アシスタント（</a:t>
            </a:r>
            <a:r>
              <a:rPr kumimoji="1" lang="en-US" altLang="ja-JP" sz="1200" b="1" u="sng" dirty="0">
                <a:latin typeface="Meiryo UI" panose="020B0604030504040204" pitchFamily="50" charset="-128"/>
                <a:ea typeface="Meiryo UI" panose="020B0604030504040204" pitchFamily="50" charset="-128"/>
              </a:rPr>
              <a:t>GS AI </a:t>
            </a:r>
            <a:r>
              <a:rPr kumimoji="1" lang="ja-JP" altLang="en-US" sz="1200" b="1" u="sng" dirty="0">
                <a:latin typeface="Meiryo UI" panose="020B0604030504040204" pitchFamily="50" charset="-128"/>
                <a:ea typeface="Meiryo UI" panose="020B0604030504040204" pitchFamily="50" charset="-128"/>
              </a:rPr>
              <a:t>アシスタント）</a:t>
            </a:r>
            <a:endParaRPr kumimoji="1"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2024</a:t>
            </a:r>
            <a:r>
              <a:rPr kumimoji="1" lang="ja-JP" altLang="en-US" sz="1200" dirty="0">
                <a:latin typeface="Meiryo UI" panose="020B0604030504040204" pitchFamily="50" charset="-128"/>
                <a:ea typeface="Meiryo UI" panose="020B0604030504040204" pitchFamily="50" charset="-128"/>
              </a:rPr>
              <a:t>年初頭にまずトレーダーやバンカー、資産運用担当者等約</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万人に提供された社内チャット</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は、文書要約、資料ドラフト作成、データ分析補助などに活用され、</a:t>
            </a:r>
            <a:r>
              <a:rPr kumimoji="1" lang="en-US" altLang="ja-JP" sz="1200" dirty="0">
                <a:latin typeface="Meiryo UI" panose="020B0604030504040204" pitchFamily="50" charset="-128"/>
                <a:ea typeface="Meiryo UI" panose="020B0604030504040204" pitchFamily="50" charset="-128"/>
              </a:rPr>
              <a:t>2025</a:t>
            </a:r>
            <a:r>
              <a:rPr kumimoji="1" lang="ja-JP" altLang="en-US" sz="1200" dirty="0">
                <a:latin typeface="Meiryo UI" panose="020B0604030504040204" pitchFamily="50" charset="-128"/>
                <a:ea typeface="Meiryo UI" panose="020B0604030504040204" pitchFamily="50" charset="-128"/>
              </a:rPr>
              <a:t>年には全従業員向けに拡大された</a:t>
            </a: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https://www.reuters.com/business/goldman-sachs-launches-ai-assistant-firmwide-memo-shows-2025-06-23/#:~:text=June%2023%20%28Reuters%29%20,internal%20memo%20seen%20by%20Reuters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アシスタントは複数の大規模言語モデル（</a:t>
            </a:r>
            <a:r>
              <a:rPr kumimoji="1" lang="en-US" altLang="ja-JP" sz="1200" dirty="0">
                <a:latin typeface="Meiryo UI" panose="020B0604030504040204" pitchFamily="50" charset="-128"/>
                <a:ea typeface="Meiryo UI" panose="020B0604030504040204" pitchFamily="50" charset="-128"/>
              </a:rPr>
              <a:t>LLM</a:t>
            </a:r>
            <a:r>
              <a:rPr kumimoji="1" lang="ja-JP" altLang="en-US" sz="1200" dirty="0">
                <a:latin typeface="Meiryo UI" panose="020B0604030504040204" pitchFamily="50" charset="-128"/>
                <a:ea typeface="Meiryo UI" panose="020B0604030504040204" pitchFamily="50" charset="-128"/>
              </a:rPr>
              <a:t>）を用途に応じて使い分けられる高度な仕組みで、エンジニア、投資銀行部門アナリスト、リサーチ担当者、資産運用担当者など職種ごとにカスタマイズ機能を備えている</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例えば長大なレポートの要点抽出や、社内ナレッジに基づく質疑応答、初期的な提案書の自動生成などに活用されており、「まるで</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社員に質問しているような」対話体験を目指している</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目論見書ドラフトの自動作成やアナリストレポート作成を支援。</a:t>
            </a:r>
            <a:r>
              <a:rPr lang="en-US" altLang="ja-JP" sz="1200" dirty="0">
                <a:latin typeface="Meiryo UI" panose="020B0604030504040204" pitchFamily="50" charset="-128"/>
                <a:ea typeface="Meiryo UI" panose="020B0604030504040204" pitchFamily="50" charset="-128"/>
              </a:rPr>
              <a:t>CEO</a:t>
            </a:r>
            <a:r>
              <a:rPr lang="ja-JP" altLang="en-US" sz="1200" dirty="0">
                <a:latin typeface="Meiryo UI" panose="020B0604030504040204" pitchFamily="50" charset="-128"/>
                <a:ea typeface="Meiryo UI" panose="020B0604030504040204" pitchFamily="50" charset="-128"/>
              </a:rPr>
              <a:t>のデイビッド・ソロモン氏は、「</a:t>
            </a:r>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の目論見書ドラフト作成作業の約</a:t>
            </a:r>
            <a:r>
              <a:rPr lang="en-US" altLang="ja-JP" sz="1200" dirty="0">
                <a:latin typeface="Meiryo UI" panose="020B0604030504040204" pitchFamily="50" charset="-128"/>
                <a:ea typeface="Meiryo UI" panose="020B0604030504040204" pitchFamily="50" charset="-128"/>
              </a:rPr>
              <a:t>95%</a:t>
            </a:r>
            <a:r>
              <a:rPr lang="ja-JP" altLang="en-US" sz="1200" dirty="0">
                <a:latin typeface="Meiryo UI" panose="020B0604030504040204" pitchFamily="50" charset="-128"/>
                <a:ea typeface="Meiryo UI" panose="020B0604030504040204" pitchFamily="50" charset="-128"/>
              </a:rPr>
              <a:t>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が担うに至った」としている。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3"/>
              </a:rPr>
              <a:t>https://www.businessinsider.com/wall-street-goldman-jpmorgan-bridgewater-using-ai-2023-12#:~:text=%2A%20AI%20is%20doing%2095,prospectus%2C%20Goldman%20Sachs%20CEO%20says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CIO</a:t>
            </a:r>
            <a:r>
              <a:rPr kumimoji="1" lang="ja-JP" altLang="en-US" sz="1200" dirty="0">
                <a:latin typeface="Meiryo UI" panose="020B0604030504040204" pitchFamily="50" charset="-128"/>
                <a:ea typeface="Meiryo UI" panose="020B0604030504040204" pitchFamily="50" charset="-128"/>
              </a:rPr>
              <a:t>のマルコ・アルジェンティ氏は「この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は当初は社内データを学習して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の“文化”を身につけ、将来的には社員の代わりにタスクを遂行するエージェント的振る舞いも視野に入れている」と述べており、今後さらなる業務自動化・効率化への寄与が期待されている</a:t>
            </a: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4"/>
              </a:rPr>
              <a:t>https://www.pymnts.com/news/artificial-intelligence/2025/goldman-sachs-expands-availability-ai-assistant-across-firm/#:~:text=It%20was%20reported%20in%20January,its%20knowledge%20workers%20this%20year</a:t>
            </a:r>
            <a:endParaRPr lang="en-US" altLang="ja-JP" sz="1200" dirty="0">
              <a:latin typeface="Meiryo UI" panose="020B0604030504040204" pitchFamily="50" charset="-128"/>
              <a:ea typeface="Meiryo UI" panose="020B0604030504040204" pitchFamily="50" charset="-128"/>
            </a:endParaRPr>
          </a:p>
          <a:p>
            <a:pPr marL="0" indent="0">
              <a:buNone/>
            </a:pPr>
            <a:endParaRPr kumimoji="1"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65A07E75-E1F3-DB96-0FF9-7EC3FD1747AE}"/>
              </a:ext>
            </a:extLst>
          </p:cNvPr>
          <p:cNvSpPr txBox="1">
            <a:spLocks/>
          </p:cNvSpPr>
          <p:nvPr/>
        </p:nvSpPr>
        <p:spPr>
          <a:xfrm>
            <a:off x="228598" y="4106235"/>
            <a:ext cx="11638936" cy="129615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コード自動生成</a:t>
            </a:r>
            <a:r>
              <a:rPr lang="en-US" altLang="ja-JP" sz="1200" b="1" u="sng" dirty="0">
                <a:latin typeface="Meiryo UI" panose="020B0604030504040204" pitchFamily="50" charset="-128"/>
                <a:ea typeface="Meiryo UI" panose="020B0604030504040204" pitchFamily="50" charset="-128"/>
              </a:rPr>
              <a:t>AI</a:t>
            </a:r>
            <a:r>
              <a:rPr lang="ja-JP" altLang="en-US" sz="1200" b="1" u="sng" dirty="0">
                <a:latin typeface="Meiryo UI" panose="020B0604030504040204" pitchFamily="50" charset="-128"/>
                <a:ea typeface="Meiryo UI" panose="020B0604030504040204" pitchFamily="50" charset="-128"/>
              </a:rPr>
              <a:t>の活用</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全エンジニアに対し、</a:t>
            </a:r>
            <a:r>
              <a:rPr lang="en-US" altLang="ja-JP" sz="1200" dirty="0">
                <a:latin typeface="Meiryo UI" panose="020B0604030504040204" pitchFamily="50" charset="-128"/>
                <a:ea typeface="Meiryo UI" panose="020B0604030504040204" pitchFamily="50" charset="-128"/>
              </a:rPr>
              <a:t>GitHub Copilot</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Gemini Code Assist</a:t>
            </a:r>
            <a:r>
              <a:rPr lang="ja-JP" altLang="en-US" sz="1200" dirty="0">
                <a:latin typeface="Meiryo UI" panose="020B0604030504040204" pitchFamily="50" charset="-128"/>
                <a:ea typeface="Meiryo UI" panose="020B0604030504040204" pitchFamily="50" charset="-128"/>
              </a:rPr>
              <a:t>の提供を開始。社内ハッカソンを開催するなど、従業員の生産性向上とリスキリングを 「人材」「データ」「技術」 の三位一体で進めている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5"/>
              </a:rPr>
              <a:t>https://www.finextra.com/newsarticle/45684/goldman-adopts-measured-approach-to-roll-out-of-ai#:~:text=Roughly%20one%20out%20of%20every,most%20creative%20uses%20of%20AI</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9071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8B0-A823-0367-5E76-8B2CBD038B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D8FF32-6152-EF32-523E-5F52FE3AAF1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7DAA86F-8EF1-F448-E283-1CA3A144B652}"/>
              </a:ext>
            </a:extLst>
          </p:cNvPr>
          <p:cNvSpPr>
            <a:spLocks noGrp="1"/>
          </p:cNvSpPr>
          <p:nvPr>
            <p:ph idx="1"/>
          </p:nvPr>
        </p:nvSpPr>
        <p:spPr>
          <a:xfrm>
            <a:off x="207705" y="2290105"/>
            <a:ext cx="11776589" cy="2517642"/>
          </a:xfrm>
          <a:ln>
            <a:solidFill>
              <a:schemeClr val="tx1"/>
            </a:solidFill>
          </a:ln>
        </p:spPr>
        <p:txBody>
          <a:bodyPr>
            <a:normAutofit/>
          </a:bodyPr>
          <a:lstStyle/>
          <a:p>
            <a:pPr marL="0" indent="0">
              <a:buNone/>
            </a:pPr>
            <a:r>
              <a:rPr kumimoji="1" lang="ja-JP" altLang="en-US" sz="1200" b="1" u="sng" dirty="0">
                <a:latin typeface="Meiryo UI" panose="020B0604030504040204" pitchFamily="50" charset="-128"/>
                <a:ea typeface="Meiryo UI" panose="020B0604030504040204" pitchFamily="50" charset="-128"/>
              </a:rPr>
              <a:t>コンシューマー部門</a:t>
            </a:r>
            <a:endParaRPr kumimoji="1" lang="en-US" altLang="ja-JP" sz="1200" b="1" u="sng"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オンライン銀行プラットフォーム「</a:t>
            </a:r>
            <a:r>
              <a:rPr kumimoji="1" lang="en-US" altLang="ja-JP" sz="1200" dirty="0">
                <a:latin typeface="Meiryo UI" panose="020B0604030504040204" pitchFamily="50" charset="-128"/>
                <a:ea typeface="Meiryo UI" panose="020B0604030504040204" pitchFamily="50" charset="-128"/>
              </a:rPr>
              <a:t>Marcus</a:t>
            </a:r>
            <a:r>
              <a:rPr kumimoji="1" lang="ja-JP" altLang="en-US" sz="1200" dirty="0">
                <a:latin typeface="Meiryo UI" panose="020B0604030504040204" pitchFamily="50" charset="-128"/>
                <a:ea typeface="Meiryo UI" panose="020B0604030504040204" pitchFamily="50" charset="-128"/>
              </a:rPr>
              <a:t>（マーカス）」において</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を活用した与信審査・カスタマーサービスを展開</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従来は人手で数週間かかっていた個人向け融資の審査プロセスを、</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が過去の取引データや支出パターンから</a:t>
            </a:r>
            <a:r>
              <a:rPr kumimoji="1" lang="en-US" altLang="ja-JP" sz="1200" dirty="0">
                <a:latin typeface="Meiryo UI" panose="020B0604030504040204" pitchFamily="50" charset="-128"/>
                <a:ea typeface="Meiryo UI" panose="020B0604030504040204" pitchFamily="50" charset="-128"/>
              </a:rPr>
              <a:t>24</a:t>
            </a:r>
            <a:r>
              <a:rPr kumimoji="1" lang="ja-JP" altLang="en-US" sz="1200" dirty="0">
                <a:latin typeface="Meiryo UI" panose="020B0604030504040204" pitchFamily="50" charset="-128"/>
                <a:ea typeface="Meiryo UI" panose="020B0604030504040204" pitchFamily="50" charset="-128"/>
              </a:rPr>
              <a:t>時間以内に信用評価を算出する仕組みに改め、従来</a:t>
            </a:r>
            <a:r>
              <a:rPr lang="ja-JP" altLang="en-US" sz="1200" dirty="0">
                <a:latin typeface="Meiryo UI" panose="020B0604030504040204" pitchFamily="50" charset="-128"/>
                <a:ea typeface="Meiryo UI" panose="020B0604030504040204" pitchFamily="50" charset="-128"/>
              </a:rPr>
              <a:t>平均</a:t>
            </a:r>
            <a:r>
              <a:rPr lang="en-US" altLang="ja-JP" sz="1200" dirty="0">
                <a:latin typeface="Meiryo UI" panose="020B0604030504040204" pitchFamily="50" charset="-128"/>
                <a:ea typeface="Meiryo UI" panose="020B0604030504040204" pitchFamily="50" charset="-128"/>
              </a:rPr>
              <a:t>14</a:t>
            </a:r>
            <a:r>
              <a:rPr lang="ja-JP" altLang="en-US" sz="1200" dirty="0">
                <a:latin typeface="Meiryo UI" panose="020B0604030504040204" pitchFamily="50" charset="-128"/>
                <a:ea typeface="Meiryo UI" panose="020B0604030504040204" pitchFamily="50" charset="-128"/>
              </a:rPr>
              <a:t>日かかっていた</a:t>
            </a:r>
            <a:r>
              <a:rPr kumimoji="1" lang="ja-JP" altLang="en-US" sz="1200" dirty="0">
                <a:latin typeface="Meiryo UI" panose="020B0604030504040204" pitchFamily="50" charset="-128"/>
                <a:ea typeface="Meiryo UI" panose="020B0604030504040204" pitchFamily="50" charset="-128"/>
              </a:rPr>
              <a:t>融資承認までの時間を大幅短縮するとともに成約率も</a:t>
            </a:r>
            <a:r>
              <a:rPr kumimoji="1" lang="en-US" altLang="ja-JP" sz="1200" dirty="0">
                <a:latin typeface="Meiryo UI" panose="020B0604030504040204" pitchFamily="50" charset="-128"/>
                <a:ea typeface="Meiryo UI" panose="020B0604030504040204" pitchFamily="50" charset="-128"/>
              </a:rPr>
              <a:t>230%</a:t>
            </a:r>
            <a:r>
              <a:rPr kumimoji="1" lang="ja-JP" altLang="en-US" sz="1200" dirty="0">
                <a:latin typeface="Meiryo UI" panose="020B0604030504040204" pitchFamily="50" charset="-128"/>
                <a:ea typeface="Meiryo UI" panose="020B0604030504040204" pitchFamily="50" charset="-128"/>
              </a:rPr>
              <a:t>向上させた</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カスタマーサポートでも音声認識・</a:t>
            </a:r>
            <a:r>
              <a:rPr kumimoji="1" lang="en-US" altLang="ja-JP" sz="1200" dirty="0">
                <a:latin typeface="Meiryo UI" panose="020B0604030504040204" pitchFamily="50" charset="-128"/>
                <a:ea typeface="Meiryo UI" panose="020B0604030504040204" pitchFamily="50" charset="-128"/>
              </a:rPr>
              <a:t>NLP</a:t>
            </a:r>
            <a:r>
              <a:rPr kumimoji="1" lang="ja-JP" altLang="en-US" sz="1200" dirty="0">
                <a:latin typeface="Meiryo UI" panose="020B0604030504040204" pitchFamily="50" charset="-128"/>
                <a:ea typeface="Meiryo UI" panose="020B0604030504040204" pitchFamily="50" charset="-128"/>
              </a:rPr>
              <a:t>を用いた仮想アシスタントが導入され、顧客問い合わせの</a:t>
            </a:r>
            <a:r>
              <a:rPr kumimoji="1" lang="en-US" altLang="ja-JP" sz="1200" dirty="0">
                <a:latin typeface="Meiryo UI" panose="020B0604030504040204" pitchFamily="50" charset="-128"/>
                <a:ea typeface="Meiryo UI" panose="020B0604030504040204" pitchFamily="50" charset="-128"/>
              </a:rPr>
              <a:t>68%</a:t>
            </a:r>
            <a:r>
              <a:rPr kumimoji="1" lang="ja-JP" altLang="en-US" sz="1200" dirty="0">
                <a:latin typeface="Meiryo UI" panose="020B0604030504040204" pitchFamily="50" charset="-128"/>
                <a:ea typeface="Meiryo UI" panose="020B0604030504040204" pitchFamily="50" charset="-128"/>
              </a:rPr>
              <a:t>を自動対応しつつ、対応時間短縮と苦情件数の</a:t>
            </a:r>
            <a:r>
              <a:rPr kumimoji="1" lang="en-US" altLang="ja-JP" sz="1200" dirty="0">
                <a:latin typeface="Meiryo UI" panose="020B0604030504040204" pitchFamily="50" charset="-128"/>
                <a:ea typeface="Meiryo UI" panose="020B0604030504040204" pitchFamily="50" charset="-128"/>
              </a:rPr>
              <a:t>41%</a:t>
            </a:r>
            <a:r>
              <a:rPr kumimoji="1" lang="ja-JP" altLang="en-US" sz="1200" dirty="0">
                <a:latin typeface="Meiryo UI" panose="020B0604030504040204" pitchFamily="50" charset="-128"/>
                <a:ea typeface="Meiryo UI" panose="020B0604030504040204" pitchFamily="50" charset="-128"/>
              </a:rPr>
              <a:t>減少につなげた実績が示されている</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Marcus</a:t>
            </a:r>
            <a:r>
              <a:rPr kumimoji="1" lang="ja-JP" altLang="en-US" sz="1200" dirty="0">
                <a:latin typeface="Meiryo UI" panose="020B0604030504040204" pitchFamily="50" charset="-128"/>
                <a:ea typeface="Meiryo UI" panose="020B0604030504040204" pitchFamily="50" charset="-128"/>
              </a:rPr>
              <a:t>」は経営戦略の見直しから事業撤退となったが、蓄積されたデジタル技術は企業内の他部門で再活用されている</a:t>
            </a: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https://www.pymnts.com/news/artificial-intelligence/2025/goldman-sachs-expands-availability-ai-assistant-across-firm/#:~:text=It%20was%20reported%20in%20January,its%20knowledge%20workers%20this%20year</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規制サンドボックスシステムは、</a:t>
            </a:r>
            <a:r>
              <a:rPr kumimoji="1" lang="en-US" altLang="ja-JP" sz="1200" dirty="0">
                <a:latin typeface="Meiryo UI" panose="020B0604030504040204" pitchFamily="50" charset="-128"/>
                <a:ea typeface="Meiryo UI" panose="020B0604030504040204" pitchFamily="50" charset="-128"/>
              </a:rPr>
              <a:t>1,000</a:t>
            </a:r>
            <a:r>
              <a:rPr kumimoji="1" lang="ja-JP" altLang="en-US" sz="1200" dirty="0">
                <a:latin typeface="Meiryo UI" panose="020B0604030504040204" pitchFamily="50" charset="-128"/>
                <a:ea typeface="Meiryo UI" panose="020B0604030504040204" pitchFamily="50" charset="-128"/>
              </a:rPr>
              <a:t>以上の規制シナリオをシミュレートし、顧客がコンプライアンス上のギャップを</a:t>
            </a:r>
            <a:r>
              <a:rPr kumimoji="1" lang="en-US" altLang="ja-JP" sz="1200" dirty="0">
                <a:latin typeface="Meiryo UI" panose="020B0604030504040204" pitchFamily="50" charset="-128"/>
                <a:ea typeface="Meiryo UI" panose="020B0604030504040204" pitchFamily="50" charset="-128"/>
              </a:rPr>
              <a:t>6</a:t>
            </a:r>
            <a:r>
              <a:rPr kumimoji="1" lang="ja-JP" altLang="en-US" sz="1200" dirty="0">
                <a:latin typeface="Meiryo UI" panose="020B0604030504040204" pitchFamily="50" charset="-128"/>
                <a:ea typeface="Meiryo UI" panose="020B0604030504040204" pitchFamily="50" charset="-128"/>
              </a:rPr>
              <a:t>か月前に特定できるよう支援している。このモデルは、</a:t>
            </a:r>
            <a:r>
              <a:rPr kumimoji="1" lang="en-US" altLang="ja-JP" sz="1200" dirty="0">
                <a:latin typeface="Meiryo UI" panose="020B0604030504040204" pitchFamily="50" charset="-128"/>
                <a:ea typeface="Meiryo UI" panose="020B0604030504040204" pitchFamily="50" charset="-128"/>
              </a:rPr>
              <a:t>12</a:t>
            </a:r>
            <a:r>
              <a:rPr kumimoji="1" lang="ja-JP" altLang="en-US" sz="1200" dirty="0">
                <a:latin typeface="Meiryo UI" panose="020B0604030504040204" pitchFamily="50" charset="-128"/>
                <a:ea typeface="Meiryo UI" panose="020B0604030504040204" pitchFamily="50" charset="-128"/>
              </a:rPr>
              <a:t>の国際機関で採用されてい</a:t>
            </a:r>
            <a:r>
              <a:rPr lang="ja-JP" altLang="en-US" sz="1200" dirty="0">
                <a:latin typeface="Meiryo UI" panose="020B0604030504040204" pitchFamily="50" charset="-128"/>
                <a:ea typeface="Meiryo UI" panose="020B0604030504040204" pitchFamily="50" charset="-128"/>
              </a:rPr>
              <a:t>る。</a:t>
            </a:r>
            <a:endParaRPr kumimoji="1"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0E9237ED-AA9D-864C-FC34-D1035CD045CF}"/>
              </a:ext>
            </a:extLst>
          </p:cNvPr>
          <p:cNvSpPr txBox="1">
            <a:spLocks/>
          </p:cNvSpPr>
          <p:nvPr/>
        </p:nvSpPr>
        <p:spPr>
          <a:xfrm>
            <a:off x="228598" y="5903181"/>
            <a:ext cx="11776589" cy="84533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生物多様性測定へ人工知能を応用</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MIT-IBM Watson AI</a:t>
            </a:r>
            <a:r>
              <a:rPr lang="ja-JP" altLang="en-US" sz="1200" dirty="0">
                <a:latin typeface="Meiryo UI" panose="020B0604030504040204" pitchFamily="50" charset="-128"/>
                <a:ea typeface="Meiryo UI" panose="020B0604030504040204" pitchFamily="50" charset="-128"/>
              </a:rPr>
              <a:t>ラボとも協業し、</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を活用した生物多様性モニタリング手法の開発（サステナブル金融分野）</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3"/>
              </a:rPr>
              <a:t>https://www.goldmansachs.com/pressroom/press-releases/2024/mit-ibm-watson-ai-lab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55188BD7-3FCB-7A2C-26CC-EE5E3EFC71D4}"/>
              </a:ext>
            </a:extLst>
          </p:cNvPr>
          <p:cNvSpPr txBox="1">
            <a:spLocks/>
          </p:cNvSpPr>
          <p:nvPr/>
        </p:nvSpPr>
        <p:spPr>
          <a:xfrm>
            <a:off x="207705" y="4859876"/>
            <a:ext cx="11776589" cy="93904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人工知能関連</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国際情報技術大学ハイデラバード校との提携で</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・新興技術の研究開発拠点（センターオブエクセレンス）を</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年に設立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4"/>
              </a:rPr>
              <a:t>https://chatgpt.com/c/68cf5b4e-fbb8-8323-be3c-d4ed8888f729</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2EF393D7-FEEC-21E8-C761-5DCD1538AD8B}"/>
              </a:ext>
            </a:extLst>
          </p:cNvPr>
          <p:cNvSpPr txBox="1">
            <a:spLocks/>
          </p:cNvSpPr>
          <p:nvPr/>
        </p:nvSpPr>
        <p:spPr>
          <a:xfrm>
            <a:off x="218767" y="598822"/>
            <a:ext cx="11796250" cy="158702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200" b="1" u="sng" dirty="0">
                <a:latin typeface="Meiryo UI" panose="020B0604030504040204" pitchFamily="50" charset="-128"/>
                <a:ea typeface="Meiryo UI" panose="020B0604030504040204" pitchFamily="50" charset="-128"/>
              </a:rPr>
              <a:t>DX</a:t>
            </a:r>
            <a:r>
              <a:rPr lang="ja-JP" altLang="en-US" sz="1200" b="1" u="sng" dirty="0">
                <a:latin typeface="Meiryo UI" panose="020B0604030504040204" pitchFamily="50" charset="-128"/>
                <a:ea typeface="Meiryo UI" panose="020B0604030504040204" pitchFamily="50" charset="-128"/>
              </a:rPr>
              <a:t>戦略「ハイブリッド・ワークフォース」</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b="1" dirty="0">
                <a:latin typeface="Meiryo UI" panose="020B0604030504040204" pitchFamily="50" charset="-128"/>
                <a:ea typeface="Meiryo UI" panose="020B0604030504040204" pitchFamily="50" charset="-128"/>
              </a:rPr>
              <a:t>AI</a:t>
            </a:r>
            <a:r>
              <a:rPr lang="ja-JP" altLang="en-US" sz="1200" b="1" dirty="0">
                <a:latin typeface="Meiryo UI" panose="020B0604030504040204" pitchFamily="50" charset="-128"/>
                <a:ea typeface="Meiryo UI" panose="020B0604030504040204" pitchFamily="50" charset="-128"/>
              </a:rPr>
              <a:t>の進化が「ハイブリッド・ワークフォース」という新しい労働力の形を生み出す（共同</a:t>
            </a:r>
            <a:r>
              <a:rPr lang="en-US" altLang="ja-JP" sz="1200" b="1" dirty="0">
                <a:latin typeface="Meiryo UI" panose="020B0604030504040204" pitchFamily="50" charset="-128"/>
                <a:ea typeface="Meiryo UI" panose="020B0604030504040204" pitchFamily="50" charset="-128"/>
              </a:rPr>
              <a:t>CIO Marco Argenti</a:t>
            </a:r>
            <a:r>
              <a:rPr lang="ja-JP" altLang="en-US" sz="1200" b="1" dirty="0">
                <a:latin typeface="Meiryo UI" panose="020B0604030504040204" pitchFamily="50" charset="-128"/>
                <a:ea typeface="Meiryo UI" panose="020B0604030504040204" pitchFamily="50" charset="-128"/>
              </a:rPr>
              <a:t>氏）</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を人間の能力を拡張する「デジタル従業員」として位置づけ、人と</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が協働する「ハイブリッド・ワークフォース」という新しい働き方</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この構想では、</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は単純なタスクを自動化するツールではなく、複雑なタスクを自律的に計画・実行する「エージェント</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」へと進化し、将来的には「デジタル従業員」として人間と協働するようになるとしている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latin typeface="Meiryo UI" panose="020B0604030504040204" pitchFamily="50" charset="-128"/>
                <a:ea typeface="Meiryo UI" panose="020B0604030504040204" pitchFamily="50" charset="-128"/>
                <a:hlinkClick r:id="rId5"/>
              </a:rPr>
              <a:t>https://www.goldmansachs.com/insights/articles/what-to-expect-from-ai-in-2025-hybrid-workers-robotics-expert-models</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endParaRPr lang="en-US" altLang="ja-JP" sz="1200" b="1" u="sng" dirty="0">
              <a:latin typeface="Meiryo UI" panose="020B0604030504040204" pitchFamily="50" charset="-128"/>
              <a:ea typeface="Meiryo UI" panose="020B0604030504040204" pitchFamily="50" charset="-128"/>
            </a:endParaRPr>
          </a:p>
          <a:p>
            <a:endParaRPr lang="en-US" altLang="ja-JP" sz="1200" b="1" u="sng" dirty="0">
              <a:latin typeface="Meiryo UI" panose="020B0604030504040204" pitchFamily="50" charset="-128"/>
              <a:ea typeface="Meiryo UI" panose="020B0604030504040204" pitchFamily="50" charset="-128"/>
            </a:endParaRPr>
          </a:p>
          <a:p>
            <a:endParaRPr lang="ja-JP" altLang="en-US" sz="1200" b="1" u="sng"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09960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FFD006C4-DF94-DFA8-7B14-A3A94F5F059A}"/>
              </a:ext>
            </a:extLst>
          </p:cNvPr>
          <p:cNvSpPr txBox="1">
            <a:spLocks/>
          </p:cNvSpPr>
          <p:nvPr/>
        </p:nvSpPr>
        <p:spPr>
          <a:xfrm>
            <a:off x="228598" y="635165"/>
            <a:ext cx="11776587" cy="1278830"/>
          </a:xfrm>
          <a:prstGeom prst="rect">
            <a:avLst/>
          </a:prstGeom>
          <a:ln>
            <a:solidFill>
              <a:schemeClr val="tx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アルゴリズム取引</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highlight>
                  <a:srgbClr val="FFFF00"/>
                </a:highlight>
                <a:latin typeface="Meiryo UI" panose="020B0604030504040204" pitchFamily="50" charset="-128"/>
                <a:ea typeface="Meiryo UI" panose="020B0604030504040204" pitchFamily="50" charset="-128"/>
              </a:rPr>
              <a:t>AI</a:t>
            </a:r>
            <a:r>
              <a:rPr lang="ja-JP" altLang="en-US" sz="1200" dirty="0">
                <a:highlight>
                  <a:srgbClr val="FFFF00"/>
                </a:highlight>
                <a:latin typeface="Meiryo UI" panose="020B0604030504040204" pitchFamily="50" charset="-128"/>
                <a:ea typeface="Meiryo UI" panose="020B0604030504040204" pitchFamily="50" charset="-128"/>
              </a:rPr>
              <a:t>を活用したトレーディングデスクは、人間のみのデスクと比較して日中取引の収益性が</a:t>
            </a:r>
            <a:r>
              <a:rPr lang="en-US" altLang="ja-JP" sz="1200" dirty="0">
                <a:highlight>
                  <a:srgbClr val="FFFF00"/>
                </a:highlight>
                <a:latin typeface="Meiryo UI" panose="020B0604030504040204" pitchFamily="50" charset="-128"/>
                <a:ea typeface="Meiryo UI" panose="020B0604030504040204" pitchFamily="50" charset="-128"/>
              </a:rPr>
              <a:t>27%</a:t>
            </a:r>
            <a:r>
              <a:rPr lang="ja-JP" altLang="en-US" sz="1200" dirty="0">
                <a:highlight>
                  <a:srgbClr val="FFFF00"/>
                </a:highlight>
                <a:latin typeface="Meiryo UI" panose="020B0604030504040204" pitchFamily="50" charset="-128"/>
                <a:ea typeface="Meiryo UI" panose="020B0604030504040204" pitchFamily="50" charset="-128"/>
              </a:rPr>
              <a:t>向上。取引シグナルの実行時間が</a:t>
            </a:r>
            <a:r>
              <a:rPr lang="en-US" altLang="ja-JP" sz="1200" dirty="0">
                <a:highlight>
                  <a:srgbClr val="FFFF00"/>
                </a:highlight>
                <a:latin typeface="Meiryo UI" panose="020B0604030504040204" pitchFamily="50" charset="-128"/>
                <a:ea typeface="Meiryo UI" panose="020B0604030504040204" pitchFamily="50" charset="-128"/>
              </a:rPr>
              <a:t>120</a:t>
            </a:r>
            <a:r>
              <a:rPr lang="ja-JP" altLang="en-US" sz="1200" dirty="0">
                <a:highlight>
                  <a:srgbClr val="FFFF00"/>
                </a:highlight>
                <a:latin typeface="Meiryo UI" panose="020B0604030504040204" pitchFamily="50" charset="-128"/>
                <a:ea typeface="Meiryo UI" panose="020B0604030504040204" pitchFamily="50" charset="-128"/>
              </a:rPr>
              <a:t>ミリ秒から</a:t>
            </a:r>
            <a:r>
              <a:rPr lang="en-US" altLang="ja-JP" sz="1200" dirty="0">
                <a:highlight>
                  <a:srgbClr val="FFFF00"/>
                </a:highlight>
                <a:latin typeface="Meiryo UI" panose="020B0604030504040204" pitchFamily="50" charset="-128"/>
                <a:ea typeface="Meiryo UI" panose="020B0604030504040204" pitchFamily="50" charset="-128"/>
              </a:rPr>
              <a:t>14</a:t>
            </a:r>
            <a:r>
              <a:rPr lang="ja-JP" altLang="en-US" sz="1200" dirty="0">
                <a:highlight>
                  <a:srgbClr val="FFFF00"/>
                </a:highlight>
                <a:latin typeface="Meiryo UI" panose="020B0604030504040204" pitchFamily="50" charset="-128"/>
                <a:ea typeface="Meiryo UI" panose="020B0604030504040204" pitchFamily="50" charset="-128"/>
              </a:rPr>
              <a:t>ミリ秒に短縮。これにより</a:t>
            </a:r>
            <a:r>
              <a:rPr lang="en-US" altLang="ja-JP" sz="1200" dirty="0">
                <a:highlight>
                  <a:srgbClr val="FFFF00"/>
                </a:highlight>
                <a:latin typeface="Meiryo UI" panose="020B0604030504040204" pitchFamily="50" charset="-128"/>
                <a:ea typeface="Meiryo UI" panose="020B0604030504040204" pitchFamily="50" charset="-128"/>
              </a:rPr>
              <a:t>FX</a:t>
            </a:r>
            <a:r>
              <a:rPr lang="ja-JP" altLang="en-US" sz="1200" dirty="0">
                <a:highlight>
                  <a:srgbClr val="FFFF00"/>
                </a:highlight>
                <a:latin typeface="Meiryo UI" panose="020B0604030504040204" pitchFamily="50" charset="-128"/>
                <a:ea typeface="Meiryo UI" panose="020B0604030504040204" pitchFamily="50" charset="-128"/>
              </a:rPr>
              <a:t>市場と債券市場において、ミスプライシングのアービトラージをより効率的にできるようになった。モデルはボラティリティ急上昇時に動的に再調整されるため、他の</a:t>
            </a:r>
            <a:r>
              <a:rPr lang="en-US" altLang="ja-JP" sz="1200" dirty="0">
                <a:highlight>
                  <a:srgbClr val="FFFF00"/>
                </a:highlight>
                <a:latin typeface="Meiryo UI" panose="020B0604030504040204" pitchFamily="50" charset="-128"/>
                <a:ea typeface="Meiryo UI" panose="020B0604030504040204" pitchFamily="50" charset="-128"/>
              </a:rPr>
              <a:t>AI</a:t>
            </a:r>
            <a:r>
              <a:rPr lang="ja-JP" altLang="en-US" sz="1200" dirty="0">
                <a:highlight>
                  <a:srgbClr val="FFFF00"/>
                </a:highlight>
                <a:latin typeface="Meiryo UI" panose="020B0604030504040204" pitchFamily="50" charset="-128"/>
                <a:ea typeface="Meiryo UI" panose="020B0604030504040204" pitchFamily="50" charset="-128"/>
              </a:rPr>
              <a:t>システムが低迷した四半期においても、</a:t>
            </a:r>
            <a:r>
              <a:rPr lang="en-US" altLang="ja-JP" sz="1200" dirty="0">
                <a:highlight>
                  <a:srgbClr val="FFFF00"/>
                </a:highlight>
                <a:latin typeface="Meiryo UI" panose="020B0604030504040204" pitchFamily="50" charset="-128"/>
                <a:ea typeface="Meiryo UI" panose="020B0604030504040204" pitchFamily="50" charset="-128"/>
              </a:rPr>
              <a:t>8</a:t>
            </a:r>
            <a:r>
              <a:rPr lang="ja-JP" altLang="en-US" sz="1200" dirty="0">
                <a:highlight>
                  <a:srgbClr val="FFFF00"/>
                </a:highlight>
                <a:latin typeface="Meiryo UI" panose="020B0604030504040204" pitchFamily="50" charset="-128"/>
                <a:ea typeface="Meiryo UI" panose="020B0604030504040204" pitchFamily="50" charset="-128"/>
              </a:rPr>
              <a:t>～</a:t>
            </a:r>
            <a:r>
              <a:rPr lang="en-US" altLang="ja-JP" sz="1200" dirty="0">
                <a:highlight>
                  <a:srgbClr val="FFFF00"/>
                </a:highlight>
                <a:latin typeface="Meiryo UI" panose="020B0604030504040204" pitchFamily="50" charset="-128"/>
                <a:ea typeface="Meiryo UI" panose="020B0604030504040204" pitchFamily="50" charset="-128"/>
              </a:rPr>
              <a:t>11%</a:t>
            </a:r>
            <a:r>
              <a:rPr lang="ja-JP" altLang="en-US" sz="1200" dirty="0">
                <a:highlight>
                  <a:srgbClr val="FFFF00"/>
                </a:highlight>
                <a:latin typeface="Meiryo UI" panose="020B0604030504040204" pitchFamily="50" charset="-128"/>
                <a:ea typeface="Meiryo UI" panose="020B0604030504040204" pitchFamily="50" charset="-128"/>
              </a:rPr>
              <a:t>上回ることができた。</a:t>
            </a:r>
            <a:endParaRPr lang="en-US" altLang="ja-JP" sz="1200" dirty="0">
              <a:highlight>
                <a:srgbClr val="FFFF00"/>
              </a:highlight>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dirty="0">
                <a:highlight>
                  <a:srgbClr val="FFFF00"/>
                </a:highlight>
                <a:latin typeface="Meiryo UI" panose="020B0604030504040204" pitchFamily="50" charset="-128"/>
                <a:ea typeface="Meiryo UI" panose="020B0604030504040204" pitchFamily="50" charset="-128"/>
                <a:hlinkClick r:id="rId2"/>
              </a:rPr>
              <a:t>https://digitaldefynd.com/IQ/goldman-sachs-using-ai-case-study/</a:t>
            </a:r>
            <a:endParaRPr lang="en-US" altLang="ja-JP" sz="1200" dirty="0">
              <a:highlight>
                <a:srgbClr val="FFFF00"/>
              </a:highlight>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ja-JP" altLang="en-US" sz="1200" dirty="0">
              <a:latin typeface="Meiryo UI" panose="020B0604030504040204" pitchFamily="50" charset="-128"/>
              <a:ea typeface="Meiryo UI" panose="020B0604030504040204" pitchFamily="50" charset="-128"/>
            </a:endParaRPr>
          </a:p>
        </p:txBody>
      </p:sp>
      <p:sp>
        <p:nvSpPr>
          <p:cNvPr id="3" name="タイトル 1">
            <a:extLst>
              <a:ext uri="{FF2B5EF4-FFF2-40B4-BE49-F238E27FC236}">
                <a16:creationId xmlns:a16="http://schemas.microsoft.com/office/drawing/2014/main" id="{17A9CA01-9C91-864F-2460-E55E22A0716F}"/>
              </a:ext>
            </a:extLst>
          </p:cNvPr>
          <p:cNvSpPr txBox="1">
            <a:spLocks/>
          </p:cNvSpPr>
          <p:nvPr/>
        </p:nvSpPr>
        <p:spPr>
          <a:xfrm>
            <a:off x="186815" y="109487"/>
            <a:ext cx="11680721" cy="647598"/>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b="1">
                <a:latin typeface="Meiryo UI" panose="020B0604030504040204" pitchFamily="50" charset="-128"/>
                <a:ea typeface="Meiryo UI" panose="020B0604030504040204" pitchFamily="50" charset="-128"/>
              </a:rPr>
              <a:t>【</a:t>
            </a:r>
            <a:r>
              <a:rPr lang="ja-JP" altLang="en-US" sz="1600" b="1">
                <a:latin typeface="Meiryo UI" panose="020B0604030504040204" pitchFamily="50" charset="-128"/>
                <a:ea typeface="Meiryo UI" panose="020B0604030504040204" pitchFamily="50" charset="-128"/>
              </a:rPr>
              <a:t>リサーチ</a:t>
            </a:r>
            <a:r>
              <a:rPr lang="en-US" altLang="ja-JP" sz="1600" b="1">
                <a:latin typeface="Meiryo UI" panose="020B0604030504040204" pitchFamily="50" charset="-128"/>
                <a:ea typeface="Meiryo UI" panose="020B0604030504040204" pitchFamily="50" charset="-128"/>
              </a:rPr>
              <a:t>】Goldman Sachs</a:t>
            </a:r>
            <a:r>
              <a:rPr lang="ja-JP" altLang="en-US" sz="1600" b="1">
                <a:latin typeface="Meiryo UI" panose="020B0604030504040204" pitchFamily="50" charset="-128"/>
                <a:ea typeface="Meiryo UI" panose="020B0604030504040204" pitchFamily="50" charset="-128"/>
              </a:rPr>
              <a:t>のその他の取り組み</a:t>
            </a:r>
            <a:endParaRPr lang="ja-JP" altLang="en-US" sz="1600" b="1"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306E4C15-AE6D-68C5-7E2E-71C4EEF70C5B}"/>
              </a:ext>
            </a:extLst>
          </p:cNvPr>
          <p:cNvSpPr txBox="1">
            <a:spLocks/>
          </p:cNvSpPr>
          <p:nvPr/>
        </p:nvSpPr>
        <p:spPr>
          <a:xfrm>
            <a:off x="228597" y="2147322"/>
            <a:ext cx="11776587" cy="168883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マネーロンダリング対策</a:t>
            </a:r>
            <a:r>
              <a:rPr lang="en-US" altLang="ja-JP" sz="1200" b="1" u="sng" dirty="0">
                <a:latin typeface="Meiryo UI" panose="020B0604030504040204" pitchFamily="50" charset="-128"/>
                <a:ea typeface="Meiryo UI" panose="020B0604030504040204" pitchFamily="50" charset="-128"/>
              </a:rPr>
              <a:t>(AML)</a:t>
            </a:r>
          </a:p>
          <a:p>
            <a:r>
              <a:rPr lang="ja-JP" altLang="en-US" sz="1200" dirty="0">
                <a:highlight>
                  <a:srgbClr val="FFFF00"/>
                </a:highlight>
                <a:latin typeface="Meiryo UI" panose="020B0604030504040204" pitchFamily="50" charset="-128"/>
                <a:ea typeface="Meiryo UI" panose="020B0604030504040204" pitchFamily="50" charset="-128"/>
              </a:rPr>
              <a:t>取引フローや顧客行動データから動的なリスクスコアリングを行う機械学習モデルが不正取引を検知</a:t>
            </a:r>
            <a:endParaRPr lang="en-US" altLang="ja-JP" sz="1200" dirty="0">
              <a:highlight>
                <a:srgbClr val="FFFF00"/>
              </a:highlight>
              <a:latin typeface="Meiryo UI" panose="020B0604030504040204" pitchFamily="50" charset="-128"/>
              <a:ea typeface="Meiryo UI" panose="020B0604030504040204" pitchFamily="50" charset="-128"/>
            </a:endParaRPr>
          </a:p>
          <a:p>
            <a:r>
              <a:rPr lang="en-US" altLang="ja-JP" sz="1200" dirty="0">
                <a:highlight>
                  <a:srgbClr val="FFFF00"/>
                </a:highlight>
                <a:latin typeface="Meiryo UI" panose="020B0604030504040204" pitchFamily="50" charset="-128"/>
                <a:ea typeface="Meiryo UI" panose="020B0604030504040204" pitchFamily="50" charset="-128"/>
              </a:rPr>
              <a:t>2024</a:t>
            </a:r>
            <a:r>
              <a:rPr lang="ja-JP" altLang="en-US" sz="1200" dirty="0">
                <a:highlight>
                  <a:srgbClr val="FFFF00"/>
                </a:highlight>
                <a:latin typeface="Meiryo UI" panose="020B0604030504040204" pitchFamily="50" charset="-128"/>
                <a:ea typeface="Meiryo UI" panose="020B0604030504040204" pitchFamily="50" charset="-128"/>
              </a:rPr>
              <a:t>年に</a:t>
            </a:r>
            <a:r>
              <a:rPr lang="en-US" altLang="ja-JP" sz="1200" dirty="0">
                <a:highlight>
                  <a:srgbClr val="FFFF00"/>
                </a:highlight>
                <a:latin typeface="Meiryo UI" panose="020B0604030504040204" pitchFamily="50" charset="-128"/>
                <a:ea typeface="Meiryo UI" panose="020B0604030504040204" pitchFamily="50" charset="-128"/>
              </a:rPr>
              <a:t>3</a:t>
            </a:r>
            <a:r>
              <a:rPr lang="ja-JP" altLang="en-US" sz="1200" dirty="0">
                <a:highlight>
                  <a:srgbClr val="FFFF00"/>
                </a:highlight>
                <a:latin typeface="Meiryo UI" panose="020B0604030504040204" pitchFamily="50" charset="-128"/>
                <a:ea typeface="Meiryo UI" panose="020B0604030504040204" pitchFamily="50" charset="-128"/>
              </a:rPr>
              <a:t>億</a:t>
            </a:r>
            <a:r>
              <a:rPr lang="en-US" altLang="ja-JP" sz="1200" dirty="0">
                <a:highlight>
                  <a:srgbClr val="FFFF00"/>
                </a:highlight>
                <a:latin typeface="Meiryo UI" panose="020B0604030504040204" pitchFamily="50" charset="-128"/>
                <a:ea typeface="Meiryo UI" panose="020B0604030504040204" pitchFamily="50" charset="-128"/>
              </a:rPr>
              <a:t>2,000</a:t>
            </a:r>
            <a:r>
              <a:rPr lang="ja-JP" altLang="en-US" sz="1200" dirty="0">
                <a:highlight>
                  <a:srgbClr val="FFFF00"/>
                </a:highlight>
                <a:latin typeface="Meiryo UI" panose="020B0604030504040204" pitchFamily="50" charset="-128"/>
                <a:ea typeface="Meiryo UI" panose="020B0604030504040204" pitchFamily="50" charset="-128"/>
              </a:rPr>
              <a:t>万件の取引を分析し、</a:t>
            </a:r>
            <a:r>
              <a:rPr lang="en-US" altLang="ja-JP" sz="1200" dirty="0">
                <a:highlight>
                  <a:srgbClr val="FFFF00"/>
                </a:highlight>
                <a:latin typeface="Meiryo UI" panose="020B0604030504040204" pitchFamily="50" charset="-128"/>
                <a:ea typeface="Meiryo UI" panose="020B0604030504040204" pitchFamily="50" charset="-128"/>
              </a:rPr>
              <a:t>1.7</a:t>
            </a:r>
            <a:r>
              <a:rPr lang="ja-JP" altLang="en-US" sz="1200" dirty="0">
                <a:highlight>
                  <a:srgbClr val="FFFF00"/>
                </a:highlight>
                <a:latin typeface="Meiryo UI" panose="020B0604030504040204" pitchFamily="50" charset="-128"/>
                <a:ea typeface="Meiryo UI" panose="020B0604030504040204" pitchFamily="50" charset="-128"/>
              </a:rPr>
              <a:t>億ドル規模の</a:t>
            </a:r>
            <a:r>
              <a:rPr lang="en-US" altLang="ja-JP" sz="1200" dirty="0">
                <a:highlight>
                  <a:srgbClr val="FFFF00"/>
                </a:highlight>
                <a:latin typeface="Meiryo UI" panose="020B0604030504040204" pitchFamily="50" charset="-128"/>
                <a:ea typeface="Meiryo UI" panose="020B0604030504040204" pitchFamily="50" charset="-128"/>
              </a:rPr>
              <a:t>23</a:t>
            </a:r>
            <a:r>
              <a:rPr lang="ja-JP" altLang="en-US" sz="1200" dirty="0">
                <a:highlight>
                  <a:srgbClr val="FFFF00"/>
                </a:highlight>
                <a:latin typeface="Meiryo UI" panose="020B0604030504040204" pitchFamily="50" charset="-128"/>
                <a:ea typeface="Meiryo UI" panose="020B0604030504040204" pitchFamily="50" charset="-128"/>
              </a:rPr>
              <a:t>件の越境</a:t>
            </a:r>
            <a:r>
              <a:rPr lang="en-US" altLang="ja-JP" sz="1200" dirty="0">
                <a:highlight>
                  <a:srgbClr val="FFFF00"/>
                </a:highlight>
                <a:latin typeface="Meiryo UI" panose="020B0604030504040204" pitchFamily="50" charset="-128"/>
                <a:ea typeface="Meiryo UI" panose="020B0604030504040204" pitchFamily="50" charset="-128"/>
              </a:rPr>
              <a:t>EC</a:t>
            </a:r>
            <a:r>
              <a:rPr lang="ja-JP" altLang="en-US" sz="1200" dirty="0">
                <a:highlight>
                  <a:srgbClr val="FFFF00"/>
                </a:highlight>
                <a:latin typeface="Meiryo UI" panose="020B0604030504040204" pitchFamily="50" charset="-128"/>
                <a:ea typeface="Meiryo UI" panose="020B0604030504040204" pitchFamily="50" charset="-128"/>
              </a:rPr>
              <a:t>取引の不正を突き止めた</a:t>
            </a:r>
            <a:endParaRPr lang="en-US" altLang="ja-JP" sz="1200" dirty="0">
              <a:highlight>
                <a:srgbClr val="FFFF00"/>
              </a:highlight>
              <a:latin typeface="Meiryo UI" panose="020B0604030504040204" pitchFamily="50" charset="-128"/>
              <a:ea typeface="Meiryo UI" panose="020B0604030504040204" pitchFamily="50" charset="-128"/>
            </a:endParaRPr>
          </a:p>
          <a:p>
            <a:r>
              <a:rPr lang="ja-JP" altLang="en-US" sz="1200" dirty="0">
                <a:highlight>
                  <a:srgbClr val="FFFF00"/>
                </a:highlight>
                <a:latin typeface="Meiryo UI" panose="020B0604030504040204" pitchFamily="50" charset="-128"/>
                <a:ea typeface="Meiryo UI" panose="020B0604030504040204" pitchFamily="50" charset="-128"/>
              </a:rPr>
              <a:t>これらの取り組みの結果、</a:t>
            </a:r>
            <a:r>
              <a:rPr lang="en-US" altLang="ja-JP" sz="1200" dirty="0">
                <a:highlight>
                  <a:srgbClr val="FFFF00"/>
                </a:highlight>
                <a:latin typeface="Meiryo UI" panose="020B0604030504040204" pitchFamily="50" charset="-128"/>
                <a:ea typeface="Meiryo UI" panose="020B0604030504040204" pitchFamily="50" charset="-128"/>
              </a:rPr>
              <a:t>2023</a:t>
            </a:r>
            <a:r>
              <a:rPr lang="ja-JP" altLang="en-US" sz="1200" dirty="0">
                <a:highlight>
                  <a:srgbClr val="FFFF00"/>
                </a:highlight>
                <a:latin typeface="Meiryo UI" panose="020B0604030504040204" pitchFamily="50" charset="-128"/>
                <a:ea typeface="Meiryo UI" panose="020B0604030504040204" pitchFamily="50" charset="-128"/>
              </a:rPr>
              <a:t>年にはコンプライアンス関連コストが</a:t>
            </a:r>
            <a:r>
              <a:rPr lang="en-US" altLang="ja-JP" sz="1200" dirty="0">
                <a:highlight>
                  <a:srgbClr val="FFFF00"/>
                </a:highlight>
                <a:latin typeface="Meiryo UI" panose="020B0604030504040204" pitchFamily="50" charset="-128"/>
                <a:ea typeface="Meiryo UI" panose="020B0604030504040204" pitchFamily="50" charset="-128"/>
              </a:rPr>
              <a:t>28%</a:t>
            </a:r>
            <a:r>
              <a:rPr lang="ja-JP" altLang="en-US" sz="1200" dirty="0">
                <a:highlight>
                  <a:srgbClr val="FFFF00"/>
                </a:highlight>
                <a:latin typeface="Meiryo UI" panose="020B0604030504040204" pitchFamily="50" charset="-128"/>
                <a:ea typeface="Meiryo UI" panose="020B0604030504040204" pitchFamily="50" charset="-128"/>
              </a:rPr>
              <a:t>削減され、違反による罰金も</a:t>
            </a:r>
            <a:r>
              <a:rPr lang="en-US" altLang="ja-JP" sz="1200" dirty="0">
                <a:highlight>
                  <a:srgbClr val="FFFF00"/>
                </a:highlight>
                <a:latin typeface="Meiryo UI" panose="020B0604030504040204" pitchFamily="50" charset="-128"/>
                <a:ea typeface="Meiryo UI" panose="020B0604030504040204" pitchFamily="50" charset="-128"/>
              </a:rPr>
              <a:t>65%</a:t>
            </a:r>
            <a:r>
              <a:rPr lang="ja-JP" altLang="en-US" sz="1200" dirty="0">
                <a:highlight>
                  <a:srgbClr val="FFFF00"/>
                </a:highlight>
                <a:latin typeface="Meiryo UI" panose="020B0604030504040204" pitchFamily="50" charset="-128"/>
                <a:ea typeface="Meiryo UI" panose="020B0604030504040204" pitchFamily="50" charset="-128"/>
              </a:rPr>
              <a:t>減少したと報告されている</a:t>
            </a:r>
            <a:endParaRPr lang="en-US" altLang="ja-JP" sz="1200" dirty="0">
              <a:highlight>
                <a:srgbClr val="FFFF00"/>
              </a:highlight>
              <a:latin typeface="Meiryo UI" panose="020B0604030504040204" pitchFamily="50" charset="-128"/>
              <a:ea typeface="Meiryo UI" panose="020B0604030504040204" pitchFamily="50" charset="-128"/>
            </a:endParaRPr>
          </a:p>
          <a:p>
            <a:pPr marL="0" indent="0">
              <a:buNone/>
            </a:pPr>
            <a:r>
              <a:rPr lang="en-US" altLang="ja-JP" sz="1200" dirty="0">
                <a:highlight>
                  <a:srgbClr val="FFFF00"/>
                </a:highlight>
                <a:latin typeface="Meiryo UI" panose="020B0604030504040204" pitchFamily="50" charset="-128"/>
                <a:ea typeface="Meiryo UI" panose="020B0604030504040204" pitchFamily="50" charset="-128"/>
                <a:hlinkClick r:id="rId3"/>
              </a:rPr>
              <a:t>https://www.ewadirect.com/proceedings/aemps/article/view/23748#:~:text=processes%2C%20developing%20intelligent%20regulatory%20document,as%20summarized%20in%20Table%201</a:t>
            </a:r>
            <a:endParaRPr lang="en-US" altLang="ja-JP" sz="1200" dirty="0">
              <a:highlight>
                <a:srgbClr val="FFFF00"/>
              </a:highlight>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07174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1408C-470D-1C9E-AE7E-3B018D7860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B9B020-2F6F-93CC-ACB3-CA0773A5ED6E}"/>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に関する組織</a:t>
            </a:r>
          </a:p>
        </p:txBody>
      </p:sp>
      <p:sp>
        <p:nvSpPr>
          <p:cNvPr id="3" name="コンテンツ プレースホルダー 2">
            <a:extLst>
              <a:ext uri="{FF2B5EF4-FFF2-40B4-BE49-F238E27FC236}">
                <a16:creationId xmlns:a16="http://schemas.microsoft.com/office/drawing/2014/main" id="{D345AD6C-DC41-EC92-66B3-8C206F88AC9B}"/>
              </a:ext>
            </a:extLst>
          </p:cNvPr>
          <p:cNvSpPr>
            <a:spLocks noGrp="1"/>
          </p:cNvSpPr>
          <p:nvPr>
            <p:ph idx="1"/>
          </p:nvPr>
        </p:nvSpPr>
        <p:spPr>
          <a:xfrm>
            <a:off x="186813" y="1208314"/>
            <a:ext cx="11796250" cy="5284068"/>
          </a:xfrm>
          <a:ln>
            <a:solidFill>
              <a:schemeClr val="tx1"/>
            </a:solidFill>
          </a:ln>
        </p:spPr>
        <p:txBody>
          <a:bodyPr>
            <a:normAutofit/>
          </a:bodyPr>
          <a:lstStyle/>
          <a:p>
            <a:pPr marL="0" indent="0">
              <a:buNone/>
            </a:pPr>
            <a:r>
              <a:rPr kumimoji="1" lang="en-US" altLang="ja-JP" sz="1200" b="1" dirty="0">
                <a:latin typeface="Meiryo UI" panose="020B0604030504040204" pitchFamily="50" charset="-128"/>
                <a:ea typeface="Meiryo UI" panose="020B0604030504040204" pitchFamily="50" charset="-128"/>
              </a:rPr>
              <a:t>AI</a:t>
            </a:r>
            <a:r>
              <a:rPr kumimoji="1" lang="ja-JP" altLang="en-US" sz="1200" b="1" dirty="0">
                <a:latin typeface="Meiryo UI" panose="020B0604030504040204" pitchFamily="50" charset="-128"/>
                <a:ea typeface="Meiryo UI" panose="020B0604030504040204" pitchFamily="50" charset="-128"/>
              </a:rPr>
              <a:t>関連業務に従事しているのは</a:t>
            </a:r>
            <a:r>
              <a:rPr kumimoji="1" lang="en-US" altLang="ja-JP" sz="1200" b="1" dirty="0">
                <a:latin typeface="Meiryo UI" panose="020B0604030504040204" pitchFamily="50" charset="-128"/>
                <a:ea typeface="Meiryo UI" panose="020B0604030504040204" pitchFamily="50" charset="-128"/>
              </a:rPr>
              <a:t>2000</a:t>
            </a:r>
            <a:r>
              <a:rPr kumimoji="1" lang="ja-JP" altLang="en-US" sz="1200" b="1" dirty="0">
                <a:latin typeface="Meiryo UI" panose="020B0604030504040204" pitchFamily="50" charset="-128"/>
                <a:ea typeface="Meiryo UI" panose="020B0604030504040204" pitchFamily="50" charset="-128"/>
              </a:rPr>
              <a:t>人・・・・・（</a:t>
            </a:r>
            <a:r>
              <a:rPr kumimoji="1" lang="en-US" altLang="ja-JP" sz="1200" b="1" dirty="0">
                <a:latin typeface="Meiryo UI" panose="020B0604030504040204" pitchFamily="50" charset="-128"/>
                <a:ea typeface="Meiryo UI" panose="020B0604030504040204" pitchFamily="50" charset="-128"/>
              </a:rPr>
              <a:t>Jamie Dimon</a:t>
            </a:r>
            <a:r>
              <a:rPr kumimoji="1" lang="ja-JP" altLang="en-US" sz="1200" b="1" dirty="0">
                <a:latin typeface="Meiryo UI" panose="020B0604030504040204" pitchFamily="50" charset="-128"/>
                <a:ea typeface="Meiryo UI" panose="020B0604030504040204" pitchFamily="50" charset="-128"/>
              </a:rPr>
              <a:t>のインタビュー）</a:t>
            </a:r>
            <a:endParaRPr kumimoji="1" lang="en-US" altLang="ja-JP" sz="1200" b="1" dirty="0">
              <a:latin typeface="Meiryo UI" panose="020B0604030504040204" pitchFamily="50" charset="-128"/>
              <a:ea typeface="Meiryo UI" panose="020B0604030504040204" pitchFamily="50" charset="-128"/>
            </a:endParaRPr>
          </a:p>
          <a:p>
            <a:endParaRPr lang="en-US" altLang="ja-JP" sz="1200" b="1" u="sng" dirty="0">
              <a:latin typeface="Meiryo UI" panose="020B0604030504040204" pitchFamily="50" charset="-128"/>
              <a:ea typeface="Meiryo UI" panose="020B0604030504040204" pitchFamily="50" charset="-128"/>
            </a:endParaRPr>
          </a:p>
          <a:p>
            <a:r>
              <a:rPr kumimoji="1" lang="en-US" altLang="ja-JP" sz="1200" b="1" u="sng" dirty="0">
                <a:latin typeface="Meiryo UI" panose="020B0604030504040204" pitchFamily="50" charset="-128"/>
                <a:ea typeface="Meiryo UI" panose="020B0604030504040204" pitchFamily="50" charset="-128"/>
              </a:rPr>
              <a:t>Machin Learning Center of Excellence</a:t>
            </a:r>
            <a:r>
              <a:rPr kumimoji="1" lang="ja-JP" altLang="en-US" sz="1200" b="1" u="sng" dirty="0">
                <a:latin typeface="Meiryo UI" panose="020B0604030504040204" pitchFamily="50" charset="-128"/>
                <a:ea typeface="Meiryo UI" panose="020B0604030504040204" pitchFamily="50" charset="-128"/>
              </a:rPr>
              <a:t>（</a:t>
            </a:r>
            <a:r>
              <a:rPr kumimoji="1" lang="en-US" altLang="ja-JP" sz="1200" b="1" u="sng" dirty="0">
                <a:latin typeface="Meiryo UI" panose="020B0604030504040204" pitchFamily="50" charset="-128"/>
                <a:ea typeface="Meiryo UI" panose="020B0604030504040204" pitchFamily="50" charset="-128"/>
              </a:rPr>
              <a:t>MLCOM</a:t>
            </a:r>
            <a:r>
              <a:rPr kumimoji="1" lang="ja-JP" altLang="en-US" sz="1200" b="1" u="sng" dirty="0">
                <a:latin typeface="Meiryo UI" panose="020B0604030504040204" pitchFamily="50" charset="-128"/>
                <a:ea typeface="Meiryo UI" panose="020B0604030504040204" pitchFamily="50" charset="-128"/>
              </a:rPr>
              <a:t>）</a:t>
            </a:r>
            <a:endParaRPr kumimoji="1" lang="en-US" altLang="ja-JP" sz="1200" b="1" u="sng"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全社横断の機械学習専門組織。</a:t>
            </a:r>
            <a:r>
              <a:rPr lang="en-US" altLang="ja-JP" sz="1200" dirty="0">
                <a:latin typeface="Meiryo UI" panose="020B0604030504040204" pitchFamily="50" charset="-128"/>
                <a:ea typeface="Meiryo UI" panose="020B0604030504040204" pitchFamily="50" charset="-128"/>
              </a:rPr>
              <a:t>200</a:t>
            </a:r>
            <a:r>
              <a:rPr lang="ja-JP" altLang="en-US" sz="1200" dirty="0">
                <a:latin typeface="Meiryo UI" panose="020B0604030504040204" pitchFamily="50" charset="-128"/>
                <a:ea typeface="Meiryo UI" panose="020B0604030504040204" pitchFamily="50" charset="-128"/>
              </a:rPr>
              <a:t>名を超える機械学習エンジニア・・・</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自然言語処理、大規模言語モデルや時系列分析・・・・・</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ソリューションを構築。世界</a:t>
            </a:r>
            <a:r>
              <a:rPr lang="en-US" altLang="ja-JP" sz="1200" dirty="0">
                <a:latin typeface="Meiryo UI" panose="020B0604030504040204" pitchFamily="50" charset="-128"/>
                <a:ea typeface="Meiryo UI" panose="020B0604030504040204" pitchFamily="50" charset="-128"/>
              </a:rPr>
              <a:t>3</a:t>
            </a:r>
            <a:r>
              <a:rPr lang="ja-JP" altLang="en-US" sz="1200" dirty="0">
                <a:latin typeface="Meiryo UI" panose="020B0604030504040204" pitchFamily="50" charset="-128"/>
                <a:ea typeface="Meiryo UI" panose="020B0604030504040204" pitchFamily="50" charset="-128"/>
              </a:rPr>
              <a:t>大陸、</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都市以上に拠点を展開。</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https://www.jpmorgan.com</a:t>
            </a:r>
            <a:r>
              <a:rPr lang="ja-JP" altLang="en-US" sz="1200" dirty="0">
                <a:latin typeface="Meiryo UI" panose="020B0604030504040204" pitchFamily="50" charset="-128"/>
                <a:ea typeface="Meiryo UI" panose="020B0604030504040204" pitchFamily="50" charset="-128"/>
              </a:rPr>
              <a:t>・・・・</a:t>
            </a:r>
            <a:endParaRPr lang="en-US" altLang="ja-JP" sz="1200" dirty="0">
              <a:latin typeface="Meiryo UI" panose="020B0604030504040204" pitchFamily="50" charset="-128"/>
              <a:ea typeface="Meiryo UI" panose="020B0604030504040204" pitchFamily="50" charset="-128"/>
            </a:endParaRPr>
          </a:p>
          <a:p>
            <a:pPr marL="0" indent="0">
              <a:buNone/>
            </a:pPr>
            <a:endParaRPr kumimoji="1" lang="en-US" altLang="ja-JP" sz="1200" dirty="0">
              <a:latin typeface="Meiryo UI" panose="020B0604030504040204" pitchFamily="50" charset="-128"/>
              <a:ea typeface="Meiryo UI" panose="020B0604030504040204" pitchFamily="50" charset="-128"/>
            </a:endParaRPr>
          </a:p>
          <a:p>
            <a:r>
              <a:rPr kumimoji="1" lang="en-US" altLang="ja-JP" sz="1200" b="1" u="sng" dirty="0">
                <a:latin typeface="Meiryo UI" panose="020B0604030504040204" pitchFamily="50" charset="-128"/>
                <a:ea typeface="Meiryo UI" panose="020B0604030504040204" pitchFamily="50" charset="-128"/>
              </a:rPr>
              <a:t>Artificial</a:t>
            </a:r>
            <a:r>
              <a:rPr kumimoji="1" lang="ja-JP" altLang="en-US" sz="1200" b="1" u="sng" dirty="0">
                <a:latin typeface="Meiryo UI" panose="020B0604030504040204" pitchFamily="50" charset="-128"/>
                <a:ea typeface="Meiryo UI" panose="020B0604030504040204" pitchFamily="50" charset="-128"/>
              </a:rPr>
              <a:t> </a:t>
            </a:r>
            <a:r>
              <a:rPr kumimoji="1" lang="en-US" altLang="ja-JP" sz="1200" b="1" u="sng" dirty="0">
                <a:latin typeface="Meiryo UI" panose="020B0604030504040204" pitchFamily="50" charset="-128"/>
                <a:ea typeface="Meiryo UI" panose="020B0604030504040204" pitchFamily="50" charset="-128"/>
              </a:rPr>
              <a:t>Intelligence</a:t>
            </a:r>
            <a:r>
              <a:rPr kumimoji="1" lang="ja-JP" altLang="en-US" sz="1200" b="1" u="sng" dirty="0">
                <a:latin typeface="Meiryo UI" panose="020B0604030504040204" pitchFamily="50" charset="-128"/>
                <a:ea typeface="Meiryo UI" panose="020B0604030504040204" pitchFamily="50" charset="-128"/>
              </a:rPr>
              <a:t> </a:t>
            </a:r>
            <a:r>
              <a:rPr kumimoji="1" lang="en-US" altLang="ja-JP" sz="1200" b="1" u="sng" dirty="0">
                <a:latin typeface="Meiryo UI" panose="020B0604030504040204" pitchFamily="50" charset="-128"/>
                <a:ea typeface="Meiryo UI" panose="020B0604030504040204" pitchFamily="50" charset="-128"/>
              </a:rPr>
              <a:t>Research</a:t>
            </a:r>
            <a:r>
              <a:rPr kumimoji="1" lang="ja-JP" altLang="en-US" sz="1200" b="1" u="sng" dirty="0">
                <a:latin typeface="Meiryo UI" panose="020B0604030504040204" pitchFamily="50" charset="-128"/>
                <a:ea typeface="Meiryo UI" panose="020B0604030504040204" pitchFamily="50" charset="-128"/>
              </a:rPr>
              <a:t>（</a:t>
            </a:r>
            <a:r>
              <a:rPr kumimoji="1" lang="en-US" altLang="ja-JP" sz="1200" b="1" u="sng" dirty="0">
                <a:latin typeface="Meiryo UI" panose="020B0604030504040204" pitchFamily="50" charset="-128"/>
                <a:ea typeface="Meiryo UI" panose="020B0604030504040204" pitchFamily="50" charset="-128"/>
              </a:rPr>
              <a:t>AI</a:t>
            </a:r>
            <a:r>
              <a:rPr kumimoji="1" lang="ja-JP" altLang="en-US" sz="1200" b="1" u="sng" dirty="0">
                <a:latin typeface="Meiryo UI" panose="020B0604030504040204" pitchFamily="50" charset="-128"/>
                <a:ea typeface="Meiryo UI" panose="020B0604030504040204" pitchFamily="50" charset="-128"/>
              </a:rPr>
              <a:t>研究</a:t>
            </a:r>
            <a:r>
              <a:rPr lang="ja-JP" altLang="en-US" sz="1200" b="1" u="sng" dirty="0">
                <a:latin typeface="Meiryo UI" panose="020B0604030504040204" pitchFamily="50" charset="-128"/>
                <a:ea typeface="Meiryo UI" panose="020B0604030504040204" pitchFamily="50" charset="-128"/>
              </a:rPr>
              <a:t>）</a:t>
            </a:r>
            <a:endParaRPr lang="en-US" altLang="ja-JP" sz="1200" b="1" u="sng"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rPr>
              <a:t>AI/ML</a:t>
            </a:r>
            <a:r>
              <a:rPr lang="ja-JP" altLang="en-US" sz="1200" dirty="0">
                <a:latin typeface="Meiryo UI" panose="020B0604030504040204" pitchFamily="50" charset="-128"/>
                <a:ea typeface="Meiryo UI" panose="020B0604030504040204" pitchFamily="50" charset="-128"/>
              </a:rPr>
              <a:t>及び暗号資産技術の基礎研究と応用研究を推進</a:t>
            </a: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https://www.jpmorgan.com</a:t>
            </a:r>
            <a:r>
              <a:rPr lang="ja-JP" altLang="en-US" sz="1200" dirty="0">
                <a:latin typeface="Meiryo UI" panose="020B0604030504040204" pitchFamily="50" charset="-128"/>
                <a:ea typeface="Meiryo UI" panose="020B0604030504040204" pitchFamily="50" charset="-128"/>
              </a:rPr>
              <a:t>・・・・</a:t>
            </a:r>
            <a:endParaRPr lang="en-US" altLang="ja-JP" sz="1200" b="1" u="sng" dirty="0">
              <a:latin typeface="Meiryo UI" panose="020B0604030504040204" pitchFamily="50" charset="-128"/>
              <a:ea typeface="Meiryo UI" panose="020B0604030504040204" pitchFamily="50" charset="-128"/>
            </a:endParaRPr>
          </a:p>
          <a:p>
            <a:pPr marL="0" indent="0">
              <a:buNone/>
            </a:pPr>
            <a:endParaRPr lang="en-US" altLang="ja-JP" sz="1200" b="1" u="sng" dirty="0">
              <a:latin typeface="Meiryo UI" panose="020B0604030504040204" pitchFamily="50" charset="-128"/>
              <a:ea typeface="Meiryo UI" panose="020B0604030504040204" pitchFamily="50" charset="-128"/>
            </a:endParaRPr>
          </a:p>
          <a:p>
            <a:r>
              <a:rPr lang="en-US" altLang="ja-JP" sz="1200" b="1" u="sng" dirty="0">
                <a:latin typeface="Meiryo UI" panose="020B0604030504040204" pitchFamily="50" charset="-128"/>
                <a:ea typeface="Meiryo UI" panose="020B0604030504040204" pitchFamily="50" charset="-128"/>
              </a:rPr>
              <a:t>Global Technology Applied Research</a:t>
            </a:r>
            <a:r>
              <a:rPr lang="ja-JP" altLang="en-US" sz="1200" b="1" u="sng" dirty="0">
                <a:latin typeface="Meiryo UI" panose="020B0604030504040204" pitchFamily="50" charset="-128"/>
                <a:ea typeface="Meiryo UI" panose="020B0604030504040204" pitchFamily="50" charset="-128"/>
              </a:rPr>
              <a:t>（グローバル技術応用研究）</a:t>
            </a:r>
            <a:endParaRPr lang="en-US" altLang="ja-JP" sz="1200" b="1" u="sng"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量子コンピュータ</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rPr>
              <a:t>https://www.jpmorgan.com</a:t>
            </a:r>
            <a:r>
              <a:rPr lang="ja-JP" altLang="en-US" sz="1200" dirty="0">
                <a:latin typeface="Meiryo UI" panose="020B0604030504040204" pitchFamily="50" charset="-128"/>
                <a:ea typeface="Meiryo UI" panose="020B0604030504040204" pitchFamily="50" charset="-128"/>
              </a:rPr>
              <a:t>・・・・</a:t>
            </a:r>
            <a:endParaRPr lang="ja-JP" altLang="en-US" sz="1200" b="1" u="sng" dirty="0">
              <a:latin typeface="Meiryo UI" panose="020B0604030504040204" pitchFamily="50" charset="-128"/>
              <a:ea typeface="Meiryo UI" panose="020B0604030504040204" pitchFamily="50" charset="-128"/>
            </a:endParaRPr>
          </a:p>
          <a:p>
            <a:endParaRPr kumimoji="1" lang="en-US" altLang="ja-JP" sz="1200" b="1" u="sng" dirty="0">
              <a:latin typeface="Meiryo UI" panose="020B0604030504040204" pitchFamily="50" charset="-128"/>
              <a:ea typeface="Meiryo UI" panose="020B0604030504040204" pitchFamily="50" charset="-128"/>
            </a:endParaRPr>
          </a:p>
          <a:p>
            <a:r>
              <a:rPr lang="en-US" altLang="ja-JP" sz="1200" b="1" u="sng" dirty="0">
                <a:latin typeface="Meiryo UI" panose="020B0604030504040204" pitchFamily="50" charset="-128"/>
                <a:ea typeface="Meiryo UI" panose="020B0604030504040204" pitchFamily="50" charset="-128"/>
              </a:rPr>
              <a:t>Focused Analytics Solution Team</a:t>
            </a:r>
            <a:r>
              <a:rPr lang="ja-JP" altLang="en-US" sz="1200" b="1" u="sng" dirty="0">
                <a:latin typeface="Meiryo UI" panose="020B0604030504040204" pitchFamily="50" charset="-128"/>
                <a:ea typeface="Meiryo UI" panose="020B0604030504040204" pitchFamily="50" charset="-128"/>
              </a:rPr>
              <a:t>（</a:t>
            </a:r>
            <a:r>
              <a:rPr lang="en-US" altLang="ja-JP" sz="1200" b="1" u="sng" dirty="0">
                <a:latin typeface="Meiryo UI" panose="020B0604030504040204" pitchFamily="50" charset="-128"/>
                <a:ea typeface="Meiryo UI" panose="020B0604030504040204" pitchFamily="50" charset="-128"/>
              </a:rPr>
              <a:t>FAST</a:t>
            </a:r>
            <a:r>
              <a:rPr lang="ja-JP" altLang="en-US" sz="1200" b="1" u="sng" dirty="0">
                <a:latin typeface="Meiryo UI" panose="020B0604030504040204" pitchFamily="50" charset="-128"/>
                <a:ea typeface="Meiryo UI" panose="020B0604030504040204" pitchFamily="50" charset="-128"/>
              </a:rPr>
              <a:t>）</a:t>
            </a:r>
            <a:endParaRPr lang="en-US" altLang="ja-JP" sz="1200" b="1" u="sng"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社内向けコンサルティング型の</a:t>
            </a:r>
          </a:p>
          <a:p>
            <a:pPr marL="0" indent="0">
              <a:buNone/>
            </a:pPr>
            <a:r>
              <a:rPr lang="en-US" altLang="ja-JP" sz="1200" dirty="0">
                <a:latin typeface="Meiryo UI" panose="020B0604030504040204" pitchFamily="50" charset="-128"/>
                <a:ea typeface="Meiryo UI" panose="020B0604030504040204" pitchFamily="50" charset="-128"/>
                <a:hlinkClick r:id="rId2"/>
              </a:rPr>
              <a:t>https://www.jpmorgan.com</a:t>
            </a:r>
            <a:r>
              <a:rPr lang="ja-JP" altLang="en-US" sz="1200" dirty="0">
                <a:latin typeface="Meiryo UI" panose="020B0604030504040204" pitchFamily="50" charset="-128"/>
                <a:ea typeface="Meiryo UI" panose="020B0604030504040204" pitchFamily="50" charset="-128"/>
              </a:rPr>
              <a:t>・・・・</a:t>
            </a:r>
            <a:endParaRPr lang="ja-JP" altLang="en-US" sz="1200" b="1" u="sng" dirty="0">
              <a:latin typeface="Meiryo UI" panose="020B0604030504040204" pitchFamily="50" charset="-128"/>
              <a:ea typeface="Meiryo UI" panose="020B0604030504040204" pitchFamily="50" charset="-128"/>
            </a:endParaRPr>
          </a:p>
          <a:p>
            <a:endParaRPr kumimoji="1" lang="en-US" altLang="ja-JP" sz="1200" b="1" u="sng" dirty="0">
              <a:latin typeface="Meiryo UI" panose="020B0604030504040204" pitchFamily="50" charset="-128"/>
              <a:ea typeface="Meiryo UI" panose="020B0604030504040204" pitchFamily="50" charset="-128"/>
            </a:endParaRPr>
          </a:p>
          <a:p>
            <a:endParaRPr lang="en-US" altLang="ja-JP" sz="1200" b="1" u="sng" dirty="0">
              <a:latin typeface="Meiryo UI" panose="020B0604030504040204" pitchFamily="50" charset="-128"/>
              <a:ea typeface="Meiryo UI" panose="020B0604030504040204" pitchFamily="50" charset="-128"/>
            </a:endParaRPr>
          </a:p>
          <a:p>
            <a:endParaRPr kumimoji="1" lang="ja-JP" altLang="en-US" sz="1200" b="1" u="sng"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57333B9B-AD8E-6887-E81B-D042EDBC6C57}"/>
              </a:ext>
            </a:extLst>
          </p:cNvPr>
          <p:cNvSpPr txBox="1">
            <a:spLocks/>
          </p:cNvSpPr>
          <p:nvPr/>
        </p:nvSpPr>
        <p:spPr>
          <a:xfrm>
            <a:off x="185055" y="725620"/>
            <a:ext cx="11776587" cy="412468"/>
          </a:xfrm>
          <a:prstGeom prst="rect">
            <a:avLst/>
          </a:prstGeom>
          <a:ln>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dirty="0">
                <a:latin typeface="Meiryo UI" panose="020B0604030504040204" pitchFamily="50" charset="-128"/>
                <a:ea typeface="Meiryo UI" panose="020B0604030504040204" pitchFamily="50" charset="-128"/>
              </a:rPr>
              <a:t>この領域を先端としている部署でも複数存在。</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08590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79A4-F3B7-85E2-92C7-0B5E1A22FC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A4403F-E774-08A0-369B-0610265F8DBA}"/>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のマーケッツ領域に関連する</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に関する取り組み</a:t>
            </a:r>
          </a:p>
        </p:txBody>
      </p:sp>
      <p:sp>
        <p:nvSpPr>
          <p:cNvPr id="3" name="コンテンツ プレースホルダー 2">
            <a:extLst>
              <a:ext uri="{FF2B5EF4-FFF2-40B4-BE49-F238E27FC236}">
                <a16:creationId xmlns:a16="http://schemas.microsoft.com/office/drawing/2014/main" id="{3B370E27-C813-BC2D-5E08-6444DBE714D3}"/>
              </a:ext>
            </a:extLst>
          </p:cNvPr>
          <p:cNvSpPr>
            <a:spLocks noGrp="1"/>
          </p:cNvSpPr>
          <p:nvPr>
            <p:ph idx="1"/>
          </p:nvPr>
        </p:nvSpPr>
        <p:spPr>
          <a:xfrm>
            <a:off x="228600" y="1275873"/>
            <a:ext cx="5867400" cy="2223078"/>
          </a:xfrm>
          <a:ln>
            <a:solidFill>
              <a:schemeClr val="tx1"/>
            </a:solidFill>
          </a:ln>
        </p:spPr>
        <p:txBody>
          <a:bodyPr>
            <a:normAutofit/>
          </a:bodyPr>
          <a:lstStyle/>
          <a:p>
            <a:pPr marL="0" indent="0">
              <a:buNone/>
            </a:pPr>
            <a:r>
              <a:rPr lang="en-US" altLang="ja-JP" sz="1200" b="1" u="sng" dirty="0" err="1">
                <a:latin typeface="Meiryo UI" panose="020B0604030504040204" pitchFamily="50" charset="-128"/>
                <a:ea typeface="Meiryo UI" panose="020B0604030504040204" pitchFamily="50" charset="-128"/>
              </a:rPr>
              <a:t>IndexGPT:AI</a:t>
            </a:r>
            <a:r>
              <a:rPr lang="ja-JP" altLang="en-US" sz="1200" b="1" u="sng" dirty="0">
                <a:latin typeface="Meiryo UI" panose="020B0604030504040204" pitchFamily="50" charset="-128"/>
                <a:ea typeface="Meiryo UI" panose="020B0604030504040204" pitchFamily="50" charset="-128"/>
              </a:rPr>
              <a:t>駆動型投資アドバイザリー</a:t>
            </a:r>
            <a:endParaRPr kumimoji="1" lang="en-US" altLang="ja-JP" sz="1200" b="1" u="sng" dirty="0">
              <a:latin typeface="Meiryo UI" panose="020B0604030504040204" pitchFamily="50" charset="-128"/>
              <a:ea typeface="Meiryo UI" panose="020B0604030504040204" pitchFamily="50" charset="-128"/>
            </a:endParaRPr>
          </a:p>
          <a:p>
            <a:pPr marL="0" indent="0">
              <a:buNone/>
            </a:pPr>
            <a:r>
              <a:rPr kumimoji="1" lang="en-US" altLang="ja-JP" sz="1200" dirty="0" err="1">
                <a:latin typeface="Meiryo UI" panose="020B0604030504040204" pitchFamily="50" charset="-128"/>
                <a:ea typeface="Meiryo UI" panose="020B0604030504040204" pitchFamily="50" charset="-128"/>
              </a:rPr>
              <a:t>IndexGPT</a:t>
            </a:r>
            <a:r>
              <a:rPr kumimoji="1" lang="ja-JP" altLang="en-US" sz="1200" dirty="0">
                <a:latin typeface="Meiryo UI" panose="020B0604030504040204" pitchFamily="50" charset="-128"/>
                <a:ea typeface="Meiryo UI" panose="020B0604030504040204" pitchFamily="50" charset="-128"/>
              </a:rPr>
              <a:t>は・・・</a:t>
            </a:r>
            <a:endParaRPr kumimoji="1"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a:p>
            <a:pPr marL="0" indent="0">
              <a:buNone/>
            </a:pPr>
            <a:endParaRPr kumimoji="1"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hlinkClick r:id="rId2"/>
              </a:rPr>
              <a:t>https://finance.yahoo</a:t>
            </a:r>
            <a:r>
              <a:rPr lang="en-US" altLang="ja-JP" sz="1200" dirty="0">
                <a:latin typeface="Meiryo UI" panose="020B0604030504040204" pitchFamily="50" charset="-128"/>
                <a:ea typeface="Meiryo UI" panose="020B0604030504040204" pitchFamily="50" charset="-128"/>
              </a:rPr>
              <a:t>.</a:t>
            </a:r>
          </a:p>
          <a:p>
            <a:pPr marL="0" indent="0">
              <a:buNone/>
            </a:pPr>
            <a:endParaRPr kumimoji="1" lang="ja-JP" altLang="en-US"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F00DA1D0-23C3-0EFF-19EE-9CE825FC44B9}"/>
              </a:ext>
            </a:extLst>
          </p:cNvPr>
          <p:cNvSpPr txBox="1">
            <a:spLocks/>
          </p:cNvSpPr>
          <p:nvPr/>
        </p:nvSpPr>
        <p:spPr>
          <a:xfrm>
            <a:off x="6164827" y="1308530"/>
            <a:ext cx="5867400" cy="178301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err="1">
                <a:latin typeface="Meiryo UI" panose="020B0604030504040204" pitchFamily="50" charset="-128"/>
                <a:ea typeface="Meiryo UI" panose="020B0604030504040204" pitchFamily="50" charset="-128"/>
              </a:rPr>
              <a:t>JPMaQS</a:t>
            </a:r>
            <a:endParaRPr lang="en-US" altLang="ja-JP" sz="1200" b="1" u="sng"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5C3B273E-4787-0162-4DA1-D720A675D7DC}"/>
              </a:ext>
            </a:extLst>
          </p:cNvPr>
          <p:cNvSpPr txBox="1">
            <a:spLocks/>
          </p:cNvSpPr>
          <p:nvPr/>
        </p:nvSpPr>
        <p:spPr>
          <a:xfrm>
            <a:off x="228600" y="3604086"/>
            <a:ext cx="5867400" cy="15230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LOXM</a:t>
            </a: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6" name="コンテンツ プレースホルダー 2">
            <a:extLst>
              <a:ext uri="{FF2B5EF4-FFF2-40B4-BE49-F238E27FC236}">
                <a16:creationId xmlns:a16="http://schemas.microsoft.com/office/drawing/2014/main" id="{DB4E0B01-B643-B258-F6AD-CEAD334976A4}"/>
              </a:ext>
            </a:extLst>
          </p:cNvPr>
          <p:cNvSpPr txBox="1">
            <a:spLocks/>
          </p:cNvSpPr>
          <p:nvPr/>
        </p:nvSpPr>
        <p:spPr>
          <a:xfrm>
            <a:off x="228600" y="5258712"/>
            <a:ext cx="5867400" cy="15230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err="1">
                <a:latin typeface="Meiryo UI" panose="020B0604030504040204" pitchFamily="50" charset="-128"/>
                <a:ea typeface="Meiryo UI" panose="020B0604030504040204" pitchFamily="50" charset="-128"/>
              </a:rPr>
              <a:t>OmniAI</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0E7FA5D9-611D-F50B-FC14-82C64E68318B}"/>
              </a:ext>
            </a:extLst>
          </p:cNvPr>
          <p:cNvSpPr txBox="1">
            <a:spLocks/>
          </p:cNvSpPr>
          <p:nvPr/>
        </p:nvSpPr>
        <p:spPr>
          <a:xfrm>
            <a:off x="6164827" y="3185787"/>
            <a:ext cx="5867400" cy="178301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マーケット予測</a:t>
            </a:r>
            <a:endParaRPr lang="en-US" altLang="ja-JP" sz="1200" b="1" u="sng" dirty="0">
              <a:latin typeface="Meiryo UI" panose="020B0604030504040204" pitchFamily="50" charset="-128"/>
              <a:ea typeface="Meiryo UI" panose="020B0604030504040204" pitchFamily="50" charset="-128"/>
            </a:endParaRPr>
          </a:p>
        </p:txBody>
      </p:sp>
      <p:sp>
        <p:nvSpPr>
          <p:cNvPr id="8" name="コンテンツ プレースホルダー 2">
            <a:extLst>
              <a:ext uri="{FF2B5EF4-FFF2-40B4-BE49-F238E27FC236}">
                <a16:creationId xmlns:a16="http://schemas.microsoft.com/office/drawing/2014/main" id="{65319FB9-1CD9-E242-A6FA-DA043647FDE8}"/>
              </a:ext>
            </a:extLst>
          </p:cNvPr>
          <p:cNvSpPr txBox="1">
            <a:spLocks/>
          </p:cNvSpPr>
          <p:nvPr/>
        </p:nvSpPr>
        <p:spPr>
          <a:xfrm>
            <a:off x="6164827" y="5018314"/>
            <a:ext cx="5867400" cy="178301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ポートフォリオ最適化</a:t>
            </a:r>
            <a:endParaRPr lang="en-US" altLang="ja-JP" sz="1200" b="1" u="sng"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82A7E1D1-853C-3664-757E-BE46A0FF03AD}"/>
              </a:ext>
            </a:extLst>
          </p:cNvPr>
          <p:cNvSpPr txBox="1">
            <a:spLocks/>
          </p:cNvSpPr>
          <p:nvPr/>
        </p:nvSpPr>
        <p:spPr>
          <a:xfrm>
            <a:off x="228599" y="758278"/>
            <a:ext cx="11776587" cy="41246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を活用した、テーマ型の投資バスケットの作成</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788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59BE3-BFD3-1354-6065-2B2C7AFE58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B030E1-38E8-0C58-1F4E-EF91946B1406}"/>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のマーケッツ領域に関連する</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に関する取り組み</a:t>
            </a:r>
          </a:p>
        </p:txBody>
      </p:sp>
      <p:sp>
        <p:nvSpPr>
          <p:cNvPr id="3" name="コンテンツ プレースホルダー 2">
            <a:extLst>
              <a:ext uri="{FF2B5EF4-FFF2-40B4-BE49-F238E27FC236}">
                <a16:creationId xmlns:a16="http://schemas.microsoft.com/office/drawing/2014/main" id="{C9C4FE40-94F7-C3A0-DC49-141B7DE280C4}"/>
              </a:ext>
            </a:extLst>
          </p:cNvPr>
          <p:cNvSpPr>
            <a:spLocks noGrp="1"/>
          </p:cNvSpPr>
          <p:nvPr>
            <p:ph idx="1"/>
          </p:nvPr>
        </p:nvSpPr>
        <p:spPr>
          <a:xfrm>
            <a:off x="180140" y="1463390"/>
            <a:ext cx="5867400" cy="2522256"/>
          </a:xfrm>
          <a:ln>
            <a:solidFill>
              <a:schemeClr val="tx1"/>
            </a:solidFill>
          </a:ln>
        </p:spPr>
        <p:txBody>
          <a:bodyPr>
            <a:normAutofit/>
          </a:bodyPr>
          <a:lstStyle/>
          <a:p>
            <a:pPr marL="0" indent="0">
              <a:buNone/>
            </a:pPr>
            <a:r>
              <a:rPr kumimoji="1" lang="en-US" altLang="ja-JP" sz="1200" b="1" u="sng" dirty="0" err="1">
                <a:latin typeface="Meiryo UI" panose="020B0604030504040204" pitchFamily="50" charset="-128"/>
                <a:ea typeface="Meiryo UI" panose="020B0604030504040204" pitchFamily="50" charset="-128"/>
              </a:rPr>
              <a:t>DataQuery</a:t>
            </a:r>
            <a:endParaRPr kumimoji="1" lang="ja-JP" altLang="en-US" sz="1200" b="1" u="sng"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237D90AC-C44B-3C28-6314-4EB3FA3C3CBB}"/>
              </a:ext>
            </a:extLst>
          </p:cNvPr>
          <p:cNvSpPr txBox="1">
            <a:spLocks/>
          </p:cNvSpPr>
          <p:nvPr/>
        </p:nvSpPr>
        <p:spPr>
          <a:xfrm>
            <a:off x="6122688" y="1452504"/>
            <a:ext cx="5867400" cy="252225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err="1">
                <a:latin typeface="Meiryo UI" panose="020B0604030504040204" pitchFamily="50" charset="-128"/>
                <a:ea typeface="Meiryo UI" panose="020B0604030504040204" pitchFamily="50" charset="-128"/>
              </a:rPr>
              <a:t>PricingDirect</a:t>
            </a:r>
            <a:endParaRPr lang="en-US" altLang="ja-JP" sz="1200" b="1" u="sng"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A6F021E2-B589-A9AF-255E-6CF1F93FE77B}"/>
              </a:ext>
            </a:extLst>
          </p:cNvPr>
          <p:cNvSpPr txBox="1">
            <a:spLocks/>
          </p:cNvSpPr>
          <p:nvPr/>
        </p:nvSpPr>
        <p:spPr>
          <a:xfrm>
            <a:off x="228600" y="4202093"/>
            <a:ext cx="11776586" cy="252225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Fusion by </a:t>
            </a:r>
            <a:r>
              <a:rPr lang="en-US" altLang="ja-JP" sz="1200" b="1" u="sng" dirty="0" err="1">
                <a:latin typeface="Meiryo UI" panose="020B0604030504040204" pitchFamily="50" charset="-128"/>
                <a:ea typeface="Meiryo UI" panose="020B0604030504040204" pitchFamily="50" charset="-128"/>
              </a:rPr>
              <a:t>J.P.Morgan</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6" name="コンテンツ プレースホルダー 2">
            <a:extLst>
              <a:ext uri="{FF2B5EF4-FFF2-40B4-BE49-F238E27FC236}">
                <a16:creationId xmlns:a16="http://schemas.microsoft.com/office/drawing/2014/main" id="{D398A61D-DCB1-A6D0-91D4-A3208152C2F2}"/>
              </a:ext>
            </a:extLst>
          </p:cNvPr>
          <p:cNvSpPr txBox="1">
            <a:spLocks/>
          </p:cNvSpPr>
          <p:nvPr/>
        </p:nvSpPr>
        <p:spPr>
          <a:xfrm>
            <a:off x="228599" y="758278"/>
            <a:ext cx="11776587" cy="41246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latin typeface="Meiryo UI" panose="020B0604030504040204" pitchFamily="50" charset="-128"/>
                <a:ea typeface="Meiryo UI" panose="020B0604030504040204" pitchFamily="50" charset="-128"/>
              </a:rPr>
              <a:t>完全に外部提供を想定したサービス</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20983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860A4-456E-3C0A-A83F-6B7BEB2A38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52008A-E8FB-3ED2-90E4-3C6D40C8D46F}"/>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の合成データの取り組み</a:t>
            </a:r>
          </a:p>
        </p:txBody>
      </p:sp>
      <p:sp>
        <p:nvSpPr>
          <p:cNvPr id="3" name="コンテンツ プレースホルダー 2">
            <a:extLst>
              <a:ext uri="{FF2B5EF4-FFF2-40B4-BE49-F238E27FC236}">
                <a16:creationId xmlns:a16="http://schemas.microsoft.com/office/drawing/2014/main" id="{54DA002E-D7AC-3FCC-857A-8D53DA4E25E1}"/>
              </a:ext>
            </a:extLst>
          </p:cNvPr>
          <p:cNvSpPr>
            <a:spLocks noGrp="1"/>
          </p:cNvSpPr>
          <p:nvPr>
            <p:ph idx="1"/>
          </p:nvPr>
        </p:nvSpPr>
        <p:spPr>
          <a:xfrm>
            <a:off x="181545" y="808770"/>
            <a:ext cx="11680720" cy="2522256"/>
          </a:xfrm>
          <a:ln>
            <a:solidFill>
              <a:schemeClr val="tx1"/>
            </a:solidFill>
          </a:ln>
        </p:spPr>
        <p:txBody>
          <a:bodyPr>
            <a:normAutofit/>
          </a:bodyPr>
          <a:lstStyle/>
          <a:p>
            <a:pPr marL="0" indent="0">
              <a:buNone/>
            </a:pPr>
            <a:r>
              <a:rPr kumimoji="1" lang="ja-JP" altLang="en-US" sz="1200" dirty="0">
                <a:latin typeface="Meiryo UI" panose="020B0604030504040204" pitchFamily="50" charset="-128"/>
                <a:ea typeface="Meiryo UI" panose="020B0604030504040204" pitchFamily="50" charset="-128"/>
              </a:rPr>
              <a:t>概要</a:t>
            </a:r>
            <a:endParaRPr kumimoji="1" lang="en-US" altLang="ja-JP" sz="1200" dirty="0">
              <a:latin typeface="Meiryo UI" panose="020B0604030504040204" pitchFamily="50" charset="-128"/>
              <a:ea typeface="Meiryo UI" panose="020B0604030504040204" pitchFamily="50" charset="-128"/>
            </a:endParaRPr>
          </a:p>
        </p:txBody>
      </p:sp>
      <p:sp>
        <p:nvSpPr>
          <p:cNvPr id="6" name="コンテンツ プレースホルダー 2">
            <a:extLst>
              <a:ext uri="{FF2B5EF4-FFF2-40B4-BE49-F238E27FC236}">
                <a16:creationId xmlns:a16="http://schemas.microsoft.com/office/drawing/2014/main" id="{77181321-6953-DA39-19C6-F87031208D64}"/>
              </a:ext>
            </a:extLst>
          </p:cNvPr>
          <p:cNvSpPr txBox="1">
            <a:spLocks/>
          </p:cNvSpPr>
          <p:nvPr/>
        </p:nvSpPr>
        <p:spPr>
          <a:xfrm>
            <a:off x="6201344" y="4085373"/>
            <a:ext cx="5867400" cy="252225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a:latin typeface="Meiryo UI" panose="020B0604030504040204" pitchFamily="50" charset="-128"/>
                <a:ea typeface="Meiryo UI" panose="020B0604030504040204" pitchFamily="50" charset="-128"/>
              </a:rPr>
              <a:t>概要</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561662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5966</TotalTime>
  <Words>3444</Words>
  <Application>Microsoft Office PowerPoint</Application>
  <PresentationFormat>ワイド画面</PresentationFormat>
  <Paragraphs>169</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Meiryo UI</vt:lpstr>
      <vt:lpstr>游ゴシック</vt:lpstr>
      <vt:lpstr>游ゴシック Light</vt:lpstr>
      <vt:lpstr>Arial</vt:lpstr>
      <vt:lpstr>Office テーマ</vt:lpstr>
      <vt:lpstr>【リサーチ】Goldman SachsのAI/Data/Data Scienceに関する組織</vt:lpstr>
      <vt:lpstr>PowerPoint プレゼンテーション</vt:lpstr>
      <vt:lpstr>【リサーチ】Goldman Sachsの外部提供を想定したもの</vt:lpstr>
      <vt:lpstr>【リサーチ】Goldman Sachsの外部提供を想定したもの</vt:lpstr>
      <vt:lpstr>【リサーチ】Goldman Sachsのその他の取り組み</vt:lpstr>
      <vt:lpstr>【リサーチ】Goldman Sachsのその他の取り組み</vt:lpstr>
      <vt:lpstr>【リサーチ】Goldman Sachsのその他の取り組み</vt:lpstr>
      <vt:lpstr>PowerPoint プレゼンテーション</vt:lpstr>
      <vt:lpstr>【リサーチ】Goldman SachsのAI/Data/Data Scienceに関する組織</vt:lpstr>
      <vt:lpstr>【リサーチ】Goldman Sachsのマーケッツ領域に関連するAI/Data/Data Scienceに関する取り組み</vt:lpstr>
      <vt:lpstr>【リサーチ】Goldman Sachsのマーケッツ領域に関連するAI/Data/Data Scienceに関する取り組み</vt:lpstr>
      <vt:lpstr>【リサーチ】Goldman Sachsの合成データの取り組み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泰弘 仲山</dc:creator>
  <cp:lastModifiedBy>泰弘 仲山</cp:lastModifiedBy>
  <cp:revision>30</cp:revision>
  <dcterms:created xsi:type="dcterms:W3CDTF">2025-09-12T03:05:28Z</dcterms:created>
  <dcterms:modified xsi:type="dcterms:W3CDTF">2025-09-28T14:45:58Z</dcterms:modified>
</cp:coreProperties>
</file>