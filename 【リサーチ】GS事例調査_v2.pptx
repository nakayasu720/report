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72" r:id="rId4"/>
    <p:sldId id="262" r:id="rId5"/>
    <p:sldId id="263" r:id="rId6"/>
    <p:sldId id="270" r:id="rId7"/>
    <p:sldId id="271"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11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泰弘 仲山" userId="857b4835f3abfbd8" providerId="LiveId" clId="{1719127F-B280-47D0-B899-2028F4F2809D}"/>
    <pc:docChg chg="custSel delSld modSld">
      <pc:chgData name="泰弘 仲山" userId="857b4835f3abfbd8" providerId="LiveId" clId="{1719127F-B280-47D0-B899-2028F4F2809D}" dt="2025-09-29T16:37:55.832" v="52" actId="113"/>
      <pc:docMkLst>
        <pc:docMk/>
      </pc:docMkLst>
      <pc:sldChg chg="del">
        <pc:chgData name="泰弘 仲山" userId="857b4835f3abfbd8" providerId="LiveId" clId="{1719127F-B280-47D0-B899-2028F4F2809D}" dt="2025-09-29T16:34:15.492" v="31" actId="47"/>
        <pc:sldMkLst>
          <pc:docMk/>
          <pc:sldMk cId="235616622" sldId="259"/>
        </pc:sldMkLst>
      </pc:sldChg>
      <pc:sldChg chg="modSp mod">
        <pc:chgData name="泰弘 仲山" userId="857b4835f3abfbd8" providerId="LiveId" clId="{1719127F-B280-47D0-B899-2028F4F2809D}" dt="2025-09-29T16:34:58.682" v="36" actId="113"/>
        <pc:sldMkLst>
          <pc:docMk/>
          <pc:sldMk cId="823954339" sldId="261"/>
        </pc:sldMkLst>
        <pc:spChg chg="mod">
          <ac:chgData name="泰弘 仲山" userId="857b4835f3abfbd8" providerId="LiveId" clId="{1719127F-B280-47D0-B899-2028F4F2809D}" dt="2025-09-29T16:34:58.682" v="36" actId="113"/>
          <ac:spMkLst>
            <pc:docMk/>
            <pc:sldMk cId="823954339" sldId="261"/>
            <ac:spMk id="10" creationId="{415D50D2-25D8-713B-C7A0-7943DC2465BD}"/>
          </ac:spMkLst>
        </pc:spChg>
      </pc:sldChg>
      <pc:sldChg chg="modSp mod">
        <pc:chgData name="泰弘 仲山" userId="857b4835f3abfbd8" providerId="LiveId" clId="{1719127F-B280-47D0-B899-2028F4F2809D}" dt="2025-09-29T16:36:40.050" v="47" actId="113"/>
        <pc:sldMkLst>
          <pc:docMk/>
          <pc:sldMk cId="844496991" sldId="262"/>
        </pc:sldMkLst>
        <pc:spChg chg="mod">
          <ac:chgData name="泰弘 仲山" userId="857b4835f3abfbd8" providerId="LiveId" clId="{1719127F-B280-47D0-B899-2028F4F2809D}" dt="2025-09-29T16:36:25.613" v="42" actId="1036"/>
          <ac:spMkLst>
            <pc:docMk/>
            <pc:sldMk cId="844496991" sldId="262"/>
            <ac:spMk id="3" creationId="{6DE39AC5-70A4-5712-C4F6-758E78FD21B5}"/>
          </ac:spMkLst>
        </pc:spChg>
        <pc:spChg chg="mod">
          <ac:chgData name="泰弘 仲山" userId="857b4835f3abfbd8" providerId="LiveId" clId="{1719127F-B280-47D0-B899-2028F4F2809D}" dt="2025-09-29T16:36:40.050" v="47" actId="113"/>
          <ac:spMkLst>
            <pc:docMk/>
            <pc:sldMk cId="844496991" sldId="262"/>
            <ac:spMk id="4" creationId="{0E306C8F-F31C-17CF-1C21-7067C3DCBF06}"/>
          </ac:spMkLst>
        </pc:spChg>
        <pc:spChg chg="mod">
          <ac:chgData name="泰弘 仲山" userId="857b4835f3abfbd8" providerId="LiveId" clId="{1719127F-B280-47D0-B899-2028F4F2809D}" dt="2025-09-29T16:36:28.814" v="46" actId="1036"/>
          <ac:spMkLst>
            <pc:docMk/>
            <pc:sldMk cId="844496991" sldId="262"/>
            <ac:spMk id="5" creationId="{55F36758-8CB8-B096-B2DE-80B065116318}"/>
          </ac:spMkLst>
        </pc:spChg>
      </pc:sldChg>
      <pc:sldChg chg="modSp mod">
        <pc:chgData name="泰弘 仲山" userId="857b4835f3abfbd8" providerId="LiveId" clId="{1719127F-B280-47D0-B899-2028F4F2809D}" dt="2025-09-29T16:37:11.908" v="49" actId="14100"/>
        <pc:sldMkLst>
          <pc:docMk/>
          <pc:sldMk cId="1087718593" sldId="263"/>
        </pc:sldMkLst>
        <pc:spChg chg="mod">
          <ac:chgData name="泰弘 仲山" userId="857b4835f3abfbd8" providerId="LiveId" clId="{1719127F-B280-47D0-B899-2028F4F2809D}" dt="2025-09-29T16:37:01.081" v="48" actId="113"/>
          <ac:spMkLst>
            <pc:docMk/>
            <pc:sldMk cId="1087718593" sldId="263"/>
            <ac:spMk id="3" creationId="{99A2861E-5B69-D31D-9558-8C5CE5E19FA3}"/>
          </ac:spMkLst>
        </pc:spChg>
        <pc:spChg chg="mod">
          <ac:chgData name="泰弘 仲山" userId="857b4835f3abfbd8" providerId="LiveId" clId="{1719127F-B280-47D0-B899-2028F4F2809D}" dt="2025-09-29T16:37:11.908" v="49" actId="14100"/>
          <ac:spMkLst>
            <pc:docMk/>
            <pc:sldMk cId="1087718593" sldId="263"/>
            <ac:spMk id="5" creationId="{A7DC358C-9F72-88A6-D9BF-E2662FDA8AA7}"/>
          </ac:spMkLst>
        </pc:spChg>
      </pc:sldChg>
      <pc:sldChg chg="del">
        <pc:chgData name="泰弘 仲山" userId="857b4835f3abfbd8" providerId="LiveId" clId="{1719127F-B280-47D0-B899-2028F4F2809D}" dt="2025-09-29T16:34:22.998" v="35" actId="47"/>
        <pc:sldMkLst>
          <pc:docMk/>
          <pc:sldMk cId="3707174948" sldId="264"/>
        </pc:sldMkLst>
      </pc:sldChg>
      <pc:sldChg chg="del">
        <pc:chgData name="泰弘 仲山" userId="857b4835f3abfbd8" providerId="LiveId" clId="{1719127F-B280-47D0-B899-2028F4F2809D}" dt="2025-09-29T16:34:16.965" v="33" actId="47"/>
        <pc:sldMkLst>
          <pc:docMk/>
          <pc:sldMk cId="247884534" sldId="265"/>
        </pc:sldMkLst>
      </pc:sldChg>
      <pc:sldChg chg="del">
        <pc:chgData name="泰弘 仲山" userId="857b4835f3abfbd8" providerId="LiveId" clId="{1719127F-B280-47D0-B899-2028F4F2809D}" dt="2025-09-29T16:34:16.248" v="32" actId="47"/>
        <pc:sldMkLst>
          <pc:docMk/>
          <pc:sldMk cId="1520983431" sldId="266"/>
        </pc:sldMkLst>
      </pc:sldChg>
      <pc:sldChg chg="del">
        <pc:chgData name="泰弘 仲山" userId="857b4835f3abfbd8" providerId="LiveId" clId="{1719127F-B280-47D0-B899-2028F4F2809D}" dt="2025-09-29T16:34:18.181" v="34" actId="47"/>
        <pc:sldMkLst>
          <pc:docMk/>
          <pc:sldMk cId="1608590044" sldId="268"/>
        </pc:sldMkLst>
      </pc:sldChg>
      <pc:sldChg chg="modSp mod">
        <pc:chgData name="泰弘 仲山" userId="857b4835f3abfbd8" providerId="LiveId" clId="{1719127F-B280-47D0-B899-2028F4F2809D}" dt="2025-09-29T16:37:34.635" v="51" actId="113"/>
        <pc:sldMkLst>
          <pc:docMk/>
          <pc:sldMk cId="790716467" sldId="270"/>
        </pc:sldMkLst>
        <pc:spChg chg="mod">
          <ac:chgData name="泰弘 仲山" userId="857b4835f3abfbd8" providerId="LiveId" clId="{1719127F-B280-47D0-B899-2028F4F2809D}" dt="2025-09-29T16:37:34.635" v="51" actId="113"/>
          <ac:spMkLst>
            <pc:docMk/>
            <pc:sldMk cId="790716467" sldId="270"/>
            <ac:spMk id="3" creationId="{5B24DE6C-2FEE-E8A7-B71B-0AF3264C1398}"/>
          </ac:spMkLst>
        </pc:spChg>
      </pc:sldChg>
      <pc:sldChg chg="addSp delSp modSp mod">
        <pc:chgData name="泰弘 仲山" userId="857b4835f3abfbd8" providerId="LiveId" clId="{1719127F-B280-47D0-B899-2028F4F2809D}" dt="2025-09-29T16:37:55.832" v="52" actId="113"/>
        <pc:sldMkLst>
          <pc:docMk/>
          <pc:sldMk cId="3609960549" sldId="271"/>
        </pc:sldMkLst>
        <pc:spChg chg="del">
          <ac:chgData name="泰弘 仲山" userId="857b4835f3abfbd8" providerId="LiveId" clId="{1719127F-B280-47D0-B899-2028F4F2809D}" dt="2025-09-29T16:30:03.440" v="0" actId="478"/>
          <ac:spMkLst>
            <pc:docMk/>
            <pc:sldMk cId="3609960549" sldId="271"/>
            <ac:spMk id="3" creationId="{57DAA86F-8EF1-F448-E283-1CA3A144B652}"/>
          </ac:spMkLst>
        </pc:spChg>
        <pc:spChg chg="mod">
          <ac:chgData name="泰弘 仲山" userId="857b4835f3abfbd8" providerId="LiveId" clId="{1719127F-B280-47D0-B899-2028F4F2809D}" dt="2025-09-29T16:37:55.832" v="52" actId="113"/>
          <ac:spMkLst>
            <pc:docMk/>
            <pc:sldMk cId="3609960549" sldId="271"/>
            <ac:spMk id="4" creationId="{2EF393D7-FEEC-21E8-C761-5DCD1538AD8B}"/>
          </ac:spMkLst>
        </pc:spChg>
        <pc:spChg chg="mod">
          <ac:chgData name="泰弘 仲山" userId="857b4835f3abfbd8" providerId="LiveId" clId="{1719127F-B280-47D0-B899-2028F4F2809D}" dt="2025-09-29T16:34:07.878" v="30" actId="20577"/>
          <ac:spMkLst>
            <pc:docMk/>
            <pc:sldMk cId="3609960549" sldId="271"/>
            <ac:spMk id="5" creationId="{0E9237ED-AA9D-864C-FC34-D1035CD045CF}"/>
          </ac:spMkLst>
        </pc:spChg>
        <pc:spChg chg="add del mod">
          <ac:chgData name="泰弘 仲山" userId="857b4835f3abfbd8" providerId="LiveId" clId="{1719127F-B280-47D0-B899-2028F4F2809D}" dt="2025-09-29T16:30:05.128" v="1" actId="478"/>
          <ac:spMkLst>
            <pc:docMk/>
            <pc:sldMk cId="3609960549" sldId="271"/>
            <ac:spMk id="7" creationId="{8CE86E19-3B68-B265-1EC1-85321522C42B}"/>
          </ac:spMkLst>
        </pc:spChg>
        <pc:spChg chg="mod">
          <ac:chgData name="泰弘 仲山" userId="857b4835f3abfbd8" providerId="LiveId" clId="{1719127F-B280-47D0-B899-2028F4F2809D}" dt="2025-09-29T16:30:11.227" v="2" actId="1076"/>
          <ac:spMkLst>
            <pc:docMk/>
            <pc:sldMk cId="3609960549" sldId="271"/>
            <ac:spMk id="9" creationId="{55188BD7-3FCB-7A2C-26CC-EE5E3EFC71D4}"/>
          </ac:spMkLst>
        </pc:spChg>
      </pc:sldChg>
      <pc:sldChg chg="modSp mod">
        <pc:chgData name="泰弘 仲山" userId="857b4835f3abfbd8" providerId="LiveId" clId="{1719127F-B280-47D0-B899-2028F4F2809D}" dt="2025-09-29T16:35:53.350" v="38" actId="113"/>
        <pc:sldMkLst>
          <pc:docMk/>
          <pc:sldMk cId="3944248409" sldId="272"/>
        </pc:sldMkLst>
        <pc:spChg chg="mod">
          <ac:chgData name="泰弘 仲山" userId="857b4835f3abfbd8" providerId="LiveId" clId="{1719127F-B280-47D0-B899-2028F4F2809D}" dt="2025-09-29T16:35:53.350" v="38" actId="113"/>
          <ac:spMkLst>
            <pc:docMk/>
            <pc:sldMk cId="3944248409" sldId="272"/>
            <ac:spMk id="3" creationId="{85D7AF5F-A732-682A-E7A1-63CF2A71E63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46150-7024-A237-A494-20117C2E888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1202FEB-7908-D494-9953-0F1B73E796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9985A51-01FE-0D1E-129B-ACF29733063C}"/>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D8CDFC7D-CDBC-CD4C-3836-3731C09BD4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C7FEC0-C2F9-F53A-C0F6-CAD9F531E98F}"/>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76510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AB005-A50F-0F97-26A7-EB1935FD01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10DA353-11B9-B79A-2D80-66C4BCF773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73FFCA-33C0-316C-A431-7F48598EBE3E}"/>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C8319489-9E3C-CF1D-16A2-6245CA7E90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DCF772-0CCF-84EF-ACDA-7E8FC6FC8ECF}"/>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066836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848DB-FC19-F6F2-9263-873F08B2C1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B37E65-7CDA-F9AA-46D3-3420756FCF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62DC345-3935-26E7-C3EB-72E8CACFFD21}"/>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37644EC6-5878-A7E1-CAA8-70DA4A0BBA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76FBEE-C633-3E27-B995-3D944C869A0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71355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1B10E6-D9D3-F486-799E-284C38DD420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00C0D2-7261-1C0A-49DE-632987C6CCA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7CDD066-F08B-091C-85F5-CCA2A61E637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BCF92A9-B1D6-512C-C62B-F39E2F170AD2}"/>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6" name="フッター プレースホルダー 5">
            <a:extLst>
              <a:ext uri="{FF2B5EF4-FFF2-40B4-BE49-F238E27FC236}">
                <a16:creationId xmlns:a16="http://schemas.microsoft.com/office/drawing/2014/main" id="{E29C255F-9BD5-7052-0718-E813DBC1A1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E5D367-E4C2-D201-78F7-24C3C2AC1935}"/>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93594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826E6-769C-1B04-140A-0F7D88E5F9D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D630D-552F-95F6-8896-150F08C2B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1C21F7A-C887-6188-0EC0-044C7472E89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A47D06F-E4F4-321B-1EC4-728FBD1E07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AB620A2-D40D-5592-3CA6-CB28402DDCF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11F0356-4C7F-BEB5-6666-4037A6081DF3}"/>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8" name="フッター プレースホルダー 7">
            <a:extLst>
              <a:ext uri="{FF2B5EF4-FFF2-40B4-BE49-F238E27FC236}">
                <a16:creationId xmlns:a16="http://schemas.microsoft.com/office/drawing/2014/main" id="{7E54B120-E238-2144-ED19-D0C23BA2DE2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8FB0EE5-C067-E881-FD06-C9F72B2B47C4}"/>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265334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B5F560-40FA-9559-5F86-57EF3FB66B0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9D839F0-6F36-E359-F252-6BE4B786CB80}"/>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4" name="フッター プレースホルダー 3">
            <a:extLst>
              <a:ext uri="{FF2B5EF4-FFF2-40B4-BE49-F238E27FC236}">
                <a16:creationId xmlns:a16="http://schemas.microsoft.com/office/drawing/2014/main" id="{B4FF57D4-7D9F-A28D-CE57-19B4D03A8C3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D07054E-3A01-C3E6-48B5-6C504C774A92}"/>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39407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699F7C-A5A0-56C7-5B77-B0605AA4CC39}"/>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3" name="フッター プレースホルダー 2">
            <a:extLst>
              <a:ext uri="{FF2B5EF4-FFF2-40B4-BE49-F238E27FC236}">
                <a16:creationId xmlns:a16="http://schemas.microsoft.com/office/drawing/2014/main" id="{536D66A3-05E8-06C6-345A-EB1023F00ED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A490283-0B2F-05BE-93E0-35DC8BE485D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63186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467C94-7B3C-617D-BAB8-AA2DCA4666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0140C6-79EA-A6F7-5307-AB87446F82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34427D6-C773-F586-66D8-9F605FBB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1672B41-A27D-6343-4BDB-22C509D114BB}"/>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6" name="フッター プレースホルダー 5">
            <a:extLst>
              <a:ext uri="{FF2B5EF4-FFF2-40B4-BE49-F238E27FC236}">
                <a16:creationId xmlns:a16="http://schemas.microsoft.com/office/drawing/2014/main" id="{9977F93E-C55C-0D7F-7C2B-2CBF99C8398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3171B6F-FBB0-A351-34D8-5214DCBF44FE}"/>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97821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F8E91B-0792-5E17-F35E-602474E05FA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30D1473-9863-6F21-C0A5-C29B2D720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0460E25-C9C9-DF34-A413-1DA67FE1C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E8B398F-23A4-B33D-DC86-FC499D5757C3}"/>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6" name="フッター プレースホルダー 5">
            <a:extLst>
              <a:ext uri="{FF2B5EF4-FFF2-40B4-BE49-F238E27FC236}">
                <a16:creationId xmlns:a16="http://schemas.microsoft.com/office/drawing/2014/main" id="{09D2BAD3-3A1B-0276-4771-2AC92806D44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B56D2E-6026-9E4A-FC1C-4F0C9AAB52DC}"/>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752616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A8C847-D4D5-00E9-6E55-C599E9F8C00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4A8FDD1-8D89-1FE9-B77C-064B347900A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997E92-4F64-C899-B58B-7F7B8B08D6EF}"/>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27FD953D-838B-B507-9C81-DC5D565B09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BF5B0F-39D1-7FDB-F3DD-D158F5BD8A22}"/>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3012330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C0B2519-F3B9-F493-CA6F-E27B95489FC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975ECA5-D8F2-F75B-9D51-6513C88DFBA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6327A5-4357-BA6C-BE70-84AACB618376}"/>
              </a:ext>
            </a:extLst>
          </p:cNvPr>
          <p:cNvSpPr>
            <a:spLocks noGrp="1"/>
          </p:cNvSpPr>
          <p:nvPr>
            <p:ph type="dt" sz="half" idx="10"/>
          </p:nvPr>
        </p:nvSpPr>
        <p:spPr/>
        <p:txBody>
          <a:bodyPr/>
          <a:lstStyle/>
          <a:p>
            <a:fld id="{762A811F-0634-4C16-AFC8-ADA08BBDD964}"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57588722-DF81-CA8B-FE71-0C9BD740122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E37F6D-BDB9-E2D3-B584-DAF98C68A05A}"/>
              </a:ext>
            </a:extLst>
          </p:cNvPr>
          <p:cNvSpPr>
            <a:spLocks noGrp="1"/>
          </p:cNvSpPr>
          <p:nvPr>
            <p:ph type="sldNum" sz="quarter" idx="12"/>
          </p:nvPr>
        </p:nvSpPr>
        <p:spPr/>
        <p:txBody>
          <a:body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1349680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75611D3-A636-2594-D405-A35A90EE93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14936B-63BE-D0B6-F9C1-1F7D84ED8D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BAD8F0-A59C-BCD2-2A3F-936D9005AF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2A811F-0634-4C16-AFC8-ADA08BBDD964}" type="datetimeFigureOut">
              <a:rPr kumimoji="1" lang="ja-JP" altLang="en-US" smtClean="0"/>
              <a:t>2025/9/30</a:t>
            </a:fld>
            <a:endParaRPr kumimoji="1" lang="ja-JP" altLang="en-US"/>
          </a:p>
        </p:txBody>
      </p:sp>
      <p:sp>
        <p:nvSpPr>
          <p:cNvPr id="5" name="フッター プレースホルダー 4">
            <a:extLst>
              <a:ext uri="{FF2B5EF4-FFF2-40B4-BE49-F238E27FC236}">
                <a16:creationId xmlns:a16="http://schemas.microsoft.com/office/drawing/2014/main" id="{03BA694E-6423-6DF7-670F-2FB53A2B7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DB88FD3-A3A7-E199-71F2-7259D0FD57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F96885-ED49-4AB1-AEB5-9CC60EE17492}" type="slidenum">
              <a:rPr kumimoji="1" lang="ja-JP" altLang="en-US" smtClean="0"/>
              <a:t>‹#›</a:t>
            </a:fld>
            <a:endParaRPr kumimoji="1" lang="ja-JP" altLang="en-US"/>
          </a:p>
        </p:txBody>
      </p:sp>
    </p:spTree>
    <p:extLst>
      <p:ext uri="{BB962C8B-B14F-4D97-AF65-F5344CB8AC3E}">
        <p14:creationId xmlns:p14="http://schemas.microsoft.com/office/powerpoint/2010/main" val="2219986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ldmansachs.com/insights/goldman-sachs-exchanges/03-28-2023-cohen-lee" TargetMode="External"/><Relationship Id="rId2" Type="http://schemas.openxmlformats.org/officeDocument/2006/relationships/hyperlink" Target="https://www.wealthmanagement.com/ria-news/goldman-sachs-bets-on-trading-and-investment-power-to-lure-rias" TargetMode="External"/><Relationship Id="rId1" Type="http://schemas.openxmlformats.org/officeDocument/2006/relationships/slideLayout" Target="../slideLayouts/slideLayout2.xml"/><Relationship Id="rId4" Type="http://schemas.openxmlformats.org/officeDocument/2006/relationships/hyperlink" Target="https://www.finextra.com/newsarticle/45684/goldman-adopts-measured-approach-to-roll-out-of-ai#:~:text=use%20agentic%20AI"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am.gs.com/en-us/advisors/insights/article/2024/harnessing-the-power-of-ai-to-enhance-investment-decision-making#:~:text=detect%20these%20themes%20systematically%20in,million%20patents%20globally%20per%20year" TargetMode="External"/><Relationship Id="rId2" Type="http://schemas.openxmlformats.org/officeDocument/2006/relationships/hyperlink" Target="https://am.gs.com/en-dk/institutions/insights/article/2025/AI-education-private-equity" TargetMode="External"/><Relationship Id="rId1" Type="http://schemas.openxmlformats.org/officeDocument/2006/relationships/slideLayout" Target="../slideLayouts/slideLayout2.xml"/><Relationship Id="rId4" Type="http://schemas.openxmlformats.org/officeDocument/2006/relationships/hyperlink" Target="https://am.gs.com/en-us/advisors/insights/article/2024/harnessing-the-power-of-ai-to-enhance-investment-decision-making#:~:text=While%20traditional%20methods%20of%20analysis,web%20that%20would%20be%20impacted"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marquee.gs.com/welcome/news/in-the-media#:~:text=Goldman%20Sachs%20expands%20options%20visualization,to%20include%20equities%20and%20crypto" TargetMode="External"/><Relationship Id="rId2" Type="http://schemas.openxmlformats.org/officeDocument/2006/relationships/hyperlink" Target="https://marquee.gs.com/welcome/our-platform/data-servic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ldmansachs.com/pressroom/press-releases/2021/goldman-sachs-aws-announcement-30-nov-2021" TargetMode="External"/><Relationship Id="rId2" Type="http://schemas.openxmlformats.org/officeDocument/2006/relationships/hyperlink" Target="https://edworking.com/news/startups/goldman-sachs-python-toolkit-for-quantitative-finance" TargetMode="External"/><Relationship Id="rId1" Type="http://schemas.openxmlformats.org/officeDocument/2006/relationships/slideLayout" Target="../slideLayouts/slideLayout2.xml"/><Relationship Id="rId5" Type="http://schemas.openxmlformats.org/officeDocument/2006/relationships/hyperlink" Target="https://www.finos.org/press/goldman-sachs-open-sources-its-data-modeling-platform-through-finos#:~:text=Today%E2%80%99s%20launch%20comes%20on%20the,build%20extensions%20to%20the%20Common" TargetMode="External"/><Relationship Id="rId4" Type="http://schemas.openxmlformats.org/officeDocument/2006/relationships/hyperlink" Target="https://www.goldmansachs.com/what-we-do/ficc-and-equities/gset-equiti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oldmansachs.com/careers/blog/possibilities-quantum-computing" TargetMode="External"/><Relationship Id="rId2" Type="http://schemas.openxmlformats.org/officeDocument/2006/relationships/hyperlink" Target="https://www.reuters.com/article/us-goldman-sachs-h20-ai/goldman-sachs-chinas-ping-an-back-artificial-intelligence-firm-h20ai-idUSKCN1VA1S7/#:~:text=At%20a%20bank%20like%20Goldman,processes%20related%20to%20bond%20pricing" TargetMode="External"/><Relationship Id="rId1" Type="http://schemas.openxmlformats.org/officeDocument/2006/relationships/slideLayout" Target="../slideLayouts/slideLayout2.xml"/><Relationship Id="rId5" Type="http://schemas.openxmlformats.org/officeDocument/2006/relationships/hyperlink" Target="https://fif.com/index.php?option=com_content&amp;view=article&amp;id=23537&amp;catid=78&amp;Itemid=1749#:~:text=Goldman%20Sachs%20launched%20GS%20DAP%2C,and%20first%20using%20private%20blockchain" TargetMode="External"/><Relationship Id="rId4" Type="http://schemas.openxmlformats.org/officeDocument/2006/relationships/hyperlink" Target="https://medium.com/@deltorobarba/how-quantum-computing-could-accelerate-finance-and-economics-80555e80f76b"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businessinsider.com/wall-street-goldman-jpmorgan-bridgewater-using-ai-2023-12#:~:text=%2A%20AI%20is%20doing%2095,prospectus%2C%20Goldman%20Sachs%20CEO%20says" TargetMode="External"/><Relationship Id="rId2" Type="http://schemas.openxmlformats.org/officeDocument/2006/relationships/hyperlink" Target="https://www.reuters.com/business/goldman-sachs-launches-ai-assistant-firmwide-memo-shows-2025-06-23/#:~:text=June%2023%20%28Reuters%29%20,internal%20memo%20seen%20by%20Reuters" TargetMode="External"/><Relationship Id="rId1" Type="http://schemas.openxmlformats.org/officeDocument/2006/relationships/slideLayout" Target="../slideLayouts/slideLayout2.xml"/><Relationship Id="rId5" Type="http://schemas.openxmlformats.org/officeDocument/2006/relationships/hyperlink" Target="https://www.finextra.com/newsarticle/45684/goldman-adopts-measured-approach-to-roll-out-of-ai#:~:text=Roughly%20one%20out%20of%20every,most%20creative%20uses%20of%20AI" TargetMode="External"/><Relationship Id="rId4" Type="http://schemas.openxmlformats.org/officeDocument/2006/relationships/hyperlink" Target="https://www.pymnts.com/news/artificial-intelligence/2025/goldman-sachs-expands-availability-ai-assistant-across-firm/#:~:text=It%20was%20reported%20in%20January,its%20knowledge%20workers%20this%20yea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chatgpt.com/c/68cf5b4e-fbb8-8323-be3c-d4ed8888f729" TargetMode="External"/><Relationship Id="rId2" Type="http://schemas.openxmlformats.org/officeDocument/2006/relationships/hyperlink" Target="https://www.goldmansachs.com/pressroom/press-releases/2024/mit-ibm-watson-ai-lab" TargetMode="External"/><Relationship Id="rId1" Type="http://schemas.openxmlformats.org/officeDocument/2006/relationships/slideLayout" Target="../slideLayouts/slideLayout2.xml"/><Relationship Id="rId4" Type="http://schemas.openxmlformats.org/officeDocument/2006/relationships/hyperlink" Target="https://www.goldmansachs.com/insights/articles/what-to-expect-from-ai-in-2025-hybrid-workers-robotics-expert-mode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9AB6-FBCC-3C6F-C358-EE33E3F0DC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BD7DF4-B57C-B874-B2A8-FB60D397F9C7}"/>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kumimoji="1" lang="en-US" altLang="ja-JP" sz="1600" b="1" dirty="0">
                <a:latin typeface="Meiryo UI" panose="020B0604030504040204" pitchFamily="50" charset="-128"/>
                <a:ea typeface="Meiryo UI" panose="020B0604030504040204" pitchFamily="50" charset="-128"/>
              </a:rPr>
              <a:t>AI/Data/Data Science</a:t>
            </a:r>
            <a:r>
              <a:rPr kumimoji="1" lang="ja-JP" altLang="en-US" sz="1600" b="1" dirty="0">
                <a:latin typeface="Meiryo UI" panose="020B0604030504040204" pitchFamily="50" charset="-128"/>
                <a:ea typeface="Meiryo UI" panose="020B0604030504040204" pitchFamily="50" charset="-128"/>
              </a:rPr>
              <a:t>に関する組織</a:t>
            </a:r>
          </a:p>
        </p:txBody>
      </p:sp>
      <p:sp>
        <p:nvSpPr>
          <p:cNvPr id="3" name="コンテンツ プレースホルダー 2">
            <a:extLst>
              <a:ext uri="{FF2B5EF4-FFF2-40B4-BE49-F238E27FC236}">
                <a16:creationId xmlns:a16="http://schemas.microsoft.com/office/drawing/2014/main" id="{48D0B4B0-0652-07C2-B47B-38517004A203}"/>
              </a:ext>
            </a:extLst>
          </p:cNvPr>
          <p:cNvSpPr>
            <a:spLocks noGrp="1"/>
          </p:cNvSpPr>
          <p:nvPr>
            <p:ph idx="1"/>
          </p:nvPr>
        </p:nvSpPr>
        <p:spPr>
          <a:xfrm>
            <a:off x="197875" y="847204"/>
            <a:ext cx="11796250" cy="1587883"/>
          </a:xfrm>
          <a:ln>
            <a:solidFill>
              <a:schemeClr val="tx1"/>
            </a:solidFill>
          </a:ln>
        </p:spPr>
        <p:txBody>
          <a:bodyPr>
            <a:normAutofit/>
          </a:bodyPr>
          <a:lstStyle/>
          <a:p>
            <a:r>
              <a:rPr lang="ja-JP" altLang="en-US" sz="1200" b="1" u="sng" dirty="0">
                <a:latin typeface="Meiryo UI" panose="020B0604030504040204" pitchFamily="50" charset="-128"/>
                <a:ea typeface="Meiryo UI" panose="020B0604030504040204" pitchFamily="50" charset="-128"/>
              </a:rPr>
              <a:t>テクノロジー戦略は、全社の中核に位置づけられたエンジニアリング部門によって推進</a:t>
            </a:r>
          </a:p>
          <a:p>
            <a:r>
              <a:rPr lang="en-US" altLang="ja-JP" sz="1200" dirty="0">
                <a:latin typeface="Meiryo UI" panose="020B0604030504040204" pitchFamily="50" charset="-128"/>
                <a:ea typeface="Meiryo UI" panose="020B0604030504040204" pitchFamily="50" charset="-128"/>
              </a:rPr>
              <a:t>NY</a:t>
            </a:r>
            <a:r>
              <a:rPr lang="ja-JP" altLang="en-US" sz="1200" dirty="0">
                <a:latin typeface="Meiryo UI" panose="020B0604030504040204" pitchFamily="50" charset="-128"/>
                <a:ea typeface="Meiryo UI" panose="020B0604030504040204" pitchFamily="50" charset="-128"/>
              </a:rPr>
              <a:t>のグローバル本社に加え、戦略的なテクノロジーハブをグローバルに配置</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全従業員の約４分の１（</a:t>
            </a:r>
            <a:r>
              <a:rPr lang="en-US" altLang="ja-JP" sz="1200" dirty="0">
                <a:latin typeface="Meiryo UI" panose="020B0604030504040204" pitchFamily="50" charset="-128"/>
                <a:ea typeface="Meiryo UI" panose="020B0604030504040204" pitchFamily="50" charset="-128"/>
              </a:rPr>
              <a:t>1</a:t>
            </a:r>
            <a:r>
              <a:rPr lang="ja-JP" altLang="en-US" sz="1200" dirty="0">
                <a:latin typeface="Meiryo UI" panose="020B0604030504040204" pitchFamily="50" charset="-128"/>
                <a:ea typeface="Meiryo UI" panose="020B0604030504040204" pitchFamily="50" charset="-128"/>
              </a:rPr>
              <a:t>万人超）がエンジニア職　</a:t>
            </a:r>
            <a:endParaRPr lang="en-US" altLang="ja-JP" sz="1200" dirty="0">
              <a:latin typeface="Meiryo UI" panose="020B0604030504040204" pitchFamily="50" charset="-128"/>
              <a:ea typeface="Meiryo UI" panose="020B0604030504040204" pitchFamily="50" charset="-128"/>
            </a:endParaRPr>
          </a:p>
          <a:p>
            <a:pPr marL="457200" lvl="1"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https://www.wealthmanagement.com/ria-news/goldman-sachs-bets-on-trading-and-investment-power-to-lure-rias</a:t>
            </a:r>
            <a:endParaRPr lang="en-US" altLang="ja-JP" sz="1200"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NY</a:t>
            </a:r>
            <a:r>
              <a:rPr lang="ja-JP" altLang="en-US" sz="1200" dirty="0">
                <a:latin typeface="Meiryo UI" panose="020B0604030504040204" pitchFamily="50" charset="-128"/>
                <a:ea typeface="Meiryo UI" panose="020B0604030504040204" pitchFamily="50" charset="-128"/>
              </a:rPr>
              <a:t>やロンドンを中心に、世界各地に大規模なテクノロジー拠点を構えている</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エンジニアは投資銀行内のトレーディングから資産運用、リスク管理、消費者金融部門に至るまで横断的に存在し、先端テクノロジーの開発・導入を推進</a:t>
            </a: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401C29DD-27FD-EBB5-28CF-393B47760161}"/>
              </a:ext>
            </a:extLst>
          </p:cNvPr>
          <p:cNvSpPr txBox="1">
            <a:spLocks/>
          </p:cNvSpPr>
          <p:nvPr/>
        </p:nvSpPr>
        <p:spPr>
          <a:xfrm>
            <a:off x="186813" y="2609799"/>
            <a:ext cx="11796250" cy="397984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b="1" u="sng" dirty="0">
                <a:latin typeface="Meiryo UI" panose="020B0604030504040204" pitchFamily="50" charset="-128"/>
                <a:ea typeface="Meiryo UI" panose="020B0604030504040204" pitchFamily="50" charset="-128"/>
              </a:rPr>
              <a:t>エンジニアリング部門</a:t>
            </a:r>
            <a:endParaRPr lang="en-US" altLang="ja-JP" sz="1200" b="1" u="sng"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役割</a:t>
            </a:r>
            <a:endParaRPr lang="en-US" altLang="ja-JP" sz="1200" dirty="0">
              <a:latin typeface="Meiryo UI" panose="020B0604030504040204" pitchFamily="50" charset="-128"/>
              <a:ea typeface="Meiryo UI" panose="020B0604030504040204" pitchFamily="50" charset="-128"/>
            </a:endParaRPr>
          </a:p>
          <a:p>
            <a:pPr lvl="2"/>
            <a:r>
              <a:rPr lang="ja-JP" altLang="en-US" sz="1200" dirty="0">
                <a:latin typeface="Meiryo UI" panose="020B0604030504040204" pitchFamily="50" charset="-128"/>
                <a:ea typeface="Meiryo UI" panose="020B0604030504040204" pitchFamily="50" charset="-128"/>
              </a:rPr>
              <a:t>大規模でスケーラブルなソフトウェアやシステムの構築、低遅延インフラ、サイバーセキュリティ</a:t>
            </a:r>
            <a:endParaRPr lang="en-US" altLang="ja-JP" sz="1200" dirty="0">
              <a:latin typeface="Meiryo UI" panose="020B0604030504040204" pitchFamily="50" charset="-128"/>
              <a:ea typeface="Meiryo UI" panose="020B0604030504040204" pitchFamily="50" charset="-128"/>
            </a:endParaRPr>
          </a:p>
          <a:p>
            <a:pPr lvl="2"/>
            <a:r>
              <a:rPr lang="ja-JP" altLang="en-US" sz="1200" dirty="0">
                <a:latin typeface="Meiryo UI" panose="020B0604030504040204" pitchFamily="50" charset="-128"/>
                <a:ea typeface="Meiryo UI" panose="020B0604030504040204" pitchFamily="50" charset="-128"/>
              </a:rPr>
              <a:t>機械学習と金融工学を組み合わせて、データを具体的なアクションへと継続的に転換</a:t>
            </a:r>
            <a:endParaRPr lang="en-US" altLang="ja-JP" sz="1200"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チーム</a:t>
            </a:r>
            <a:endParaRPr lang="en-US" altLang="ja-JP" sz="1200" dirty="0">
              <a:latin typeface="Meiryo UI" panose="020B0604030504040204" pitchFamily="50" charset="-128"/>
              <a:ea typeface="Meiryo UI" panose="020B0604030504040204" pitchFamily="50" charset="-128"/>
            </a:endParaRPr>
          </a:p>
          <a:p>
            <a:pPr lvl="2"/>
            <a:r>
              <a:rPr lang="ja-JP" altLang="en-US" sz="1200" b="1" u="sng" dirty="0">
                <a:latin typeface="Meiryo UI" panose="020B0604030504040204" pitchFamily="50" charset="-128"/>
                <a:ea typeface="Meiryo UI" panose="020B0604030504040204" pitchFamily="50" charset="-128"/>
              </a:rPr>
              <a:t>エンベッド</a:t>
            </a:r>
            <a:r>
              <a:rPr lang="en-US" altLang="ja-JP" sz="1200" b="1" u="sng" dirty="0">
                <a:latin typeface="Meiryo UI" panose="020B0604030504040204" pitchFamily="50" charset="-128"/>
                <a:ea typeface="Meiryo UI" panose="020B0604030504040204" pitchFamily="50" charset="-128"/>
              </a:rPr>
              <a:t>(</a:t>
            </a:r>
            <a:r>
              <a:rPr lang="ja-JP" altLang="en-US" sz="1200" b="1" u="sng" dirty="0">
                <a:latin typeface="Meiryo UI" panose="020B0604030504040204" pitchFamily="50" charset="-128"/>
                <a:ea typeface="Meiryo UI" panose="020B0604030504040204" pitchFamily="50" charset="-128"/>
              </a:rPr>
              <a:t>組込型</a:t>
            </a:r>
            <a:r>
              <a:rPr lang="en-US" altLang="ja-JP" sz="1200" b="1" u="sng" dirty="0">
                <a:latin typeface="Meiryo UI" panose="020B0604030504040204" pitchFamily="50" charset="-128"/>
                <a:ea typeface="Meiryo UI" panose="020B0604030504040204" pitchFamily="50" charset="-128"/>
              </a:rPr>
              <a:t>)</a:t>
            </a:r>
            <a:r>
              <a:rPr lang="ja-JP" altLang="en-US" sz="1200" b="1" u="sng" dirty="0">
                <a:latin typeface="Meiryo UI" panose="020B0604030504040204" pitchFamily="50" charset="-128"/>
                <a:ea typeface="Meiryo UI" panose="020B0604030504040204" pitchFamily="50" charset="-128"/>
              </a:rPr>
              <a:t>チーム</a:t>
            </a:r>
            <a:endParaRPr lang="en-US" altLang="ja-JP" sz="1200" b="1" u="sng" dirty="0">
              <a:latin typeface="Meiryo UI" panose="020B0604030504040204" pitchFamily="50" charset="-128"/>
              <a:ea typeface="Meiryo UI" panose="020B0604030504040204" pitchFamily="50" charset="-128"/>
            </a:endParaRPr>
          </a:p>
          <a:p>
            <a:pPr lvl="3"/>
            <a:r>
              <a:rPr lang="ja-JP" altLang="en-US" sz="1200" dirty="0">
                <a:latin typeface="Meiryo UI" panose="020B0604030504040204" pitchFamily="50" charset="-128"/>
                <a:ea typeface="Meiryo UI" panose="020B0604030504040204" pitchFamily="50" charset="-128"/>
              </a:rPr>
              <a:t>事業部門（トレーディング、資産運用、バンキングなど）と直接協業</a:t>
            </a:r>
            <a:endParaRPr lang="en-US" altLang="ja-JP" sz="1200" dirty="0">
              <a:latin typeface="Meiryo UI" panose="020B0604030504040204" pitchFamily="50" charset="-128"/>
              <a:ea typeface="Meiryo UI" panose="020B0604030504040204" pitchFamily="50" charset="-128"/>
            </a:endParaRPr>
          </a:p>
          <a:p>
            <a:pPr lvl="2"/>
            <a:r>
              <a:rPr lang="ja-JP" altLang="en-US" sz="1200" b="1" u="sng" dirty="0">
                <a:latin typeface="Meiryo UI" panose="020B0604030504040204" pitchFamily="50" charset="-128"/>
                <a:ea typeface="Meiryo UI" panose="020B0604030504040204" pitchFamily="50" charset="-128"/>
              </a:rPr>
              <a:t>コア・エンジニアリング・チーム</a:t>
            </a:r>
            <a:endParaRPr lang="en-US" altLang="ja-JP" sz="1200" b="1" u="sng" dirty="0">
              <a:latin typeface="Meiryo UI" panose="020B0604030504040204" pitchFamily="50" charset="-128"/>
              <a:ea typeface="Meiryo UI" panose="020B0604030504040204" pitchFamily="50" charset="-128"/>
            </a:endParaRPr>
          </a:p>
          <a:p>
            <a:pPr lvl="3"/>
            <a:r>
              <a:rPr lang="ja-JP" altLang="en-US" sz="1200" dirty="0">
                <a:latin typeface="Meiryo UI" panose="020B0604030504040204" pitchFamily="50" charset="-128"/>
                <a:ea typeface="Meiryo UI" panose="020B0604030504040204" pitchFamily="50" charset="-128"/>
              </a:rPr>
              <a:t>データエンジニアリング、機械学習、ネットワーク、開発者ツール、クラウドソリューションなど、全事業の基盤となる信頼性とスケーラビリティの高いプラットフォームを提供</a:t>
            </a:r>
            <a:endParaRPr lang="en-US" altLang="ja-JP" sz="1200" dirty="0">
              <a:latin typeface="Meiryo UI" panose="020B0604030504040204" pitchFamily="50" charset="-128"/>
              <a:ea typeface="Meiryo UI" panose="020B0604030504040204" pitchFamily="50" charset="-128"/>
            </a:endParaRPr>
          </a:p>
          <a:p>
            <a:r>
              <a:rPr lang="ja-JP" altLang="en-US" sz="1200" b="1" u="sng" dirty="0">
                <a:latin typeface="Meiryo UI" panose="020B0604030504040204" pitchFamily="50" charset="-128"/>
                <a:ea typeface="Meiryo UI" panose="020B0604030504040204" pitchFamily="50" charset="-128"/>
              </a:rPr>
              <a:t>応用イノベーション部門</a:t>
            </a:r>
            <a:endParaRPr lang="en-US" altLang="ja-JP" sz="1200" b="1" u="sng" dirty="0">
              <a:latin typeface="Meiryo UI" panose="020B0604030504040204" pitchFamily="50" charset="-128"/>
              <a:ea typeface="Meiryo UI" panose="020B0604030504040204" pitchFamily="50" charset="-128"/>
            </a:endParaRPr>
          </a:p>
          <a:p>
            <a:pPr lvl="1"/>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年に設立された、テクノロジーや地政学がビジネスに与える影響を研究する部門。社内のイノベーション推進とクライアントへの先端技術アドバイザリーを担い、</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を含む新技術の活用戦略を主導。（テクノロジー分野出身のジョージ・リーと外交政策の専門家ジャレッド・コーエンが共同責任者に就任）</a:t>
            </a:r>
            <a:endParaRPr lang="en-US" altLang="ja-JP" sz="1200" dirty="0">
              <a:latin typeface="Meiryo UI" panose="020B0604030504040204" pitchFamily="50" charset="-128"/>
              <a:ea typeface="Meiryo UI" panose="020B0604030504040204" pitchFamily="50" charset="-128"/>
            </a:endParaRPr>
          </a:p>
          <a:p>
            <a:pPr marL="457200" lvl="1"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https://www.goldmansachs.com/insights/goldman-sachs-exchanges/03-28-2023-cohen-lee</a:t>
            </a:r>
            <a:endParaRPr lang="en-US" altLang="ja-JP" sz="1200" dirty="0">
              <a:latin typeface="Meiryo UI" panose="020B0604030504040204" pitchFamily="50" charset="-128"/>
              <a:ea typeface="Meiryo UI" panose="020B0604030504040204" pitchFamily="50" charset="-128"/>
            </a:endParaRPr>
          </a:p>
          <a:p>
            <a:r>
              <a:rPr lang="ja-JP" altLang="en-US" sz="1200" b="1" u="sng" dirty="0">
                <a:latin typeface="Meiryo UI" panose="020B0604030504040204" pitchFamily="50" charset="-128"/>
                <a:ea typeface="Meiryo UI" panose="020B0604030504040204" pitchFamily="50" charset="-128"/>
              </a:rPr>
              <a:t>機械学習クオンツチーム</a:t>
            </a:r>
            <a:endParaRPr lang="en-US" altLang="ja-JP" sz="1200" b="1" u="sng" dirty="0">
              <a:latin typeface="Meiryo UI" panose="020B0604030504040204" pitchFamily="50" charset="-128"/>
              <a:ea typeface="Meiryo UI" panose="020B0604030504040204" pitchFamily="50" charset="-128"/>
            </a:endParaRPr>
          </a:p>
          <a:p>
            <a:pPr lvl="1"/>
            <a:r>
              <a:rPr lang="ja-JP" altLang="en-US" sz="1200" dirty="0">
                <a:latin typeface="Meiryo UI" panose="020B0604030504040204" pitchFamily="50" charset="-128"/>
                <a:ea typeface="Meiryo UI" panose="020B0604030504040204" pitchFamily="50" charset="-128"/>
              </a:rPr>
              <a:t>トレーディング部門内に編成され、機械学習の専門家がアルゴリズム取引やリスク管理モデルの開発を推進。</a:t>
            </a:r>
            <a:endParaRPr lang="en-US" altLang="ja-JP" sz="1200" dirty="0">
              <a:latin typeface="Meiryo UI" panose="020B0604030504040204" pitchFamily="50" charset="-128"/>
              <a:ea typeface="Meiryo UI" panose="020B0604030504040204" pitchFamily="50" charset="-128"/>
            </a:endParaRPr>
          </a:p>
          <a:p>
            <a:pPr marL="457200" lvl="1"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https://www.finextra.com/newsarticle/45684/goldman-adopts-measured-approach-to-roll-out-of-ai#:~:text=use%20agentic%20AI</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7779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18B55-CFBF-46C3-08B5-AAA96720828F}"/>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415D50D2-25D8-713B-C7A0-7943DC2465BD}"/>
              </a:ext>
            </a:extLst>
          </p:cNvPr>
          <p:cNvSpPr txBox="1">
            <a:spLocks/>
          </p:cNvSpPr>
          <p:nvPr/>
        </p:nvSpPr>
        <p:spPr>
          <a:xfrm>
            <a:off x="186812" y="1209040"/>
            <a:ext cx="11818373" cy="456184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定量投資戦略チーム（</a:t>
            </a:r>
            <a:r>
              <a:rPr lang="en-US" altLang="ja-JP" sz="1200" b="1" u="sng" dirty="0">
                <a:latin typeface="Meiryo UI" panose="020B0604030504040204" pitchFamily="50" charset="-128"/>
                <a:ea typeface="Meiryo UI" panose="020B0604030504040204" pitchFamily="50" charset="-128"/>
              </a:rPr>
              <a:t>QIS</a:t>
            </a:r>
            <a:r>
              <a:rPr lang="ja-JP" altLang="en-US" sz="1200" b="1" u="sng" dirty="0">
                <a:latin typeface="Meiryo UI" panose="020B0604030504040204" pitchFamily="50" charset="-128"/>
                <a:ea typeface="Meiryo UI" panose="020B0604030504040204" pitchFamily="50" charset="-128"/>
              </a:rPr>
              <a:t>チーム）</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企業業績や市場の非構造データをアルファ創出に活用</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企業決算発表のテキストや音声データ解析を行い、経営者の発言内容・感情トーンから将来パフォーマンスを予測する手法を開発</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BERT</a:t>
            </a:r>
            <a:r>
              <a:rPr lang="ja-JP" altLang="en-US" sz="1200" dirty="0">
                <a:latin typeface="Meiryo UI" panose="020B0604030504040204" pitchFamily="50" charset="-128"/>
                <a:ea typeface="Meiryo UI" panose="020B0604030504040204" pitchFamily="50" charset="-128"/>
              </a:rPr>
              <a:t>など最新の自然言語処理モデルで決算コールの文字起こしから発言のポジティブ</a:t>
            </a: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ネガティブな感情スコアを算出し、さらに</a:t>
            </a:r>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年からは</a:t>
            </a:r>
            <a:r>
              <a:rPr lang="ja-JP" altLang="en-US" sz="1200" b="1" dirty="0">
                <a:latin typeface="Meiryo UI" panose="020B0604030504040204" pitchFamily="50" charset="-128"/>
                <a:ea typeface="Meiryo UI" panose="020B0604030504040204" pitchFamily="50" charset="-128"/>
              </a:rPr>
              <a:t>音声そのもの（声の抑揚や曖昧さ）をディープラーニングで分析して経営者の自信度合いや微妙なニュアンスを定量化</a:t>
            </a:r>
            <a:endParaRPr lang="en-US" altLang="ja-JP" sz="1200" b="1"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過去</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年以上に渡る</a:t>
            </a:r>
            <a:r>
              <a:rPr lang="en-US" altLang="ja-JP" sz="1200" b="1" dirty="0">
                <a:latin typeface="Meiryo UI" panose="020B0604030504040204" pitchFamily="50" charset="-128"/>
                <a:ea typeface="Meiryo UI" panose="020B0604030504040204" pitchFamily="50" charset="-128"/>
              </a:rPr>
              <a:t>40</a:t>
            </a:r>
            <a:r>
              <a:rPr lang="ja-JP" altLang="en-US" sz="1200" b="1" dirty="0">
                <a:latin typeface="Meiryo UI" panose="020B0604030504040204" pitchFamily="50" charset="-128"/>
                <a:ea typeface="Meiryo UI" panose="020B0604030504040204" pitchFamily="50" charset="-128"/>
              </a:rPr>
              <a:t>万時間以上の決算コール音源データを保持</a:t>
            </a:r>
            <a:r>
              <a:rPr lang="ja-JP" altLang="en-US" sz="1200" dirty="0">
                <a:latin typeface="Meiryo UI" panose="020B0604030504040204" pitchFamily="50" charset="-128"/>
                <a:ea typeface="Meiryo UI" panose="020B0604030504040204" pitchFamily="50" charset="-128"/>
              </a:rPr>
              <a:t>し、これら</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モデルで解析することで、人手では把握しきれないインサイトを大規模に投資判断に組み込んでいる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はあくまで人間の洞察を補完するツールとの位置づけで、経験豊富な投資プロフェッショナルが高品質な仮説を立て、それを</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で検証・実装するというプロセスを重視</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人間の創造力と機械学習のパワーの組み合わせにより、従来にはないアルファ源泉を発掘し、運用パフォーマンスの向上を図っている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https://am.gs.com/en-dk/institutions/insights/article/2025/AI-education-private-equity</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ニュース記事・アナリストレポート・特許 など年数千万件規模のテキストデータを自然言語処理で体系化し、企業をまたぐ</a:t>
            </a:r>
            <a:r>
              <a:rPr lang="ja-JP" altLang="en-US" sz="1200" b="1" dirty="0">
                <a:latin typeface="Meiryo UI" panose="020B0604030504040204" pitchFamily="50" charset="-128"/>
                <a:ea typeface="Meiryo UI" panose="020B0604030504040204" pitchFamily="50" charset="-128"/>
              </a:rPr>
              <a:t>テーマ・トレンド</a:t>
            </a:r>
            <a:r>
              <a:rPr lang="ja-JP" altLang="en-US" sz="1200" dirty="0">
                <a:latin typeface="Meiryo UI" panose="020B0604030504040204" pitchFamily="50" charset="-128"/>
                <a:ea typeface="Meiryo UI" panose="020B0604030504040204" pitchFamily="50" charset="-128"/>
              </a:rPr>
              <a:t>を機械学習で抽出</a:t>
            </a:r>
            <a:endParaRPr lang="en-US" altLang="ja-JP" sz="1200" dirty="0">
              <a:latin typeface="Meiryo UI" panose="020B0604030504040204" pitchFamily="50" charset="-128"/>
              <a:ea typeface="Meiryo UI" panose="020B0604030504040204" pitchFamily="50" charset="-128"/>
            </a:endParaRPr>
          </a:p>
          <a:p>
            <a:pPr marL="0" indent="0">
              <a:buNone/>
            </a:pPr>
            <a:r>
              <a:rPr lang="en-US" altLang="ja-JP"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https://am.gs.com/en-us/advisors/insights/article/2024/harnessing-the-power-of-ai-to-enhance-investment-decision-making#:~:text=detect%20these%20themes%20systematically%20in,million%20patents%20globally%20per%20year</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共通のテーマで結びつく企業群やセクター横断の</a:t>
            </a:r>
            <a:r>
              <a:rPr lang="ja-JP" altLang="en-US" sz="1200" b="1" dirty="0">
                <a:latin typeface="Meiryo UI" panose="020B0604030504040204" pitchFamily="50" charset="-128"/>
                <a:ea typeface="Meiryo UI" panose="020B0604030504040204" pitchFamily="50" charset="-128"/>
              </a:rPr>
              <a:t>リード・ラグ関係</a:t>
            </a:r>
            <a:r>
              <a:rPr lang="ja-JP" altLang="en-US" sz="1200" dirty="0">
                <a:latin typeface="Meiryo UI" panose="020B0604030504040204" pitchFamily="50" charset="-128"/>
                <a:ea typeface="Meiryo UI" panose="020B0604030504040204" pitchFamily="50" charset="-128"/>
              </a:rPr>
              <a:t>（株価の先行・遅行関係）を発見し、マーケットの価格形成メカニズムを深く洞察。「ニュース上で頻繁に一緒に言及される企業は経済的な繋がりが強く、投資家の反応が遅れると株価に先行・遅行が生まれる」という仮説に基づき、</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で数千銘柄の関連性ネットワークと波及効果を分析。これによりグローバルな大事件が特定企業群に与える一次・二次影響まで定量的に捉え、ポートフォリオ戦略へ反映させている。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https://am.gs.com/en-us/advisors/insights/article/2024/harnessing-the-power-of-ai-to-enhance-investment-decision-making#:~:text=While%20traditional%20methods%20of%20analysis,web%20that%20would%20be%20impacted</a:t>
            </a:r>
            <a:endParaRPr lang="en-US" altLang="ja-JP" sz="1200" dirty="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p:txBody>
      </p:sp>
      <p:sp>
        <p:nvSpPr>
          <p:cNvPr id="11" name="タイトル 1">
            <a:extLst>
              <a:ext uri="{FF2B5EF4-FFF2-40B4-BE49-F238E27FC236}">
                <a16:creationId xmlns:a16="http://schemas.microsoft.com/office/drawing/2014/main" id="{D2002270-9E3E-C568-97AE-22663E01FCF7}"/>
              </a:ext>
            </a:extLst>
          </p:cNvPr>
          <p:cNvSpPr txBox="1">
            <a:spLocks/>
          </p:cNvSpPr>
          <p:nvPr/>
        </p:nvSpPr>
        <p:spPr>
          <a:xfrm>
            <a:off x="95373" y="175102"/>
            <a:ext cx="11680721" cy="45856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b="1" dirty="0">
                <a:latin typeface="Meiryo UI" panose="020B0604030504040204" pitchFamily="50" charset="-128"/>
                <a:ea typeface="Meiryo UI" panose="020B0604030504040204" pitchFamily="50" charset="-128"/>
              </a:rPr>
              <a:t>【</a:t>
            </a:r>
            <a:r>
              <a:rPr lang="ja-JP" altLang="en-US" sz="1600" b="1" dirty="0">
                <a:latin typeface="Meiryo UI" panose="020B0604030504040204" pitchFamily="50" charset="-128"/>
                <a:ea typeface="Meiryo UI" panose="020B0604030504040204" pitchFamily="50" charset="-128"/>
              </a:rPr>
              <a:t>リサーチ</a:t>
            </a:r>
            <a:r>
              <a:rPr lang="en-US" altLang="ja-JP" sz="1600" b="1" dirty="0">
                <a:latin typeface="Meiryo UI" panose="020B0604030504040204" pitchFamily="50" charset="-128"/>
                <a:ea typeface="Meiryo UI" panose="020B0604030504040204" pitchFamily="50" charset="-128"/>
              </a:rPr>
              <a:t>】Goldman Sachs</a:t>
            </a:r>
            <a:r>
              <a:rPr lang="ja-JP" altLang="en-US" sz="1600" b="1" dirty="0">
                <a:latin typeface="Meiryo UI" panose="020B0604030504040204" pitchFamily="50" charset="-128"/>
                <a:ea typeface="Meiryo UI" panose="020B0604030504040204" pitchFamily="50" charset="-128"/>
              </a:rPr>
              <a:t> </a:t>
            </a:r>
            <a:r>
              <a:rPr lang="en-US" altLang="ja-JP" sz="1600" b="1" dirty="0">
                <a:latin typeface="Meiryo UI" panose="020B0604030504040204" pitchFamily="50" charset="-128"/>
                <a:ea typeface="Meiryo UI" panose="020B0604030504040204" pitchFamily="50" charset="-128"/>
              </a:rPr>
              <a:t>Asset Management(GSAM)</a:t>
            </a:r>
            <a:r>
              <a:rPr lang="ja-JP" altLang="en-US" sz="1600" b="1" dirty="0">
                <a:latin typeface="Meiryo UI" panose="020B0604030504040204" pitchFamily="50" charset="-128"/>
                <a:ea typeface="Meiryo UI" panose="020B0604030504040204" pitchFamily="50" charset="-128"/>
              </a:rPr>
              <a:t>のマーケッツ領域に関連する</a:t>
            </a:r>
            <a:r>
              <a:rPr lang="en-US" altLang="ja-JP" sz="1600" b="1" dirty="0">
                <a:latin typeface="Meiryo UI" panose="020B0604030504040204" pitchFamily="50" charset="-128"/>
                <a:ea typeface="Meiryo UI" panose="020B0604030504040204" pitchFamily="50" charset="-128"/>
              </a:rPr>
              <a:t>AI/Data/Data Science</a:t>
            </a:r>
            <a:r>
              <a:rPr lang="ja-JP" altLang="en-US" sz="1600" b="1" dirty="0">
                <a:latin typeface="Meiryo UI" panose="020B0604030504040204" pitchFamily="50" charset="-128"/>
                <a:ea typeface="Meiryo UI" panose="020B0604030504040204" pitchFamily="50" charset="-128"/>
              </a:rPr>
              <a:t>に関する取り組み</a:t>
            </a:r>
          </a:p>
        </p:txBody>
      </p:sp>
      <p:sp>
        <p:nvSpPr>
          <p:cNvPr id="8" name="コンテンツ プレースホルダー 2">
            <a:extLst>
              <a:ext uri="{FF2B5EF4-FFF2-40B4-BE49-F238E27FC236}">
                <a16:creationId xmlns:a16="http://schemas.microsoft.com/office/drawing/2014/main" id="{670FE170-F076-C2F4-AD04-779C3AA91ECE}"/>
              </a:ext>
            </a:extLst>
          </p:cNvPr>
          <p:cNvSpPr txBox="1">
            <a:spLocks/>
          </p:cNvSpPr>
          <p:nvPr/>
        </p:nvSpPr>
        <p:spPr>
          <a:xfrm>
            <a:off x="218659" y="715117"/>
            <a:ext cx="11776587" cy="33136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a:latin typeface="Meiryo UI" panose="020B0604030504040204" pitchFamily="50" charset="-128"/>
                <a:ea typeface="Meiryo UI" panose="020B0604030504040204" pitchFamily="50" charset="-128"/>
              </a:rPr>
              <a:t>Goldman Sachs</a:t>
            </a:r>
            <a:r>
              <a:rPr lang="ja-JP" altLang="en-US" sz="1200" dirty="0">
                <a:latin typeface="Meiryo UI" panose="020B0604030504040204" pitchFamily="50" charset="-128"/>
                <a:ea typeface="Meiryo UI" panose="020B0604030504040204" pitchFamily="50" charset="-128"/>
              </a:rPr>
              <a:t>本体においては、マーケッツ領域に関する信憑性の高い取り組み事例が確認できなかったため、代わりに</a:t>
            </a:r>
            <a:r>
              <a:rPr lang="en-US" altLang="ja-JP" sz="1200" dirty="0">
                <a:latin typeface="Meiryo UI" panose="020B0604030504040204" pitchFamily="50" charset="-128"/>
                <a:ea typeface="Meiryo UI" panose="020B0604030504040204" pitchFamily="50" charset="-128"/>
              </a:rPr>
              <a:t>GSAM</a:t>
            </a:r>
            <a:r>
              <a:rPr lang="ja-JP" altLang="en-US" sz="1200" dirty="0">
                <a:latin typeface="Meiryo UI" panose="020B0604030504040204" pitchFamily="50" charset="-128"/>
                <a:ea typeface="Meiryo UI" panose="020B0604030504040204" pitchFamily="50" charset="-128"/>
              </a:rPr>
              <a:t>の事例を紹介</a:t>
            </a:r>
            <a:r>
              <a:rPr lang="en-US" altLang="ja-JP" sz="1200" dirty="0">
                <a:latin typeface="Meiryo UI" panose="020B0604030504040204" pitchFamily="50" charset="-128"/>
                <a:ea typeface="Meiryo UI" panose="020B0604030504040204" pitchFamily="50" charset="-128"/>
              </a:rPr>
              <a:t> </a:t>
            </a:r>
          </a:p>
        </p:txBody>
      </p:sp>
    </p:spTree>
    <p:extLst>
      <p:ext uri="{BB962C8B-B14F-4D97-AF65-F5344CB8AC3E}">
        <p14:creationId xmlns:p14="http://schemas.microsoft.com/office/powerpoint/2010/main" val="823954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11E8C-D9E3-35B7-01BC-EEDD5B68EE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3FE190-77E1-9642-EAEF-3C28625FE8E4}"/>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の外部提供を想定したもの</a:t>
            </a:r>
          </a:p>
        </p:txBody>
      </p:sp>
      <p:sp>
        <p:nvSpPr>
          <p:cNvPr id="3" name="コンテンツ プレースホルダー 2">
            <a:extLst>
              <a:ext uri="{FF2B5EF4-FFF2-40B4-BE49-F238E27FC236}">
                <a16:creationId xmlns:a16="http://schemas.microsoft.com/office/drawing/2014/main" id="{85D7AF5F-A732-682A-E7A1-63CF2A71E63A}"/>
              </a:ext>
            </a:extLst>
          </p:cNvPr>
          <p:cNvSpPr>
            <a:spLocks noGrp="1"/>
          </p:cNvSpPr>
          <p:nvPr>
            <p:ph idx="1"/>
          </p:nvPr>
        </p:nvSpPr>
        <p:spPr>
          <a:xfrm>
            <a:off x="186813" y="757085"/>
            <a:ext cx="11818374" cy="4769955"/>
          </a:xfrm>
          <a:ln>
            <a:solidFill>
              <a:schemeClr val="tx1"/>
            </a:solidFill>
          </a:ln>
        </p:spPr>
        <p:txBody>
          <a:bodyPr>
            <a:normAutofit/>
          </a:bodyPr>
          <a:lstStyle/>
          <a:p>
            <a:pPr marL="0" indent="0">
              <a:buNone/>
            </a:pPr>
            <a:r>
              <a:rPr lang="en-US" altLang="ja-JP" sz="1200" b="1" u="sng" dirty="0">
                <a:latin typeface="Meiryo UI" panose="020B0604030504040204" pitchFamily="50" charset="-128"/>
                <a:ea typeface="Meiryo UI" panose="020B0604030504040204" pitchFamily="50" charset="-128"/>
              </a:rPr>
              <a:t>Marquee</a:t>
            </a:r>
            <a:r>
              <a:rPr lang="ja-JP" altLang="en-US" sz="1200" b="1" u="sng" dirty="0">
                <a:latin typeface="Meiryo UI" panose="020B0604030504040204" pitchFamily="50" charset="-128"/>
                <a:ea typeface="Meiryo UI" panose="020B0604030504040204" pitchFamily="50" charset="-128"/>
              </a:rPr>
              <a:t>（マーキー）</a:t>
            </a:r>
            <a:endParaRPr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Marquee</a:t>
            </a:r>
            <a:r>
              <a:rPr kumimoji="1" lang="ja-JP" altLang="en-US" sz="1200" dirty="0">
                <a:latin typeface="Meiryo UI" panose="020B0604030504040204" pitchFamily="50" charset="-128"/>
                <a:ea typeface="Meiryo UI" panose="020B0604030504040204" pitchFamily="50" charset="-128"/>
              </a:rPr>
              <a:t>は機関投資家や法人向けに提供するデジタルプラットフォームで、月間</a:t>
            </a:r>
            <a:r>
              <a:rPr kumimoji="1" lang="en-US" altLang="ja-JP" sz="1200" dirty="0">
                <a:latin typeface="Meiryo UI" panose="020B0604030504040204" pitchFamily="50" charset="-128"/>
                <a:ea typeface="Meiryo UI" panose="020B0604030504040204" pitchFamily="50" charset="-128"/>
              </a:rPr>
              <a:t>7</a:t>
            </a:r>
            <a:r>
              <a:rPr kumimoji="1" lang="ja-JP" altLang="en-US" sz="1200" dirty="0">
                <a:latin typeface="Meiryo UI" panose="020B0604030504040204" pitchFamily="50" charset="-128"/>
                <a:ea typeface="Meiryo UI" panose="020B0604030504040204" pitchFamily="50" charset="-128"/>
              </a:rPr>
              <a:t>万以上のユーザーが利用している</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「ツールのエコシステム」として、ゴールドマン・サックスの最先端の知見、データ、分析、実行ツールへのアクセスを統合的に提供</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独自のデータにのみならず、</a:t>
            </a:r>
            <a:r>
              <a:rPr lang="ja-JP" altLang="en-US" sz="1200" dirty="0">
                <a:latin typeface="Meiryo UI" panose="020B0604030504040204" pitchFamily="50" charset="-128"/>
                <a:ea typeface="Meiryo UI" panose="020B0604030504040204" pitchFamily="50" charset="-128"/>
              </a:rPr>
              <a:t>サードパーティのデータセットも含め</a:t>
            </a:r>
            <a:r>
              <a:rPr lang="en-US" altLang="ja-JP" sz="1200" b="1" dirty="0">
                <a:latin typeface="Meiryo UI" panose="020B0604030504040204" pitchFamily="50" charset="-128"/>
                <a:ea typeface="Meiryo UI" panose="020B0604030504040204" pitchFamily="50" charset="-128"/>
              </a:rPr>
              <a:t>400</a:t>
            </a:r>
            <a:r>
              <a:rPr lang="ja-JP" altLang="en-US" sz="1200" b="1" dirty="0">
                <a:latin typeface="Meiryo UI" panose="020B0604030504040204" pitchFamily="50" charset="-128"/>
                <a:ea typeface="Meiryo UI" panose="020B0604030504040204" pitchFamily="50" charset="-128"/>
              </a:rPr>
              <a:t>以上の広範なデータセットを提供</a:t>
            </a:r>
            <a:r>
              <a:rPr lang="ja-JP" altLang="en-US" sz="1200" dirty="0">
                <a:latin typeface="Meiryo UI" panose="020B0604030504040204" pitchFamily="50" charset="-128"/>
                <a:ea typeface="Meiryo UI" panose="020B0604030504040204" pitchFamily="50" charset="-128"/>
              </a:rPr>
              <a:t>している。（利用課金モデルで販売することで、新たな収益源とし従来の投資銀行ビジネスを越えて 「データ＋テクノロジー企業」 への変貌を遂げつつある）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https://marquee.gs.com/welcome/our-platform/data-services</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分析ツール「</a:t>
            </a:r>
            <a:r>
              <a:rPr lang="en-US" altLang="ja-JP" sz="1200" dirty="0">
                <a:latin typeface="Meiryo UI" panose="020B0604030504040204" pitchFamily="50" charset="-128"/>
                <a:ea typeface="Meiryo UI" panose="020B0604030504040204" pitchFamily="50" charset="-128"/>
              </a:rPr>
              <a:t>Marquee MarketView</a:t>
            </a:r>
            <a:r>
              <a:rPr lang="ja-JP" altLang="en-US" sz="1200" dirty="0">
                <a:latin typeface="Meiryo UI" panose="020B0604030504040204" pitchFamily="50" charset="-128"/>
                <a:ea typeface="Meiryo UI" panose="020B0604030504040204" pitchFamily="50" charset="-128"/>
              </a:rPr>
              <a:t>」や「</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」といったデータ分析やバックテスト機能の他、「</a:t>
            </a:r>
            <a:r>
              <a:rPr lang="en-US" altLang="ja-JP" sz="1200" dirty="0">
                <a:latin typeface="Meiryo UI" panose="020B0604030504040204" pitchFamily="50" charset="-128"/>
                <a:ea typeface="Meiryo UI" panose="020B0604030504040204" pitchFamily="50" charset="-128"/>
              </a:rPr>
              <a:t>Marquee Trader</a:t>
            </a:r>
            <a:r>
              <a:rPr lang="ja-JP" altLang="en-US" sz="1200" dirty="0">
                <a:latin typeface="Meiryo UI" panose="020B0604030504040204" pitchFamily="50" charset="-128"/>
                <a:ea typeface="Meiryo UI" panose="020B0604030504040204" pitchFamily="50" charset="-128"/>
              </a:rPr>
              <a:t>」という機械学習を活用したデリバティブ商品の価格発見を迅速化する機能を提供している。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Marquee Trader</a:t>
            </a:r>
            <a:r>
              <a:rPr lang="ja-JP" altLang="en-US" sz="1200" dirty="0">
                <a:latin typeface="Meiryo UI" panose="020B0604030504040204" pitchFamily="50" charset="-128"/>
                <a:ea typeface="Meiryo UI" panose="020B0604030504040204" pitchFamily="50" charset="-128"/>
              </a:rPr>
              <a:t>」を通じてリアルタイムの市場データ分析、予測モデル、発注執行ツールを統合し、高頻度かつ自動的な取引判断を実現</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Visual Structuring</a:t>
            </a:r>
            <a:r>
              <a:rPr lang="ja-JP" altLang="en-US" sz="1200" dirty="0">
                <a:latin typeface="Meiryo UI" panose="020B0604030504040204" pitchFamily="50" charset="-128"/>
                <a:ea typeface="Meiryo UI" panose="020B0604030504040204" pitchFamily="50" charset="-128"/>
              </a:rPr>
              <a:t>」はオプション取引構築ツール。自然言語による入力を解析してデリバティブ取引の構造を提案・視覚化する機能を備えており、ユーザーはテキストベースで取引条件を指定するだけで、オプション戦略の様々なバリエーションを即座にプライシングでき、価格変動やリスク指標のシミュレーション結果がグラフ上に重ねて表示され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年にマクロ分析フィンテック企業</a:t>
            </a:r>
            <a:r>
              <a:rPr lang="en-US" altLang="ja-JP" sz="1200" dirty="0">
                <a:latin typeface="Meiryo UI" panose="020B0604030504040204" pitchFamily="50" charset="-128"/>
                <a:ea typeface="Meiryo UI" panose="020B0604030504040204" pitchFamily="50" charset="-128"/>
              </a:rPr>
              <a:t>Quant Insight</a:t>
            </a:r>
            <a:r>
              <a:rPr lang="ja-JP" altLang="en-US" sz="1200" dirty="0">
                <a:latin typeface="Meiryo UI" panose="020B0604030504040204" pitchFamily="50" charset="-128"/>
                <a:ea typeface="Meiryo UI" panose="020B0604030504040204" pitchFamily="50" charset="-128"/>
              </a:rPr>
              <a:t>社と提携し、同社の</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駆動マクロ経済分析を</a:t>
            </a:r>
            <a:r>
              <a:rPr lang="en-US" altLang="ja-JP" sz="1200" dirty="0">
                <a:latin typeface="Meiryo UI" panose="020B0604030504040204" pitchFamily="50" charset="-128"/>
                <a:ea typeface="Meiryo UI" panose="020B0604030504040204" pitchFamily="50" charset="-128"/>
              </a:rPr>
              <a:t>Marquee</a:t>
            </a:r>
            <a:r>
              <a:rPr lang="ja-JP" altLang="en-US" sz="1200" dirty="0">
                <a:latin typeface="Meiryo UI" panose="020B0604030504040204" pitchFamily="50" charset="-128"/>
                <a:ea typeface="Meiryo UI" panose="020B0604030504040204" pitchFamily="50" charset="-128"/>
              </a:rPr>
              <a:t>に統合。これにより利用者は</a:t>
            </a:r>
            <a:r>
              <a:rPr lang="ja-JP" altLang="en-US" sz="1200" b="1" dirty="0">
                <a:latin typeface="Meiryo UI" panose="020B0604030504040204" pitchFamily="50" charset="-128"/>
                <a:ea typeface="Meiryo UI" panose="020B0604030504040204" pitchFamily="50" charset="-128"/>
              </a:rPr>
              <a:t>ポートフォリオの</a:t>
            </a:r>
            <a:r>
              <a:rPr lang="en-US" altLang="ja-JP" sz="1200" b="1" dirty="0">
                <a:latin typeface="Meiryo UI" panose="020B0604030504040204" pitchFamily="50" charset="-128"/>
                <a:ea typeface="Meiryo UI" panose="020B0604030504040204" pitchFamily="50" charset="-128"/>
              </a:rPr>
              <a:t>GDP</a:t>
            </a:r>
            <a:r>
              <a:rPr lang="ja-JP" altLang="en-US" sz="1200" b="1" dirty="0">
                <a:latin typeface="Meiryo UI" panose="020B0604030504040204" pitchFamily="50" charset="-128"/>
                <a:ea typeface="Meiryo UI" panose="020B0604030504040204" pitchFamily="50" charset="-128"/>
              </a:rPr>
              <a:t>成長・インフレ感応度等を計測し、マーケットのマクロ要因を可視化する高度分析にもアクセス可能</a:t>
            </a:r>
            <a:r>
              <a:rPr lang="ja-JP" altLang="en-US" sz="1200" dirty="0">
                <a:latin typeface="Meiryo UI" panose="020B0604030504040204" pitchFamily="50" charset="-128"/>
                <a:ea typeface="Meiryo UI" panose="020B0604030504040204" pitchFamily="50" charset="-128"/>
              </a:rPr>
              <a:t>となった。</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https://marquee.gs.com/welcome/our-platform/data-services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2023</a:t>
            </a:r>
            <a:r>
              <a:rPr kumimoji="1" lang="ja-JP" altLang="en-US" sz="1200" dirty="0">
                <a:latin typeface="Meiryo UI" panose="020B0604030504040204" pitchFamily="50" charset="-128"/>
                <a:ea typeface="Meiryo UI" panose="020B0604030504040204" pitchFamily="50" charset="-128"/>
              </a:rPr>
              <a:t>年には、株式や仮想通貨（ビットコイン・イーサーリアム）のオプションにも対応範囲を拡大</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https://marquee.gs.com/welcome/news/in-the-media#:~:text=Goldman%20Sachs%20expands%20options%20visualization,to%20include%20equities%20and%20crypto</a:t>
            </a:r>
            <a:endParaRPr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ポートフォリオ分析エンジン、リスク指標算出、プライシングツール等が</a:t>
            </a:r>
            <a:r>
              <a:rPr kumimoji="1" lang="en-US" altLang="ja-JP" sz="1200" dirty="0">
                <a:latin typeface="Meiryo UI" panose="020B0604030504040204" pitchFamily="50" charset="-128"/>
                <a:ea typeface="Meiryo UI" panose="020B0604030504040204" pitchFamily="50" charset="-128"/>
              </a:rPr>
              <a:t>API</a:t>
            </a:r>
            <a:r>
              <a:rPr kumimoji="1" lang="ja-JP" altLang="en-US" sz="1200" dirty="0">
                <a:latin typeface="Meiryo UI" panose="020B0604030504040204" pitchFamily="50" charset="-128"/>
                <a:ea typeface="Meiryo UI" panose="020B0604030504040204" pitchFamily="50" charset="-128"/>
              </a:rPr>
              <a:t>で提供されており、ユーザーは自社ポートフォリオをアップロードして</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の計算リソースで分析するといった利用法が可能</a:t>
            </a:r>
            <a:endParaRPr kumimoji="1"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4248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D0D99-956A-DA86-F2DF-710CBD78D8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DC816A-0F12-CB92-6884-25CCB0D4A530}"/>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の外部提供を想定したもの</a:t>
            </a:r>
          </a:p>
        </p:txBody>
      </p:sp>
      <p:sp>
        <p:nvSpPr>
          <p:cNvPr id="4" name="コンテンツ プレースホルダー 2">
            <a:extLst>
              <a:ext uri="{FF2B5EF4-FFF2-40B4-BE49-F238E27FC236}">
                <a16:creationId xmlns:a16="http://schemas.microsoft.com/office/drawing/2014/main" id="{0E306C8F-F31C-17CF-1C21-7067C3DCBF06}"/>
              </a:ext>
            </a:extLst>
          </p:cNvPr>
          <p:cNvSpPr txBox="1">
            <a:spLocks/>
          </p:cNvSpPr>
          <p:nvPr/>
        </p:nvSpPr>
        <p:spPr>
          <a:xfrm>
            <a:off x="219076" y="734031"/>
            <a:ext cx="11765218" cy="202904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GS Quant</a:t>
            </a:r>
          </a:p>
          <a:p>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は</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の定量分析ノウハウを</a:t>
            </a:r>
            <a:r>
              <a:rPr lang="en-US" altLang="ja-JP" sz="1200" dirty="0">
                <a:latin typeface="Meiryo UI" panose="020B0604030504040204" pitchFamily="50" charset="-128"/>
                <a:ea typeface="Meiryo UI" panose="020B0604030504040204" pitchFamily="50" charset="-128"/>
              </a:rPr>
              <a:t>Python</a:t>
            </a:r>
            <a:r>
              <a:rPr lang="ja-JP" altLang="en-US" sz="1200" dirty="0">
                <a:latin typeface="Meiryo UI" panose="020B0604030504040204" pitchFamily="50" charset="-128"/>
                <a:ea typeface="Meiryo UI" panose="020B0604030504040204" pitchFamily="50" charset="-128"/>
              </a:rPr>
              <a:t>ライブラリとしてオープンソース化したもの。</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定量分析コミュニティをの協働を通じて技術的ブランド力と高め、イノベーションを加速することを目的としている。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強力な時系列データ処理やあらゆる資産クラスを網羅するプライシング機能を備え、ゴールドマンのグローバル市場業務で鍛えられたモデルやデータセットを活用できる。</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「自分たちが使うものをそのまま提供する」とのコンセプトで</a:t>
            </a:r>
            <a:r>
              <a:rPr lang="en-US" altLang="ja-JP" sz="1200" dirty="0">
                <a:latin typeface="Meiryo UI" panose="020B0604030504040204" pitchFamily="50" charset="-128"/>
                <a:ea typeface="Meiryo UI" panose="020B0604030504040204" pitchFamily="50" charset="-128"/>
              </a:rPr>
              <a:t>2019</a:t>
            </a:r>
            <a:r>
              <a:rPr lang="ja-JP" altLang="en-US" sz="1200" dirty="0">
                <a:latin typeface="Meiryo UI" panose="020B0604030504040204" pitchFamily="50" charset="-128"/>
                <a:ea typeface="Meiryo UI" panose="020B0604030504040204" pitchFamily="50" charset="-128"/>
              </a:rPr>
              <a:t>年頃に公開されて以降、オープンソースコミュニティでも注目を集めている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https://edworking.com/news/startups/goldman-sachs-python-toolkit-for-quantitative-finance</a:t>
            </a:r>
            <a:endParaRPr lang="en-US" altLang="ja-JP" sz="1200" dirty="0">
              <a:latin typeface="Meiryo UI" panose="020B0604030504040204" pitchFamily="50" charset="-128"/>
              <a:ea typeface="Meiryo UI" panose="020B0604030504040204" pitchFamily="50" charset="-128"/>
            </a:endParaRPr>
          </a:p>
          <a:p>
            <a:r>
              <a:rPr lang="en-US" altLang="ja-JP" sz="1200" b="1" dirty="0">
                <a:latin typeface="Meiryo UI" panose="020B0604030504040204" pitchFamily="50" charset="-128"/>
                <a:ea typeface="Meiryo UI" panose="020B0604030504040204" pitchFamily="50" charset="-128"/>
              </a:rPr>
              <a:t>Marquee</a:t>
            </a:r>
            <a:r>
              <a:rPr lang="ja-JP" altLang="en-US" sz="1200" b="1" dirty="0">
                <a:latin typeface="Meiryo UI" panose="020B0604030504040204" pitchFamily="50" charset="-128"/>
                <a:ea typeface="Meiryo UI" panose="020B0604030504040204" pitchFamily="50" charset="-128"/>
              </a:rPr>
              <a:t>で提供されている各種分析の一部も</a:t>
            </a:r>
            <a:r>
              <a:rPr lang="en-US" altLang="ja-JP" sz="1200" b="1" dirty="0">
                <a:latin typeface="Meiryo UI" panose="020B0604030504040204" pitchFamily="50" charset="-128"/>
                <a:ea typeface="Meiryo UI" panose="020B0604030504040204" pitchFamily="50" charset="-128"/>
              </a:rPr>
              <a:t>GS Quant</a:t>
            </a:r>
            <a:r>
              <a:rPr lang="ja-JP" altLang="en-US" sz="1200" b="1" dirty="0">
                <a:latin typeface="Meiryo UI" panose="020B0604030504040204" pitchFamily="50" charset="-128"/>
                <a:ea typeface="Meiryo UI" panose="020B0604030504040204" pitchFamily="50" charset="-128"/>
              </a:rPr>
              <a:t>を通じて利用可能</a:t>
            </a:r>
            <a:endParaRPr lang="en-US" altLang="ja-JP" sz="1200" b="1"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55F36758-8CB8-B096-B2DE-80B065116318}"/>
              </a:ext>
            </a:extLst>
          </p:cNvPr>
          <p:cNvSpPr txBox="1">
            <a:spLocks/>
          </p:cNvSpPr>
          <p:nvPr/>
        </p:nvSpPr>
        <p:spPr>
          <a:xfrm>
            <a:off x="219075" y="2900889"/>
            <a:ext cx="11776586" cy="181025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Goldman Sachs Financial Cloud for Data</a:t>
            </a:r>
          </a:p>
          <a:p>
            <a:r>
              <a:rPr lang="ja-JP" altLang="en-US" sz="1200" dirty="0">
                <a:latin typeface="Meiryo UI" panose="020B0604030504040204" pitchFamily="50" charset="-128"/>
                <a:ea typeface="Meiryo UI" panose="020B0604030504040204" pitchFamily="50" charset="-128"/>
              </a:rPr>
              <a:t>ヘッジファンドや資産運用会社など機関投資家向けに、ゴールドマンの持つ高機能なデータ管理・分析インフラを</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上で提供するもの</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社内で使われている高速タイムシリーズデータベースや解析エンジン、プロットツール（</a:t>
            </a:r>
            <a:r>
              <a:rPr lang="en-US" altLang="ja-JP" sz="1200" dirty="0" err="1">
                <a:latin typeface="Meiryo UI" panose="020B0604030504040204" pitchFamily="50" charset="-128"/>
                <a:ea typeface="Meiryo UI" panose="020B0604030504040204" pitchFamily="50" charset="-128"/>
              </a:rPr>
              <a:t>PlotTool</a:t>
            </a:r>
            <a:r>
              <a:rPr lang="en-US" altLang="ja-JP" sz="1200" dirty="0">
                <a:latin typeface="Meiryo UI" panose="020B0604030504040204" pitchFamily="50" charset="-128"/>
                <a:ea typeface="Meiryo UI" panose="020B0604030504040204" pitchFamily="50" charset="-128"/>
              </a:rPr>
              <a:t> Pro</a:t>
            </a:r>
            <a:r>
              <a:rPr lang="ja-JP" altLang="en-US" sz="1200" dirty="0">
                <a:latin typeface="Meiryo UI" panose="020B0604030504040204" pitchFamily="50" charset="-128"/>
                <a:ea typeface="Meiryo UI" panose="020B0604030504040204" pitchFamily="50" charset="-128"/>
              </a:rPr>
              <a:t>）や</a:t>
            </a:r>
            <a:r>
              <a:rPr lang="en-US" altLang="ja-JP" sz="1200" dirty="0">
                <a:latin typeface="Meiryo UI" panose="020B0604030504040204" pitchFamily="50" charset="-128"/>
                <a:ea typeface="Meiryo UI" panose="020B0604030504040204" pitchFamily="50" charset="-128"/>
              </a:rPr>
              <a:t>GS Quant</a:t>
            </a:r>
            <a:r>
              <a:rPr lang="ja-JP" altLang="en-US" sz="1200" dirty="0">
                <a:latin typeface="Meiryo UI" panose="020B0604030504040204" pitchFamily="50" charset="-128"/>
                <a:ea typeface="Meiryo UI" panose="020B0604030504040204" pitchFamily="50" charset="-128"/>
              </a:rPr>
              <a:t>ライブラリ等を</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上で利用可能にし、顧客自身のデータと組み合わせて大規模分析できるプラットフォーム</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従来、金融機関が個別に構築していた煩雑なデータインフラを</a:t>
            </a:r>
            <a:r>
              <a:rPr lang="en-US" altLang="ja-JP" sz="1200" dirty="0">
                <a:latin typeface="Meiryo UI" panose="020B0604030504040204" pitchFamily="50" charset="-128"/>
                <a:ea typeface="Meiryo UI" panose="020B0604030504040204" pitchFamily="50" charset="-128"/>
              </a:rPr>
              <a:t>GS</a:t>
            </a:r>
            <a:r>
              <a:rPr lang="ja-JP" altLang="en-US" sz="1200" dirty="0">
                <a:latin typeface="Meiryo UI" panose="020B0604030504040204" pitchFamily="50" charset="-128"/>
                <a:ea typeface="Meiryo UI" panose="020B0604030504040204" pitchFamily="50" charset="-128"/>
              </a:rPr>
              <a:t>と</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の標準ソリューションで置き換える発想で、これによりクライアントはインフラ構築に時間を割かず投資アルゴリズム開発やデータ分析そのものに注力できるようになる。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https://www.goldmansachs.com/pressroom/press-releases/2021/goldman-sachs-aws-announcement-30-nov-2021</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052CACCE-3821-A9AA-D430-866C841BEB6F}"/>
              </a:ext>
            </a:extLst>
          </p:cNvPr>
          <p:cNvSpPr txBox="1">
            <a:spLocks/>
          </p:cNvSpPr>
          <p:nvPr/>
        </p:nvSpPr>
        <p:spPr>
          <a:xfrm>
            <a:off x="207706" y="5897017"/>
            <a:ext cx="11776587" cy="839111"/>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Atlas</a:t>
            </a:r>
          </a:p>
          <a:p>
            <a:r>
              <a:rPr lang="ja-JP" altLang="en-US" sz="1200" dirty="0">
                <a:latin typeface="Meiryo UI" panose="020B0604030504040204" pitchFamily="50" charset="-128"/>
                <a:ea typeface="Meiryo UI" panose="020B0604030504040204" pitchFamily="50" charset="-128"/>
              </a:rPr>
              <a:t>新たな株式取引プラットフォーム。低遅延と大容量を実現するために再構築されており、</a:t>
            </a:r>
            <a:r>
              <a:rPr lang="en-US" altLang="ja-JP" sz="1200" dirty="0">
                <a:latin typeface="Meiryo UI" panose="020B0604030504040204" pitchFamily="50" charset="-128"/>
                <a:ea typeface="Meiryo UI" panose="020B0604030504040204" pitchFamily="50" charset="-128"/>
              </a:rPr>
              <a:t>AI/ML</a:t>
            </a:r>
            <a:r>
              <a:rPr lang="ja-JP" altLang="en-US" sz="1200" dirty="0">
                <a:latin typeface="Meiryo UI" panose="020B0604030504040204" pitchFamily="50" charset="-128"/>
                <a:ea typeface="Meiryo UI" panose="020B0604030504040204" pitchFamily="50" charset="-128"/>
              </a:rPr>
              <a:t>を活用した動的な取引戦略を可能にしている。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https://www.goldmansachs.com/what-we-do/ficc-and-equities/gset-equities</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6DE39AC5-70A4-5712-C4F6-758E78FD21B5}"/>
              </a:ext>
            </a:extLst>
          </p:cNvPr>
          <p:cNvSpPr txBox="1">
            <a:spLocks/>
          </p:cNvSpPr>
          <p:nvPr/>
        </p:nvSpPr>
        <p:spPr>
          <a:xfrm>
            <a:off x="219076" y="4809202"/>
            <a:ext cx="11776587" cy="1026253"/>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200" b="1" u="sng" dirty="0">
                <a:latin typeface="Meiryo UI" panose="020B0604030504040204" pitchFamily="50" charset="-128"/>
                <a:ea typeface="Meiryo UI" panose="020B0604030504040204" pitchFamily="50" charset="-128"/>
              </a:rPr>
              <a:t>Legend</a:t>
            </a:r>
          </a:p>
          <a:p>
            <a:r>
              <a:rPr lang="ja-JP" altLang="en-US" sz="1200" dirty="0">
                <a:latin typeface="Meiryo UI" panose="020B0604030504040204" pitchFamily="50" charset="-128"/>
                <a:ea typeface="Meiryo UI" panose="020B0604030504040204" pitchFamily="50" charset="-128"/>
              </a:rPr>
              <a:t>データ管理・ガバナンスプラットフォーム。</a:t>
            </a:r>
            <a:r>
              <a:rPr lang="en-US" altLang="ja-JP" sz="1200" dirty="0">
                <a:latin typeface="Meiryo UI" panose="020B0604030504040204" pitchFamily="50" charset="-128"/>
                <a:ea typeface="Meiryo UI" panose="020B0604030504040204" pitchFamily="50" charset="-128"/>
              </a:rPr>
              <a:t>2020</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10</a:t>
            </a:r>
            <a:r>
              <a:rPr lang="ja-JP" altLang="en-US" sz="1200" dirty="0">
                <a:latin typeface="Meiryo UI" panose="020B0604030504040204" pitchFamily="50" charset="-128"/>
                <a:ea typeface="Meiryo UI" panose="020B0604030504040204" pitchFamily="50" charset="-128"/>
              </a:rPr>
              <a:t>月、この</a:t>
            </a:r>
            <a:r>
              <a:rPr lang="en-US" altLang="ja-JP" sz="1200" dirty="0">
                <a:latin typeface="Meiryo UI" panose="020B0604030504040204" pitchFamily="50" charset="-128"/>
                <a:ea typeface="Meiryo UI" panose="020B0604030504040204" pitchFamily="50" charset="-128"/>
              </a:rPr>
              <a:t>Legend</a:t>
            </a:r>
            <a:r>
              <a:rPr lang="ja-JP" altLang="en-US" sz="1200" dirty="0">
                <a:latin typeface="Meiryo UI" panose="020B0604030504040204" pitchFamily="50" charset="-128"/>
                <a:ea typeface="Meiryo UI" panose="020B0604030504040204" pitchFamily="50" charset="-128"/>
              </a:rPr>
              <a:t>の主要モジュール</a:t>
            </a:r>
            <a:r>
              <a:rPr lang="en-US" altLang="ja-JP" sz="1200" dirty="0">
                <a:latin typeface="Meiryo UI" panose="020B0604030504040204" pitchFamily="50" charset="-128"/>
                <a:ea typeface="Meiryo UI" panose="020B0604030504040204" pitchFamily="50" charset="-128"/>
              </a:rPr>
              <a:t>5</a:t>
            </a:r>
            <a:r>
              <a:rPr lang="ja-JP" altLang="en-US" sz="1200" dirty="0">
                <a:latin typeface="Meiryo UI" panose="020B0604030504040204" pitchFamily="50" charset="-128"/>
                <a:ea typeface="Meiryo UI" panose="020B0604030504040204" pitchFamily="50" charset="-128"/>
              </a:rPr>
              <a:t>つのソースコードを</a:t>
            </a:r>
            <a:r>
              <a:rPr lang="en-US" altLang="ja-JP" sz="1200" dirty="0">
                <a:latin typeface="Meiryo UI" panose="020B0604030504040204" pitchFamily="50" charset="-128"/>
                <a:ea typeface="Meiryo UI" panose="020B0604030504040204" pitchFamily="50" charset="-128"/>
              </a:rPr>
              <a:t>FINOS</a:t>
            </a:r>
            <a:r>
              <a:rPr lang="ja-JP" altLang="en-US" sz="1200" dirty="0">
                <a:latin typeface="Meiryo UI" panose="020B0604030504040204" pitchFamily="50" charset="-128"/>
                <a:ea typeface="Meiryo UI" panose="020B0604030504040204" pitchFamily="50" charset="-128"/>
              </a:rPr>
              <a:t>（金融オープンソース財団）に寄贈し、全世界に公開。他の国際的投資銀行（ドイツ銀行、モルガン・スタンレー、</a:t>
            </a:r>
            <a:r>
              <a:rPr lang="en-US" altLang="ja-JP" sz="1200" dirty="0">
                <a:latin typeface="Meiryo UI" panose="020B0604030504040204" pitchFamily="50" charset="-128"/>
                <a:ea typeface="Meiryo UI" panose="020B0604030504040204" pitchFamily="50" charset="-128"/>
              </a:rPr>
              <a:t>RBC</a:t>
            </a:r>
            <a:r>
              <a:rPr lang="ja-JP" altLang="en-US" sz="1200" dirty="0">
                <a:latin typeface="Meiryo UI" panose="020B0604030504040204" pitchFamily="50" charset="-128"/>
                <a:ea typeface="Meiryo UI" panose="020B0604030504040204" pitchFamily="50" charset="-128"/>
              </a:rPr>
              <a:t>など）と共に</a:t>
            </a:r>
            <a:r>
              <a:rPr lang="en-US" altLang="ja-JP" sz="1200" dirty="0">
                <a:latin typeface="Meiryo UI" panose="020B0604030504040204" pitchFamily="50" charset="-128"/>
                <a:ea typeface="Meiryo UI" panose="020B0604030504040204" pitchFamily="50" charset="-128"/>
              </a:rPr>
              <a:t>FINOS</a:t>
            </a:r>
            <a:r>
              <a:rPr lang="ja-JP" altLang="en-US" sz="1200" dirty="0">
                <a:latin typeface="Meiryo UI" panose="020B0604030504040204" pitchFamily="50" charset="-128"/>
                <a:ea typeface="Meiryo UI" panose="020B0604030504040204" pitchFamily="50" charset="-128"/>
              </a:rPr>
              <a:t>上でパイロットを行い、銀行間でデータモデルを共有・標準化する取り組みも進めている。</a:t>
            </a:r>
            <a:r>
              <a:rPr lang="en-US" altLang="ja-JP" sz="1200" dirty="0">
                <a:latin typeface="Meiryo UI" panose="020B0604030504040204" pitchFamily="50" charset="-128"/>
                <a:ea typeface="Meiryo UI" panose="020B0604030504040204" pitchFamily="50" charset="-128"/>
                <a:hlinkClick r:id="rId5"/>
              </a:rPr>
              <a:t>https://www.finos.org/press/goldman-sachs-open-sources-its-data-modeling-platform-through-finos#:~:text=Today%E2%80%99s%20launch%20comes%20on%20the,build%20extensions%20to%20the%20Common</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44496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DBA46-5DF6-DA64-4CF1-99953068F2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AEE350-4036-0B02-3CCE-7AD2FFFD0C22}"/>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のその他の取り組み</a:t>
            </a:r>
          </a:p>
        </p:txBody>
      </p:sp>
      <p:sp>
        <p:nvSpPr>
          <p:cNvPr id="3" name="コンテンツ プレースホルダー 2">
            <a:extLst>
              <a:ext uri="{FF2B5EF4-FFF2-40B4-BE49-F238E27FC236}">
                <a16:creationId xmlns:a16="http://schemas.microsoft.com/office/drawing/2014/main" id="{99A2861E-5B69-D31D-9558-8C5CE5E19FA3}"/>
              </a:ext>
            </a:extLst>
          </p:cNvPr>
          <p:cNvSpPr>
            <a:spLocks noGrp="1"/>
          </p:cNvSpPr>
          <p:nvPr>
            <p:ph idx="1"/>
          </p:nvPr>
        </p:nvSpPr>
        <p:spPr>
          <a:xfrm>
            <a:off x="181545" y="652794"/>
            <a:ext cx="11823642" cy="1508595"/>
          </a:xfrm>
          <a:ln>
            <a:solidFill>
              <a:schemeClr val="tx1"/>
            </a:solidFill>
          </a:ln>
        </p:spPr>
        <p:txBody>
          <a:bodyPr>
            <a:normAutofit/>
          </a:bodyPr>
          <a:lstStyle/>
          <a:p>
            <a:pPr marL="0" indent="0">
              <a:buNone/>
            </a:pPr>
            <a:r>
              <a:rPr kumimoji="1" lang="en-US" altLang="ja-JP" sz="1200" b="1" u="sng" dirty="0">
                <a:latin typeface="Meiryo UI" panose="020B0604030504040204" pitchFamily="50" charset="-128"/>
                <a:ea typeface="Meiryo UI" panose="020B0604030504040204" pitchFamily="50" charset="-128"/>
              </a:rPr>
              <a:t>H2O.ai</a:t>
            </a:r>
            <a:r>
              <a:rPr lang="ja-JP" altLang="en-US" sz="1200" b="1" u="sng" dirty="0">
                <a:latin typeface="Meiryo UI" panose="020B0604030504040204" pitchFamily="50" charset="-128"/>
                <a:ea typeface="Meiryo UI" panose="020B0604030504040204" pitchFamily="50" charset="-128"/>
              </a:rPr>
              <a:t>への</a:t>
            </a:r>
            <a:r>
              <a:rPr kumimoji="1" lang="ja-JP" altLang="en-US" sz="1200" b="1" u="sng" dirty="0">
                <a:latin typeface="Meiryo UI" panose="020B0604030504040204" pitchFamily="50" charset="-128"/>
                <a:ea typeface="Meiryo UI" panose="020B0604030504040204" pitchFamily="50" charset="-128"/>
              </a:rPr>
              <a:t>出資</a:t>
            </a:r>
            <a:endParaRPr kumimoji="1"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2019</a:t>
            </a:r>
            <a:r>
              <a:rPr kumimoji="1" lang="ja-JP" altLang="en-US" sz="1200" dirty="0">
                <a:latin typeface="Meiryo UI" panose="020B0604030504040204" pitchFamily="50" charset="-128"/>
                <a:ea typeface="Meiryo UI" panose="020B0604030504040204" pitchFamily="50" charset="-128"/>
              </a:rPr>
              <a:t>年に機械学習プラットフォーム企業</a:t>
            </a:r>
            <a:r>
              <a:rPr kumimoji="1" lang="en-US" altLang="ja-JP" sz="1200" dirty="0">
                <a:latin typeface="Meiryo UI" panose="020B0604030504040204" pitchFamily="50" charset="-128"/>
                <a:ea typeface="Meiryo UI" panose="020B0604030504040204" pitchFamily="50" charset="-128"/>
              </a:rPr>
              <a:t>H2O.ai</a:t>
            </a:r>
            <a:r>
              <a:rPr kumimoji="1" lang="ja-JP" altLang="en-US" sz="1200" dirty="0">
                <a:latin typeface="Meiryo UI" panose="020B0604030504040204" pitchFamily="50" charset="-128"/>
                <a:ea typeface="Meiryo UI" panose="020B0604030504040204" pitchFamily="50" charset="-128"/>
              </a:rPr>
              <a:t>への出資を主導し、この技術を債券価格算定やマーケットメイク業務に活用</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H2O</a:t>
            </a:r>
            <a:r>
              <a:rPr kumimoji="1" lang="ja-JP" altLang="en-US" sz="1200" dirty="0">
                <a:latin typeface="Meiryo UI" panose="020B0604030504040204" pitchFamily="50" charset="-128"/>
                <a:ea typeface="Meiryo UI" panose="020B0604030504040204" pitchFamily="50" charset="-128"/>
              </a:rPr>
              <a:t>の</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モデル導入により債券プライシング工程の高度化が進み、株式トレーディング部門では</a:t>
            </a:r>
            <a:r>
              <a:rPr kumimoji="1" lang="ja-JP" altLang="en-US" sz="1200" b="1" dirty="0">
                <a:latin typeface="Meiryo UI" panose="020B0604030504040204" pitchFamily="50" charset="-128"/>
                <a:ea typeface="Meiryo UI" panose="020B0604030504040204" pitchFamily="50" charset="-128"/>
              </a:rPr>
              <a:t>マーケットメイキングに</a:t>
            </a:r>
            <a:r>
              <a:rPr kumimoji="1" lang="en-US" altLang="ja-JP" sz="1200" b="1" dirty="0">
                <a:latin typeface="Meiryo UI" panose="020B0604030504040204" pitchFamily="50" charset="-128"/>
                <a:ea typeface="Meiryo UI" panose="020B0604030504040204" pitchFamily="50" charset="-128"/>
              </a:rPr>
              <a:t>AI</a:t>
            </a:r>
            <a:r>
              <a:rPr kumimoji="1" lang="ja-JP" altLang="en-US" sz="1200" b="1" dirty="0">
                <a:latin typeface="Meiryo UI" panose="020B0604030504040204" pitchFamily="50" charset="-128"/>
                <a:ea typeface="Meiryo UI" panose="020B0604030504040204" pitchFamily="50" charset="-128"/>
              </a:rPr>
              <a:t>モデルを本格採用</a:t>
            </a:r>
            <a:r>
              <a:rPr kumimoji="1" lang="ja-JP" altLang="en-US" sz="1200" dirty="0">
                <a:latin typeface="Meiryo UI" panose="020B0604030504040204" pitchFamily="50" charset="-128"/>
                <a:ea typeface="Meiryo UI" panose="020B0604030504040204" pitchFamily="50" charset="-128"/>
              </a:rPr>
              <a:t>していく計画</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https://www.reuters.com/article/us-goldman-sachs-h20-ai/goldman-sachs-chinas-ping-an-back-artificial-intelligence-firm-h20ai-idUSKCN1VA1S7/#:~:text=At%20a%20bank%20like%20Goldman,processes%20related%20to%20bond%20pricing</a:t>
            </a:r>
            <a:endParaRPr lang="en-US" altLang="ja-JP" sz="1200" b="1" u="sng"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072AFF96-539E-415D-C7C9-448D6DED5182}"/>
              </a:ext>
            </a:extLst>
          </p:cNvPr>
          <p:cNvSpPr txBox="1">
            <a:spLocks/>
          </p:cNvSpPr>
          <p:nvPr/>
        </p:nvSpPr>
        <p:spPr>
          <a:xfrm>
            <a:off x="181545" y="2260816"/>
            <a:ext cx="11823642" cy="232112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量子コンピュータ</a:t>
            </a:r>
            <a:endParaRPr lang="en-US" altLang="ja-JP" sz="1200" b="1" u="sng"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R&amp;D</a:t>
            </a:r>
            <a:r>
              <a:rPr lang="ja-JP" altLang="en-US" sz="1200" dirty="0">
                <a:latin typeface="Meiryo UI" panose="020B0604030504040204" pitchFamily="50" charset="-128"/>
                <a:ea typeface="Meiryo UI" panose="020B0604030504040204" pitchFamily="50" charset="-128"/>
              </a:rPr>
              <a:t>エンジニアリングチームは量子コンピュータの専門研究者を招聘し、金融への応用研究を実施</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https://www.goldmansachs.com/careers/blog/possibilities-quantum-computing</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社内に専門の量子研究チームを置き、</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やスタートアップ企業と協働してポートフォリオ最適化やモンテカルロ・シミュレーションの量子アルゴリズム研究を進めている</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2021</a:t>
            </a:r>
            <a:r>
              <a:rPr lang="ja-JP" altLang="en-US" sz="1200" dirty="0">
                <a:latin typeface="Meiryo UI" panose="020B0604030504040204" pitchFamily="50" charset="-128"/>
                <a:ea typeface="Meiryo UI" panose="020B0604030504040204" pitchFamily="50" charset="-128"/>
              </a:rPr>
              <a:t>年にはスタートアップ</a:t>
            </a:r>
            <a:r>
              <a:rPr lang="en-US" altLang="ja-JP" sz="1200" dirty="0">
                <a:latin typeface="Meiryo UI" panose="020B0604030504040204" pitchFamily="50" charset="-128"/>
                <a:ea typeface="Meiryo UI" panose="020B0604030504040204" pitchFamily="50" charset="-128"/>
              </a:rPr>
              <a:t>QC Ware</a:t>
            </a:r>
            <a:r>
              <a:rPr lang="ja-JP" altLang="en-US" sz="1200" dirty="0">
                <a:latin typeface="Meiryo UI" panose="020B0604030504040204" pitchFamily="50" charset="-128"/>
                <a:ea typeface="Meiryo UI" panose="020B0604030504040204" pitchFamily="50" charset="-128"/>
              </a:rPr>
              <a:t>や量子ハード企業</a:t>
            </a:r>
            <a:r>
              <a:rPr lang="en-US" altLang="ja-JP" sz="1200" dirty="0" err="1">
                <a:latin typeface="Meiryo UI" panose="020B0604030504040204" pitchFamily="50" charset="-128"/>
                <a:ea typeface="Meiryo UI" panose="020B0604030504040204" pitchFamily="50" charset="-128"/>
              </a:rPr>
              <a:t>IonQ</a:t>
            </a:r>
            <a:r>
              <a:rPr lang="ja-JP" altLang="en-US" sz="1200" dirty="0">
                <a:latin typeface="Meiryo UI" panose="020B0604030504040204" pitchFamily="50" charset="-128"/>
                <a:ea typeface="Meiryo UI" panose="020B0604030504040204" pitchFamily="50" charset="-128"/>
              </a:rPr>
              <a:t>と組み、モンテカルロ法によるリスク計算の量子加速を検証</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年には</a:t>
            </a:r>
            <a:r>
              <a:rPr lang="en-US" altLang="ja-JP" sz="1200" dirty="0">
                <a:latin typeface="Meiryo UI" panose="020B0604030504040204" pitchFamily="50" charset="-128"/>
                <a:ea typeface="Meiryo UI" panose="020B0604030504040204" pitchFamily="50" charset="-128"/>
              </a:rPr>
              <a:t>AWS</a:t>
            </a:r>
            <a:r>
              <a:rPr lang="ja-JP" altLang="en-US" sz="1200" dirty="0">
                <a:latin typeface="Meiryo UI" panose="020B0604030504040204" pitchFamily="50" charset="-128"/>
                <a:ea typeface="Meiryo UI" panose="020B0604030504040204" pitchFamily="50" charset="-128"/>
              </a:rPr>
              <a:t>の量子研究部と共同で、量子アルゴリズム（</a:t>
            </a:r>
            <a:r>
              <a:rPr lang="en-US" altLang="ja-JP" sz="1200" dirty="0">
                <a:latin typeface="Meiryo UI" panose="020B0604030504040204" pitchFamily="50" charset="-128"/>
                <a:ea typeface="Meiryo UI" panose="020B0604030504040204" pitchFamily="50" charset="-128"/>
              </a:rPr>
              <a:t>QIPM: Quantum Interior Point Method</a:t>
            </a:r>
            <a:r>
              <a:rPr lang="ja-JP" altLang="en-US" sz="1200" dirty="0">
                <a:latin typeface="Meiryo UI" panose="020B0604030504040204" pitchFamily="50" charset="-128"/>
                <a:ea typeface="Meiryo UI" panose="020B0604030504040204" pitchFamily="50" charset="-128"/>
              </a:rPr>
              <a:t>）を用いたポートフォリオ最適化問題のエンドツーエンド資源評価を行い、その成果を論文発表している</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https://medium.com/@deltorobarba/how-quantum-computing-could-accelerate-finance-and-economics-80555e80f76b</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A7DC358C-9F72-88A6-D9BF-E2662FDA8AA7}"/>
              </a:ext>
            </a:extLst>
          </p:cNvPr>
          <p:cNvSpPr txBox="1">
            <a:spLocks/>
          </p:cNvSpPr>
          <p:nvPr/>
        </p:nvSpPr>
        <p:spPr>
          <a:xfrm>
            <a:off x="181545" y="4796039"/>
            <a:ext cx="11823642" cy="132646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ブロックチェーン分野</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デジタル資産部門を設置し、ブロックチェーン活用の新プラットフォーム「</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」を開発</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2022</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11</a:t>
            </a:r>
            <a:r>
              <a:rPr lang="ja-JP" altLang="en-US" sz="1200" dirty="0">
                <a:latin typeface="Meiryo UI" panose="020B0604030504040204" pitchFamily="50" charset="-128"/>
                <a:ea typeface="Meiryo UI" panose="020B0604030504040204" pitchFamily="50" charset="-128"/>
              </a:rPr>
              <a:t>月、</a:t>
            </a:r>
            <a:r>
              <a:rPr lang="en-US" altLang="ja-JP" sz="1200" dirty="0">
                <a:latin typeface="Meiryo UI" panose="020B0604030504040204" pitchFamily="50" charset="-128"/>
                <a:ea typeface="Meiryo UI" panose="020B0604030504040204" pitchFamily="50" charset="-128"/>
              </a:rPr>
              <a:t>GS DAP</a:t>
            </a:r>
            <a:r>
              <a:rPr lang="ja-JP" altLang="en-US" sz="1200" dirty="0">
                <a:latin typeface="Meiryo UI" panose="020B0604030504040204" pitchFamily="50" charset="-128"/>
                <a:ea typeface="Meiryo UI" panose="020B0604030504040204" pitchFamily="50" charset="-128"/>
              </a:rPr>
              <a:t>上で欧州投資銀行（</a:t>
            </a:r>
            <a:r>
              <a:rPr lang="en-US" altLang="ja-JP" sz="1200" dirty="0">
                <a:latin typeface="Meiryo UI" panose="020B0604030504040204" pitchFamily="50" charset="-128"/>
                <a:ea typeface="Meiryo UI" panose="020B0604030504040204" pitchFamily="50" charset="-128"/>
              </a:rPr>
              <a:t>EIB</a:t>
            </a:r>
            <a:r>
              <a:rPr lang="ja-JP" altLang="en-US" sz="1200" dirty="0">
                <a:latin typeface="Meiryo UI" panose="020B0604030504040204" pitchFamily="50" charset="-128"/>
                <a:ea typeface="Meiryo UI" panose="020B0604030504040204" pitchFamily="50" charset="-128"/>
              </a:rPr>
              <a:t>）によるユーロ建てデジタル債券（</a:t>
            </a:r>
            <a:r>
              <a:rPr lang="en-US" altLang="ja-JP" sz="1200" dirty="0">
                <a:latin typeface="Meiryo UI" panose="020B0604030504040204" pitchFamily="50" charset="-128"/>
                <a:ea typeface="Meiryo UI" panose="020B0604030504040204" pitchFamily="50" charset="-128"/>
              </a:rPr>
              <a:t>2</a:t>
            </a:r>
            <a:r>
              <a:rPr lang="ja-JP" altLang="en-US" sz="1200" dirty="0">
                <a:latin typeface="Meiryo UI" panose="020B0604030504040204" pitchFamily="50" charset="-128"/>
                <a:ea typeface="Meiryo UI" panose="020B0604030504040204" pitchFamily="50" charset="-128"/>
              </a:rPr>
              <a:t>年</a:t>
            </a:r>
            <a:r>
              <a:rPr lang="en-US" altLang="ja-JP" sz="1200" dirty="0">
                <a:latin typeface="Meiryo UI" panose="020B0604030504040204" pitchFamily="50" charset="-128"/>
                <a:ea typeface="Meiryo UI" panose="020B0604030504040204" pitchFamily="50" charset="-128"/>
              </a:rPr>
              <a:t>100</a:t>
            </a:r>
            <a:r>
              <a:rPr lang="ja-JP" altLang="en-US" sz="1200" dirty="0">
                <a:latin typeface="Meiryo UI" panose="020B0604030504040204" pitchFamily="50" charset="-128"/>
                <a:ea typeface="Meiryo UI" panose="020B0604030504040204" pitchFamily="50" charset="-128"/>
              </a:rPr>
              <a:t>百万ユーロ）の発行・決済を支援し、初のプライベートブロックチェーン上債券取引を成功させた</a:t>
            </a:r>
            <a:r>
              <a:rPr lang="en-US" altLang="ja-JP" sz="1200" dirty="0">
                <a:latin typeface="Meiryo UI" panose="020B0604030504040204" pitchFamily="50" charset="-128"/>
                <a:ea typeface="Meiryo UI" panose="020B0604030504040204" pitchFamily="50" charset="-128"/>
                <a:hlinkClick r:id="rId5"/>
              </a:rPr>
              <a:t>https://fif.com/index.php?option=com_content&amp;view=article&amp;id=23537&amp;catid=78&amp;Itemid=1749#:~:text=Goldman%20Sachs%20launched%20GS%20DAP%2C,and%20first%20using%20private%20blockchain</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8771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88E1B-9582-35FA-0510-F9123E7A8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A8B2AD-EF14-6EC4-E023-E1CAAD28532F}"/>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lang="ja-JP" altLang="en-US" sz="1600" b="1" dirty="0">
                <a:latin typeface="Meiryo UI" panose="020B0604030504040204" pitchFamily="50" charset="-128"/>
                <a:ea typeface="Meiryo UI" panose="020B0604030504040204" pitchFamily="50" charset="-128"/>
              </a:rPr>
              <a:t>その他の取り組み</a:t>
            </a:r>
            <a:endParaRPr kumimoji="1" lang="ja-JP" altLang="en-US" sz="1600" b="1" dirty="0">
              <a:latin typeface="Meiryo UI" panose="020B0604030504040204" pitchFamily="50" charset="-128"/>
              <a:ea typeface="Meiryo UI" panose="020B0604030504040204" pitchFamily="50" charset="-128"/>
            </a:endParaRPr>
          </a:p>
        </p:txBody>
      </p:sp>
      <p:sp>
        <p:nvSpPr>
          <p:cNvPr id="3" name="コンテンツ プレースホルダー 2">
            <a:extLst>
              <a:ext uri="{FF2B5EF4-FFF2-40B4-BE49-F238E27FC236}">
                <a16:creationId xmlns:a16="http://schemas.microsoft.com/office/drawing/2014/main" id="{5B24DE6C-2FEE-E8A7-B71B-0AF3264C1398}"/>
              </a:ext>
            </a:extLst>
          </p:cNvPr>
          <p:cNvSpPr>
            <a:spLocks noGrp="1"/>
          </p:cNvSpPr>
          <p:nvPr>
            <p:ph idx="1"/>
          </p:nvPr>
        </p:nvSpPr>
        <p:spPr>
          <a:xfrm>
            <a:off x="228598" y="702369"/>
            <a:ext cx="11638936" cy="3392553"/>
          </a:xfrm>
          <a:ln>
            <a:solidFill>
              <a:schemeClr val="tx1"/>
            </a:solidFill>
          </a:ln>
        </p:spPr>
        <p:txBody>
          <a:bodyPr>
            <a:normAutofit lnSpcReduction="10000"/>
          </a:bodyPr>
          <a:lstStyle/>
          <a:p>
            <a:pPr marL="0" indent="0">
              <a:buNone/>
            </a:pPr>
            <a:r>
              <a:rPr kumimoji="1" lang="ja-JP" altLang="en-US" sz="1200" b="1" u="sng" dirty="0">
                <a:latin typeface="Meiryo UI" panose="020B0604030504040204" pitchFamily="50" charset="-128"/>
                <a:ea typeface="Meiryo UI" panose="020B0604030504040204" pitchFamily="50" charset="-128"/>
              </a:rPr>
              <a:t>生成</a:t>
            </a:r>
            <a:r>
              <a:rPr kumimoji="1" lang="en-US" altLang="ja-JP" sz="1200" b="1" u="sng" dirty="0">
                <a:latin typeface="Meiryo UI" panose="020B0604030504040204" pitchFamily="50" charset="-128"/>
                <a:ea typeface="Meiryo UI" panose="020B0604030504040204" pitchFamily="50" charset="-128"/>
              </a:rPr>
              <a:t>AI</a:t>
            </a:r>
            <a:r>
              <a:rPr kumimoji="1" lang="ja-JP" altLang="en-US" sz="1200" b="1" u="sng" dirty="0">
                <a:latin typeface="Meiryo UI" panose="020B0604030504040204" pitchFamily="50" charset="-128"/>
                <a:ea typeface="Meiryo UI" panose="020B0604030504040204" pitchFamily="50" charset="-128"/>
              </a:rPr>
              <a:t>アシスタント（</a:t>
            </a:r>
            <a:r>
              <a:rPr kumimoji="1" lang="en-US" altLang="ja-JP" sz="1200" b="1" u="sng" dirty="0">
                <a:latin typeface="Meiryo UI" panose="020B0604030504040204" pitchFamily="50" charset="-128"/>
                <a:ea typeface="Meiryo UI" panose="020B0604030504040204" pitchFamily="50" charset="-128"/>
              </a:rPr>
              <a:t>GS AI </a:t>
            </a:r>
            <a:r>
              <a:rPr kumimoji="1" lang="ja-JP" altLang="en-US" sz="1200" b="1" u="sng" dirty="0">
                <a:latin typeface="Meiryo UI" panose="020B0604030504040204" pitchFamily="50" charset="-128"/>
                <a:ea typeface="Meiryo UI" panose="020B0604030504040204" pitchFamily="50" charset="-128"/>
              </a:rPr>
              <a:t>アシスタント）</a:t>
            </a:r>
            <a:endParaRPr kumimoji="1" lang="en-US" altLang="ja-JP" sz="1200" b="1" u="sng"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2024</a:t>
            </a:r>
            <a:r>
              <a:rPr kumimoji="1" lang="ja-JP" altLang="en-US" sz="1200" dirty="0">
                <a:latin typeface="Meiryo UI" panose="020B0604030504040204" pitchFamily="50" charset="-128"/>
                <a:ea typeface="Meiryo UI" panose="020B0604030504040204" pitchFamily="50" charset="-128"/>
              </a:rPr>
              <a:t>年初頭にまずトレーダーやバンカー、資産運用担当者等約</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万人に提供された社内チャット</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は、文書要約、資料ドラフト作成、データ分析補助などに活用され、</a:t>
            </a:r>
            <a:r>
              <a:rPr kumimoji="1" lang="en-US" altLang="ja-JP" sz="1200" b="1" dirty="0">
                <a:latin typeface="Meiryo UI" panose="020B0604030504040204" pitchFamily="50" charset="-128"/>
                <a:ea typeface="Meiryo UI" panose="020B0604030504040204" pitchFamily="50" charset="-128"/>
              </a:rPr>
              <a:t>2025</a:t>
            </a:r>
            <a:r>
              <a:rPr kumimoji="1" lang="ja-JP" altLang="en-US" sz="1200" b="1" dirty="0">
                <a:latin typeface="Meiryo UI" panose="020B0604030504040204" pitchFamily="50" charset="-128"/>
                <a:ea typeface="Meiryo UI" panose="020B0604030504040204" pitchFamily="50" charset="-128"/>
              </a:rPr>
              <a:t>年には全従業員向けに拡大</a:t>
            </a:r>
            <a:r>
              <a:rPr kumimoji="1" lang="ja-JP" altLang="en-US" sz="1200" dirty="0">
                <a:latin typeface="Meiryo UI" panose="020B0604030504040204" pitchFamily="50" charset="-128"/>
                <a:ea typeface="Meiryo UI" panose="020B0604030504040204" pitchFamily="50" charset="-128"/>
              </a:rPr>
              <a:t>された。</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https://www.reuters.com/business/goldman-sachs-launches-ai-assistant-firmwide-memo-shows-2025-06-23/#:~:text=June%2023%20%28Reuters%29%20,internal%20memo%20seen%20by%20Reuters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アシスタントは複数の大規模言語モデル（</a:t>
            </a:r>
            <a:r>
              <a:rPr kumimoji="1" lang="en-US" altLang="ja-JP" sz="1200" dirty="0">
                <a:latin typeface="Meiryo UI" panose="020B0604030504040204" pitchFamily="50" charset="-128"/>
                <a:ea typeface="Meiryo UI" panose="020B0604030504040204" pitchFamily="50" charset="-128"/>
              </a:rPr>
              <a:t>LLM</a:t>
            </a:r>
            <a:r>
              <a:rPr kumimoji="1" lang="ja-JP" altLang="en-US" sz="1200" dirty="0">
                <a:latin typeface="Meiryo UI" panose="020B0604030504040204" pitchFamily="50" charset="-128"/>
                <a:ea typeface="Meiryo UI" panose="020B0604030504040204" pitchFamily="50" charset="-128"/>
              </a:rPr>
              <a:t>）を用途に応じて使い分けられる高度な仕組みで、エンジニア、投資銀行部門アナリスト、リサーチ担当者、資産運用担当者など</a:t>
            </a:r>
            <a:r>
              <a:rPr kumimoji="1" lang="ja-JP" altLang="en-US" sz="1200" b="1" dirty="0">
                <a:latin typeface="Meiryo UI" panose="020B0604030504040204" pitchFamily="50" charset="-128"/>
                <a:ea typeface="Meiryo UI" panose="020B0604030504040204" pitchFamily="50" charset="-128"/>
              </a:rPr>
              <a:t>職種ごとにカスタマイズ機能</a:t>
            </a:r>
            <a:r>
              <a:rPr kumimoji="1" lang="ja-JP" altLang="en-US" sz="1200" dirty="0">
                <a:latin typeface="Meiryo UI" panose="020B0604030504040204" pitchFamily="50" charset="-128"/>
                <a:ea typeface="Meiryo UI" panose="020B0604030504040204" pitchFamily="50" charset="-128"/>
              </a:rPr>
              <a:t>を備えている。</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例えば長大なレポートの要点抽出や、社内ナレッジに基づく質疑応答、初期的な提案書の自動生成などに活用されており、「まるで</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社員に質問しているような」対話体験を目指している。</a:t>
            </a:r>
            <a:endParaRPr kumimoji="1"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IPO</a:t>
            </a:r>
            <a:r>
              <a:rPr lang="ja-JP" altLang="en-US" sz="1200" dirty="0">
                <a:latin typeface="Meiryo UI" panose="020B0604030504040204" pitchFamily="50" charset="-128"/>
                <a:ea typeface="Meiryo UI" panose="020B0604030504040204" pitchFamily="50" charset="-128"/>
              </a:rPr>
              <a:t>目論見書ドラフトの自動作成やアナリストレポート作成を支援。</a:t>
            </a:r>
            <a:r>
              <a:rPr lang="en-US" altLang="ja-JP" sz="1200" dirty="0">
                <a:latin typeface="Meiryo UI" panose="020B0604030504040204" pitchFamily="50" charset="-128"/>
                <a:ea typeface="Meiryo UI" panose="020B0604030504040204" pitchFamily="50" charset="-128"/>
              </a:rPr>
              <a:t>CEO</a:t>
            </a:r>
            <a:r>
              <a:rPr lang="ja-JP" altLang="en-US" sz="1200" dirty="0">
                <a:latin typeface="Meiryo UI" panose="020B0604030504040204" pitchFamily="50" charset="-128"/>
                <a:ea typeface="Meiryo UI" panose="020B0604030504040204" pitchFamily="50" charset="-128"/>
              </a:rPr>
              <a:t>のデイビッド・ソロモン氏は、「</a:t>
            </a:r>
            <a:r>
              <a:rPr lang="en-US" altLang="ja-JP" sz="1200" dirty="0">
                <a:latin typeface="Meiryo UI" panose="020B0604030504040204" pitchFamily="50" charset="-128"/>
                <a:ea typeface="Meiryo UI" panose="020B0604030504040204" pitchFamily="50" charset="-128"/>
              </a:rPr>
              <a:t>IPO</a:t>
            </a:r>
            <a:r>
              <a:rPr lang="ja-JP" altLang="en-US" sz="1200" dirty="0">
                <a:latin typeface="Meiryo UI" panose="020B0604030504040204" pitchFamily="50" charset="-128"/>
                <a:ea typeface="Meiryo UI" panose="020B0604030504040204" pitchFamily="50" charset="-128"/>
              </a:rPr>
              <a:t>の目論見書ドラフト作成作業の約</a:t>
            </a:r>
            <a:r>
              <a:rPr lang="en-US" altLang="ja-JP" sz="1200" dirty="0">
                <a:latin typeface="Meiryo UI" panose="020B0604030504040204" pitchFamily="50" charset="-128"/>
                <a:ea typeface="Meiryo UI" panose="020B0604030504040204" pitchFamily="50" charset="-128"/>
              </a:rPr>
              <a:t>95%</a:t>
            </a:r>
            <a:r>
              <a:rPr lang="ja-JP" altLang="en-US" sz="1200" dirty="0">
                <a:latin typeface="Meiryo UI" panose="020B0604030504040204" pitchFamily="50" charset="-128"/>
                <a:ea typeface="Meiryo UI" panose="020B0604030504040204" pitchFamily="50" charset="-128"/>
              </a:rPr>
              <a:t>を</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が担うに至った」としている。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https://www.businessinsider.com/wall-street-goldman-jpmorgan-bridgewater-using-ai-2023-12#:~:text=%2A%20AI%20is%20doing%2095,prospectus%2C%20Goldman%20Sachs%20CEO%20says</a:t>
            </a:r>
            <a:endParaRPr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CIO</a:t>
            </a:r>
            <a:r>
              <a:rPr kumimoji="1" lang="ja-JP" altLang="en-US" sz="1200" dirty="0">
                <a:latin typeface="Meiryo UI" panose="020B0604030504040204" pitchFamily="50" charset="-128"/>
                <a:ea typeface="Meiryo UI" panose="020B0604030504040204" pitchFamily="50" charset="-128"/>
              </a:rPr>
              <a:t>のマルコ・アルジェンティ氏は「この</a:t>
            </a:r>
            <a:r>
              <a:rPr kumimoji="1" lang="en-US" altLang="ja-JP" sz="1200" dirty="0">
                <a:latin typeface="Meiryo UI" panose="020B0604030504040204" pitchFamily="50" charset="-128"/>
                <a:ea typeface="Meiryo UI" panose="020B0604030504040204" pitchFamily="50" charset="-128"/>
              </a:rPr>
              <a:t>AI</a:t>
            </a:r>
            <a:r>
              <a:rPr kumimoji="1" lang="ja-JP" altLang="en-US" sz="1200" dirty="0">
                <a:latin typeface="Meiryo UI" panose="020B0604030504040204" pitchFamily="50" charset="-128"/>
                <a:ea typeface="Meiryo UI" panose="020B0604030504040204" pitchFamily="50" charset="-128"/>
              </a:rPr>
              <a:t>は当初は社内データを学習して</a:t>
            </a:r>
            <a:r>
              <a:rPr kumimoji="1" lang="en-US" altLang="ja-JP" sz="1200" dirty="0">
                <a:latin typeface="Meiryo UI" panose="020B0604030504040204" pitchFamily="50" charset="-128"/>
                <a:ea typeface="Meiryo UI" panose="020B0604030504040204" pitchFamily="50" charset="-128"/>
              </a:rPr>
              <a:t>GS</a:t>
            </a:r>
            <a:r>
              <a:rPr kumimoji="1" lang="ja-JP" altLang="en-US" sz="1200" dirty="0">
                <a:latin typeface="Meiryo UI" panose="020B0604030504040204" pitchFamily="50" charset="-128"/>
                <a:ea typeface="Meiryo UI" panose="020B0604030504040204" pitchFamily="50" charset="-128"/>
              </a:rPr>
              <a:t>の“文化”を身につけ、将来的には社員の代わりにタスクを遂行するエージェント的振る舞いも視野に入れている」と述べており、今後さらなる業務自動化・効率化への寄与が期待されている。</a:t>
            </a:r>
            <a:endParaRPr kumimoji="1"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https://www.pymnts.com/news/artificial-intelligence/2025/goldman-sachs-expands-availability-ai-assistant-across-firm/#:~:text=It%20was%20reported%20in%20January,its%20knowledge%20workers%20this%20year</a:t>
            </a:r>
            <a:endParaRPr lang="en-US" altLang="ja-JP" sz="1200" dirty="0">
              <a:latin typeface="Meiryo UI" panose="020B0604030504040204" pitchFamily="50" charset="-128"/>
              <a:ea typeface="Meiryo UI" panose="020B0604030504040204" pitchFamily="50" charset="-128"/>
            </a:endParaRPr>
          </a:p>
          <a:p>
            <a:pPr marL="0" indent="0">
              <a:buNone/>
            </a:pPr>
            <a:endParaRPr kumimoji="1" lang="en-US" altLang="ja-JP" sz="1200"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65A07E75-E1F3-DB96-0FF9-7EC3FD1747AE}"/>
              </a:ext>
            </a:extLst>
          </p:cNvPr>
          <p:cNvSpPr txBox="1">
            <a:spLocks/>
          </p:cNvSpPr>
          <p:nvPr/>
        </p:nvSpPr>
        <p:spPr>
          <a:xfrm>
            <a:off x="228598" y="4245383"/>
            <a:ext cx="11638936" cy="129615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200" b="1" u="sng" dirty="0">
                <a:latin typeface="Meiryo UI" panose="020B0604030504040204" pitchFamily="50" charset="-128"/>
                <a:ea typeface="Meiryo UI" panose="020B0604030504040204" pitchFamily="50" charset="-128"/>
              </a:rPr>
              <a:t>コード自動生成</a:t>
            </a:r>
            <a:r>
              <a:rPr lang="en-US" altLang="ja-JP" sz="1200" b="1" u="sng" dirty="0">
                <a:latin typeface="Meiryo UI" panose="020B0604030504040204" pitchFamily="50" charset="-128"/>
                <a:ea typeface="Meiryo UI" panose="020B0604030504040204" pitchFamily="50" charset="-128"/>
              </a:rPr>
              <a:t>AI</a:t>
            </a:r>
            <a:r>
              <a:rPr lang="ja-JP" altLang="en-US" sz="1200" b="1" u="sng" dirty="0">
                <a:latin typeface="Meiryo UI" panose="020B0604030504040204" pitchFamily="50" charset="-128"/>
                <a:ea typeface="Meiryo UI" panose="020B0604030504040204" pitchFamily="50" charset="-128"/>
              </a:rPr>
              <a:t>の活用</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全エンジニアに対し、</a:t>
            </a:r>
            <a:r>
              <a:rPr lang="en-US" altLang="ja-JP" sz="1200" dirty="0">
                <a:latin typeface="Meiryo UI" panose="020B0604030504040204" pitchFamily="50" charset="-128"/>
                <a:ea typeface="Meiryo UI" panose="020B0604030504040204" pitchFamily="50" charset="-128"/>
              </a:rPr>
              <a:t>GitHub Copilot</a:t>
            </a:r>
            <a:r>
              <a:rPr lang="ja-JP" altLang="en-US" sz="1200" dirty="0">
                <a:latin typeface="Meiryo UI" panose="020B0604030504040204" pitchFamily="50" charset="-128"/>
                <a:ea typeface="Meiryo UI" panose="020B0604030504040204" pitchFamily="50" charset="-128"/>
              </a:rPr>
              <a:t>や</a:t>
            </a:r>
            <a:r>
              <a:rPr lang="en-US" altLang="ja-JP" sz="1200" dirty="0">
                <a:latin typeface="Meiryo UI" panose="020B0604030504040204" pitchFamily="50" charset="-128"/>
                <a:ea typeface="Meiryo UI" panose="020B0604030504040204" pitchFamily="50" charset="-128"/>
              </a:rPr>
              <a:t>Gemini Code Assist</a:t>
            </a:r>
            <a:r>
              <a:rPr lang="ja-JP" altLang="en-US" sz="1200" dirty="0">
                <a:latin typeface="Meiryo UI" panose="020B0604030504040204" pitchFamily="50" charset="-128"/>
                <a:ea typeface="Meiryo UI" panose="020B0604030504040204" pitchFamily="50" charset="-128"/>
              </a:rPr>
              <a:t>の提供を開始。社内ハッカソンを開催するなど、従業員の生産性向上とリスキリングを 「人材」「データ」「技術」 の三位一体で進めている。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5"/>
              </a:rPr>
              <a:t>https://www.finextra.com/newsarticle/45684/goldman-adopts-measured-approach-to-roll-out-of-ai#:~:text=Roughly%20one%20out%20of%20every,most%20creative%20uses%20of%20AI</a:t>
            </a:r>
            <a:endParaRPr lang="en-US" altLang="ja-JP" sz="1200" dirty="0">
              <a:latin typeface="Meiryo UI" panose="020B0604030504040204" pitchFamily="50" charset="-128"/>
              <a:ea typeface="Meiryo UI" panose="020B0604030504040204" pitchFamily="50" charset="-128"/>
            </a:endParaRPr>
          </a:p>
          <a:p>
            <a:pPr marL="0" indent="0">
              <a:buNone/>
            </a:pP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9071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8B0-A823-0367-5E76-8B2CBD038B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D8FF32-6152-EF32-523E-5F52FE3AAF17}"/>
              </a:ext>
            </a:extLst>
          </p:cNvPr>
          <p:cNvSpPr>
            <a:spLocks noGrp="1"/>
          </p:cNvSpPr>
          <p:nvPr>
            <p:ph type="title"/>
          </p:nvPr>
        </p:nvSpPr>
        <p:spPr>
          <a:xfrm>
            <a:off x="186813" y="109487"/>
            <a:ext cx="11680721" cy="647598"/>
          </a:xfrm>
        </p:spPr>
        <p:txBody>
          <a:bodyPr>
            <a:norm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リサーチ</a:t>
            </a:r>
            <a:r>
              <a:rPr kumimoji="1" lang="en-US" altLang="ja-JP" sz="1600" b="1" dirty="0">
                <a:latin typeface="Meiryo UI" panose="020B0604030504040204" pitchFamily="50" charset="-128"/>
                <a:ea typeface="Meiryo UI" panose="020B0604030504040204" pitchFamily="50" charset="-128"/>
              </a:rPr>
              <a:t>】Goldman Sachs</a:t>
            </a:r>
            <a:r>
              <a:rPr kumimoji="1" lang="ja-JP" altLang="en-US" sz="1600" b="1" dirty="0">
                <a:latin typeface="Meiryo UI" panose="020B0604030504040204" pitchFamily="50" charset="-128"/>
                <a:ea typeface="Meiryo UI" panose="020B0604030504040204" pitchFamily="50" charset="-128"/>
              </a:rPr>
              <a:t>の</a:t>
            </a:r>
            <a:r>
              <a:rPr lang="ja-JP" altLang="en-US" sz="1600" b="1" dirty="0">
                <a:latin typeface="Meiryo UI" panose="020B0604030504040204" pitchFamily="50" charset="-128"/>
                <a:ea typeface="Meiryo UI" panose="020B0604030504040204" pitchFamily="50" charset="-128"/>
              </a:rPr>
              <a:t>その他の取り組み</a:t>
            </a:r>
            <a:endParaRPr kumimoji="1" lang="ja-JP" altLang="en-US" sz="1600" b="1" dirty="0">
              <a:latin typeface="Meiryo UI" panose="020B0604030504040204" pitchFamily="50" charset="-128"/>
              <a:ea typeface="Meiryo UI" panose="020B0604030504040204" pitchFamily="50" charset="-128"/>
            </a:endParaRPr>
          </a:p>
        </p:txBody>
      </p:sp>
      <p:sp>
        <p:nvSpPr>
          <p:cNvPr id="5" name="コンテンツ プレースホルダー 2">
            <a:extLst>
              <a:ext uri="{FF2B5EF4-FFF2-40B4-BE49-F238E27FC236}">
                <a16:creationId xmlns:a16="http://schemas.microsoft.com/office/drawing/2014/main" id="{0E9237ED-AA9D-864C-FC34-D1035CD045CF}"/>
              </a:ext>
            </a:extLst>
          </p:cNvPr>
          <p:cNvSpPr txBox="1">
            <a:spLocks/>
          </p:cNvSpPr>
          <p:nvPr/>
        </p:nvSpPr>
        <p:spPr>
          <a:xfrm>
            <a:off x="207705" y="3503386"/>
            <a:ext cx="11776589" cy="9095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生物多様性測定へ人工知能を応用</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MIT-IBM Watson AI</a:t>
            </a:r>
            <a:r>
              <a:rPr lang="ja-JP" altLang="en-US" sz="1200" dirty="0">
                <a:latin typeface="Meiryo UI" panose="020B0604030504040204" pitchFamily="50" charset="-128"/>
                <a:ea typeface="Meiryo UI" panose="020B0604030504040204" pitchFamily="50" charset="-128"/>
              </a:rPr>
              <a:t>ラボと協業し、</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を活用した生物多様性モニタリング手法の開発を推進（サステナブル金融分野）</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2"/>
              </a:rPr>
              <a:t>https://www.goldmansachs.com/pressroom/press-releases/2024/mit-ibm-watson-ai-lab</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55188BD7-3FCB-7A2C-26CC-EE5E3EFC71D4}"/>
              </a:ext>
            </a:extLst>
          </p:cNvPr>
          <p:cNvSpPr txBox="1">
            <a:spLocks/>
          </p:cNvSpPr>
          <p:nvPr/>
        </p:nvSpPr>
        <p:spPr>
          <a:xfrm>
            <a:off x="218767" y="2375093"/>
            <a:ext cx="11776589" cy="93904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b="1" u="sng" dirty="0">
                <a:latin typeface="Meiryo UI" panose="020B0604030504040204" pitchFamily="50" charset="-128"/>
                <a:ea typeface="Meiryo UI" panose="020B0604030504040204" pitchFamily="50" charset="-128"/>
              </a:rPr>
              <a:t>人工知能関連</a:t>
            </a:r>
            <a:endParaRPr lang="en-US" altLang="ja-JP" sz="1200" b="1" u="sng"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国際情報技術大学ハイデラバード校との提携で</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・新興技術の研究開発拠点（センターオブエクセレンス）を</a:t>
            </a:r>
            <a:r>
              <a:rPr lang="en-US" altLang="ja-JP" sz="1200" dirty="0">
                <a:latin typeface="Meiryo UI" panose="020B0604030504040204" pitchFamily="50" charset="-128"/>
                <a:ea typeface="Meiryo UI" panose="020B0604030504040204" pitchFamily="50" charset="-128"/>
              </a:rPr>
              <a:t>2023</a:t>
            </a:r>
            <a:r>
              <a:rPr lang="ja-JP" altLang="en-US" sz="1200" dirty="0">
                <a:latin typeface="Meiryo UI" panose="020B0604030504040204" pitchFamily="50" charset="-128"/>
                <a:ea typeface="Meiryo UI" panose="020B0604030504040204" pitchFamily="50" charset="-128"/>
              </a:rPr>
              <a:t>年に設立</a:t>
            </a:r>
            <a:endParaRPr lang="en-US" altLang="ja-JP" sz="1200" dirty="0">
              <a:latin typeface="Meiryo UI" panose="020B0604030504040204" pitchFamily="50" charset="-128"/>
              <a:ea typeface="Meiryo UI" panose="020B0604030504040204" pitchFamily="50" charset="-128"/>
            </a:endParaRPr>
          </a:p>
          <a:p>
            <a:pPr marL="0" inden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3"/>
              </a:rPr>
              <a:t>https://chatgpt.com/c/68cf5b4e-fbb8-8323-be3c-d4ed8888f729</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endParaRPr lang="en-US" altLang="ja-JP" sz="1200" dirty="0">
              <a:latin typeface="Meiryo UI" panose="020B0604030504040204" pitchFamily="50" charset="-128"/>
              <a:ea typeface="Meiryo UI" panose="020B0604030504040204" pitchFamily="50" charset="-128"/>
            </a:endParaRPr>
          </a:p>
        </p:txBody>
      </p:sp>
      <p:sp>
        <p:nvSpPr>
          <p:cNvPr id="4" name="コンテンツ プレースホルダー 2">
            <a:extLst>
              <a:ext uri="{FF2B5EF4-FFF2-40B4-BE49-F238E27FC236}">
                <a16:creationId xmlns:a16="http://schemas.microsoft.com/office/drawing/2014/main" id="{2EF393D7-FEEC-21E8-C761-5DCD1538AD8B}"/>
              </a:ext>
            </a:extLst>
          </p:cNvPr>
          <p:cNvSpPr txBox="1">
            <a:spLocks/>
          </p:cNvSpPr>
          <p:nvPr/>
        </p:nvSpPr>
        <p:spPr>
          <a:xfrm>
            <a:off x="218767" y="598822"/>
            <a:ext cx="11796250" cy="1587024"/>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200" b="1" u="sng" dirty="0">
                <a:latin typeface="Meiryo UI" panose="020B0604030504040204" pitchFamily="50" charset="-128"/>
                <a:ea typeface="Meiryo UI" panose="020B0604030504040204" pitchFamily="50" charset="-128"/>
              </a:rPr>
              <a:t>DX</a:t>
            </a:r>
            <a:r>
              <a:rPr lang="ja-JP" altLang="en-US" sz="1200" b="1" u="sng" dirty="0">
                <a:latin typeface="Meiryo UI" panose="020B0604030504040204" pitchFamily="50" charset="-128"/>
                <a:ea typeface="Meiryo UI" panose="020B0604030504040204" pitchFamily="50" charset="-128"/>
              </a:rPr>
              <a:t>戦略「ハイブリッド・ワークフォース」</a:t>
            </a:r>
            <a:endParaRPr lang="en-US" altLang="ja-JP" sz="1200" b="1" u="sng"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en-US" altLang="ja-JP" sz="1200" b="1" dirty="0">
                <a:latin typeface="Meiryo UI" panose="020B0604030504040204" pitchFamily="50" charset="-128"/>
                <a:ea typeface="Meiryo UI" panose="020B0604030504040204" pitchFamily="50" charset="-128"/>
              </a:rPr>
              <a:t>AI</a:t>
            </a:r>
            <a:r>
              <a:rPr lang="ja-JP" altLang="en-US" sz="1200" b="1" dirty="0">
                <a:latin typeface="Meiryo UI" panose="020B0604030504040204" pitchFamily="50" charset="-128"/>
                <a:ea typeface="Meiryo UI" panose="020B0604030504040204" pitchFamily="50" charset="-128"/>
              </a:rPr>
              <a:t>の進化が「ハイブリッド・ワークフォース」という新しい労働力の形を生み出す（共同</a:t>
            </a:r>
            <a:r>
              <a:rPr lang="en-US" altLang="ja-JP" sz="1200" b="1" dirty="0">
                <a:latin typeface="Meiryo UI" panose="020B0604030504040204" pitchFamily="50" charset="-128"/>
                <a:ea typeface="Meiryo UI" panose="020B0604030504040204" pitchFamily="50" charset="-128"/>
              </a:rPr>
              <a:t>CIO Marco Argenti</a:t>
            </a:r>
            <a:r>
              <a:rPr lang="ja-JP" altLang="en-US" sz="1200" b="1" dirty="0">
                <a:latin typeface="Meiryo UI" panose="020B0604030504040204" pitchFamily="50" charset="-128"/>
                <a:ea typeface="Meiryo UI" panose="020B0604030504040204" pitchFamily="50" charset="-128"/>
              </a:rPr>
              <a:t>氏）</a:t>
            </a:r>
            <a:endParaRPr lang="en-US" altLang="ja-JP" sz="1200" b="1" u="sng"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を人間の能力を拡張する「</a:t>
            </a:r>
            <a:r>
              <a:rPr lang="ja-JP" altLang="en-US" sz="1200" b="1" dirty="0">
                <a:latin typeface="Meiryo UI" panose="020B0604030504040204" pitchFamily="50" charset="-128"/>
                <a:ea typeface="Meiryo UI" panose="020B0604030504040204" pitchFamily="50" charset="-128"/>
              </a:rPr>
              <a:t>デジタル従業員</a:t>
            </a:r>
            <a:r>
              <a:rPr lang="ja-JP" altLang="en-US" sz="1200" dirty="0">
                <a:latin typeface="Meiryo UI" panose="020B0604030504040204" pitchFamily="50" charset="-128"/>
                <a:ea typeface="Meiryo UI" panose="020B0604030504040204" pitchFamily="50" charset="-128"/>
              </a:rPr>
              <a:t>」として位置づけ、人と</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が協働する「ハイブリッド・ワークフォース」という新しい働き方を提唱。</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この構想では、</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は単純なタスクを自動化するツールではなく、複雑なタスクを自律的に計画・実行する「エージェント</a:t>
            </a:r>
            <a:r>
              <a:rPr lang="en-US" altLang="ja-JP" sz="1200" dirty="0">
                <a:latin typeface="Meiryo UI" panose="020B0604030504040204" pitchFamily="50" charset="-128"/>
                <a:ea typeface="Meiryo UI" panose="020B0604030504040204" pitchFamily="50" charset="-128"/>
              </a:rPr>
              <a:t>AI</a:t>
            </a:r>
            <a:r>
              <a:rPr lang="ja-JP" altLang="en-US" sz="1200" dirty="0">
                <a:latin typeface="Meiryo UI" panose="020B0604030504040204" pitchFamily="50" charset="-128"/>
                <a:ea typeface="Meiryo UI" panose="020B0604030504040204" pitchFamily="50" charset="-128"/>
              </a:rPr>
              <a:t>」へと進化し、将来的には「デジタル従業員」として人間と協働するようになるとしている。</a:t>
            </a:r>
            <a:endParaRPr lang="en-US" altLang="ja-JP" sz="1200" dirty="0">
              <a:latin typeface="Meiryo UI" panose="020B0604030504040204" pitchFamily="50" charset="-128"/>
              <a:ea typeface="Meiryo UI" panose="020B0604030504040204" pitchFamily="50" charset="-128"/>
            </a:endParaRPr>
          </a:p>
          <a:p>
            <a:pPr marL="0" indent="0">
              <a:buFont typeface="Arial" panose="020B0604020202020204" pitchFamily="34" charset="0"/>
              <a:buNone/>
            </a:pPr>
            <a:r>
              <a:rPr lang="ja-JP" altLang="en-US" sz="1200" dirty="0">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4"/>
              </a:rPr>
              <a:t>https://www.goldmansachs.com/insights/articles/what-to-expect-from-ai-in-2025-hybrid-workers-robotics-expert-models</a:t>
            </a:r>
            <a:endParaRPr lang="en-US" altLang="ja-JP" sz="1200" b="1" u="sng" dirty="0">
              <a:latin typeface="Meiryo UI" panose="020B0604030504040204" pitchFamily="50" charset="-128"/>
              <a:ea typeface="Meiryo UI" panose="020B0604030504040204" pitchFamily="50" charset="-128"/>
            </a:endParaRPr>
          </a:p>
          <a:p>
            <a:endParaRPr lang="ja-JP" altLang="en-US" sz="1200" b="1" u="sng"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099605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5993</TotalTime>
  <Words>2799</Words>
  <Application>Microsoft Office PowerPoint</Application>
  <PresentationFormat>ワイド画面</PresentationFormat>
  <Paragraphs>109</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Meiryo UI</vt:lpstr>
      <vt:lpstr>游ゴシック</vt:lpstr>
      <vt:lpstr>游ゴシック Light</vt:lpstr>
      <vt:lpstr>Arial</vt:lpstr>
      <vt:lpstr>Office テーマ</vt:lpstr>
      <vt:lpstr>【リサーチ】Goldman SachsのAI/Data/Data Scienceに関する組織</vt:lpstr>
      <vt:lpstr>PowerPoint プレゼンテーション</vt:lpstr>
      <vt:lpstr>【リサーチ】Goldman Sachsの外部提供を想定したもの</vt:lpstr>
      <vt:lpstr>【リサーチ】Goldman Sachsの外部提供を想定したもの</vt:lpstr>
      <vt:lpstr>【リサーチ】Goldman Sachsのその他の取り組み</vt:lpstr>
      <vt:lpstr>【リサーチ】Goldman Sachsのその他の取り組み</vt:lpstr>
      <vt:lpstr>【リサーチ】Goldman Sachsのその他の取り組み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泰弘 仲山</dc:creator>
  <cp:lastModifiedBy>泰弘 仲山</cp:lastModifiedBy>
  <cp:revision>31</cp:revision>
  <dcterms:created xsi:type="dcterms:W3CDTF">2025-09-12T03:05:28Z</dcterms:created>
  <dcterms:modified xsi:type="dcterms:W3CDTF">2025-09-29T16:38:03Z</dcterms:modified>
</cp:coreProperties>
</file>