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Nunito"/>
      <p:regular r:id="rId24"/>
      <p:bold r:id="rId25"/>
      <p:italic r:id="rId26"/>
      <p:boldItalic r:id="rId27"/>
    </p:embeddedFont>
    <p:embeddedFont>
      <p:font typeface="Maven Pro"/>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C246F6-4D6A-4FA8-88AC-AF7FF46E40DF}">
  <a:tblStyle styleId="{74C246F6-4D6A-4FA8-88AC-AF7FF46E40D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unito-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avenPro-regular.fntdata"/><Relationship Id="rId27" Type="http://schemas.openxmlformats.org/officeDocument/2006/relationships/font" Target="fonts/Nuni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avenPro-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a0372eb09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7a0372eb0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a0372eb09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7a0372eb09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a28eb49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a28eb49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7a28eb49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7a28eb49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7a28eb493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7a28eb493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7a28eb493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7a28eb493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a28eb493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7a28eb493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7a28eb493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7a28eb493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7a28eb493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7a28eb493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7a28eb493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7a28eb493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7a28eb493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7a28eb493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7a28eb493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7a28eb493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7a28eb493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7a28eb493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7a28eb493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7a28eb493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85740e1f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85740e1f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7a28eb493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7a28eb493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3528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ja"/>
              <a:t>因果推論の基礎</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仲山</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因果推論とは？</a:t>
            </a:r>
            <a:endParaRPr/>
          </a:p>
        </p:txBody>
      </p:sp>
      <p:sp>
        <p:nvSpPr>
          <p:cNvPr id="284" name="Google Shape;284;p14"/>
          <p:cNvSpPr txBox="1"/>
          <p:nvPr>
            <p:ph idx="1" type="body"/>
          </p:nvPr>
        </p:nvSpPr>
        <p:spPr>
          <a:xfrm>
            <a:off x="1212725" y="1418450"/>
            <a:ext cx="7376100" cy="3545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ja"/>
              <a:t>処置によってもたらされる結果への効果を定量的に推定すること</a:t>
            </a:r>
            <a:endParaRPr/>
          </a:p>
          <a:p>
            <a:pPr indent="0" lvl="0" marL="0" rtl="0" algn="l">
              <a:spcBef>
                <a:spcPts val="1200"/>
              </a:spcBef>
              <a:spcAft>
                <a:spcPts val="0"/>
              </a:spcAft>
              <a:buNone/>
            </a:pPr>
            <a:r>
              <a:rPr lang="ja"/>
              <a:t>例：少人数クラス（処置）はどれぐらい生徒の学力向上に役立つか（結果）</a:t>
            </a:r>
            <a:endParaRPr/>
          </a:p>
          <a:p>
            <a:pPr indent="0" lvl="0" marL="0" rtl="0" algn="l">
              <a:spcBef>
                <a:spcPts val="1200"/>
              </a:spcBef>
              <a:spcAft>
                <a:spcPts val="0"/>
              </a:spcAft>
              <a:buNone/>
            </a:pPr>
            <a:r>
              <a:rPr lang="ja"/>
              <a:t>※ 地域・性別・親の年収など様々なファクター（共変量・交絡因子）を考慮した上で、推定する必要がある</a:t>
            </a:r>
            <a:endParaRPr/>
          </a:p>
          <a:p>
            <a:pPr indent="0" lvl="0" marL="0" rtl="0" algn="l">
              <a:spcBef>
                <a:spcPts val="1200"/>
              </a:spcBef>
              <a:spcAft>
                <a:spcPts val="0"/>
              </a:spcAft>
              <a:buNone/>
            </a:pPr>
            <a:r>
              <a:rPr lang="ja"/>
              <a:t>※ 交絡因子：処置と結果の両方に影響する因子</a:t>
            </a:r>
            <a:endParaRPr/>
          </a:p>
          <a:p>
            <a:pPr indent="0" lvl="0" marL="0" rtl="0" algn="l">
              <a:spcBef>
                <a:spcPts val="1200"/>
              </a:spcBef>
              <a:spcAft>
                <a:spcPts val="0"/>
              </a:spcAft>
              <a:buNone/>
            </a:pPr>
            <a:r>
              <a:rPr lang="ja"/>
              <a:t>　（アイスの売上と海の事故では、季節(夏)が交絡因子）</a:t>
            </a:r>
            <a:endParaRPr/>
          </a:p>
          <a:p>
            <a:pPr indent="0" lvl="0" marL="0" rtl="0" algn="l">
              <a:spcBef>
                <a:spcPts val="1200"/>
              </a:spcBef>
              <a:spcAft>
                <a:spcPts val="0"/>
              </a:spcAft>
              <a:buNone/>
            </a:pPr>
            <a:r>
              <a:rPr lang="ja"/>
              <a:t>因果関係は以下の3つを満たす必要がある</a:t>
            </a:r>
            <a:endParaRPr/>
          </a:p>
          <a:p>
            <a:pPr indent="0" lvl="0" marL="0" rtl="0" algn="l">
              <a:spcBef>
                <a:spcPts val="1200"/>
              </a:spcBef>
              <a:spcAft>
                <a:spcPts val="0"/>
              </a:spcAft>
              <a:buNone/>
            </a:pPr>
            <a:r>
              <a:rPr lang="ja"/>
              <a:t>１．変数同士に相関がある</a:t>
            </a:r>
            <a:endParaRPr/>
          </a:p>
          <a:p>
            <a:pPr indent="0" lvl="0" marL="0" rtl="0" algn="l">
              <a:spcBef>
                <a:spcPts val="1200"/>
              </a:spcBef>
              <a:spcAft>
                <a:spcPts val="0"/>
              </a:spcAft>
              <a:buNone/>
            </a:pPr>
            <a:r>
              <a:rPr lang="ja"/>
              <a:t>２．原因が先におこる</a:t>
            </a:r>
            <a:endParaRPr/>
          </a:p>
          <a:p>
            <a:pPr indent="0" lvl="0" marL="0" rtl="0" algn="l">
              <a:spcBef>
                <a:spcPts val="1200"/>
              </a:spcBef>
              <a:spcAft>
                <a:spcPts val="1200"/>
              </a:spcAft>
              <a:buNone/>
            </a:pPr>
            <a:r>
              <a:rPr lang="ja"/>
              <a:t>３．交絡因子がない</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因果効果推定のイメージ</a:t>
            </a:r>
            <a:endParaRPr/>
          </a:p>
        </p:txBody>
      </p:sp>
      <p:sp>
        <p:nvSpPr>
          <p:cNvPr id="290" name="Google Shape;290;p15"/>
          <p:cNvSpPr txBox="1"/>
          <p:nvPr>
            <p:ph idx="1" type="body"/>
          </p:nvPr>
        </p:nvSpPr>
        <p:spPr>
          <a:xfrm>
            <a:off x="1303800" y="1537625"/>
            <a:ext cx="7030500" cy="299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因果効果＝E[Y(1) - Y(0)]</a:t>
            </a:r>
            <a:endParaRPr/>
          </a:p>
          <a:p>
            <a:pPr indent="0" lvl="0" marL="0" rtl="0" algn="l">
              <a:spcBef>
                <a:spcPts val="1200"/>
              </a:spcBef>
              <a:spcAft>
                <a:spcPts val="0"/>
              </a:spcAft>
              <a:buNone/>
            </a:pPr>
            <a:r>
              <a:rPr lang="ja"/>
              <a:t>・Y(1)：介入時の結果変数</a:t>
            </a:r>
            <a:endParaRPr/>
          </a:p>
          <a:p>
            <a:pPr indent="0" lvl="0" marL="0" rtl="0" algn="l">
              <a:spcBef>
                <a:spcPts val="1200"/>
              </a:spcBef>
              <a:spcAft>
                <a:spcPts val="0"/>
              </a:spcAft>
              <a:buNone/>
            </a:pPr>
            <a:r>
              <a:rPr lang="ja"/>
              <a:t>・Y(0)：非介入時の結果変数</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例：居酒屋でクーポンを発行した際の店の売上の伸びを推定</a:t>
            </a:r>
            <a:endParaRPr/>
          </a:p>
          <a:p>
            <a:pPr indent="0" lvl="0" marL="0" rtl="0" algn="l">
              <a:spcBef>
                <a:spcPts val="1200"/>
              </a:spcBef>
              <a:spcAft>
                <a:spcPts val="0"/>
              </a:spcAft>
              <a:buNone/>
            </a:pPr>
            <a:r>
              <a:rPr lang="ja"/>
              <a:t>・</a:t>
            </a:r>
            <a:r>
              <a:rPr lang="ja"/>
              <a:t>Y(1)：クーポンを発行した場合の売上</a:t>
            </a:r>
            <a:endParaRPr/>
          </a:p>
          <a:p>
            <a:pPr indent="0" lvl="0" marL="0" rtl="0" algn="l">
              <a:spcBef>
                <a:spcPts val="1200"/>
              </a:spcBef>
              <a:spcAft>
                <a:spcPts val="1200"/>
              </a:spcAft>
              <a:buNone/>
            </a:pPr>
            <a:r>
              <a:rPr lang="ja"/>
              <a:t>・Y(0)：クーポンを発行しなかった場合の売上</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反実仮想</a:t>
            </a:r>
            <a:endParaRPr/>
          </a:p>
        </p:txBody>
      </p:sp>
      <p:sp>
        <p:nvSpPr>
          <p:cNvPr id="296" name="Google Shape;296;p16"/>
          <p:cNvSpPr txBox="1"/>
          <p:nvPr>
            <p:ph idx="1" type="body"/>
          </p:nvPr>
        </p:nvSpPr>
        <p:spPr>
          <a:xfrm>
            <a:off x="1303800" y="1597875"/>
            <a:ext cx="70305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反実仮想</a:t>
            </a:r>
            <a:endParaRPr/>
          </a:p>
          <a:p>
            <a:pPr indent="-311150" lvl="1" marL="914400" rtl="0" algn="l">
              <a:spcBef>
                <a:spcPts val="0"/>
              </a:spcBef>
              <a:spcAft>
                <a:spcPts val="0"/>
              </a:spcAft>
              <a:buSzPts val="1300"/>
              <a:buChar char="○"/>
            </a:pPr>
            <a:r>
              <a:rPr lang="ja" sz="1300"/>
              <a:t>事実と反対のケース</a:t>
            </a:r>
            <a:endParaRPr sz="1300"/>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クーポンの例では、もしクーポンを配布したとすると、クーポンを配らなかった世界が反実仮想（この場合の結果変数Y(0)は観測されない）</a:t>
            </a:r>
            <a:endParaRPr/>
          </a:p>
          <a:p>
            <a:pPr indent="-311150" lvl="1" marL="914400" rtl="0" algn="l">
              <a:spcBef>
                <a:spcPts val="0"/>
              </a:spcBef>
              <a:spcAft>
                <a:spcPts val="0"/>
              </a:spcAft>
              <a:buSzPts val="1300"/>
              <a:buChar char="○"/>
            </a:pPr>
            <a:r>
              <a:rPr lang="ja" sz="1300"/>
              <a:t>反実仮想の結果変数は推定する必要がある</a:t>
            </a:r>
            <a:endParaRPr sz="1300"/>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介入・非介入のそれぞれに結果変数（Y(i)）があると考える枠組みを「ポテンシャルアウトカムフレームワーク」という</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セレクションバイアス</a:t>
            </a:r>
            <a:endParaRPr/>
          </a:p>
        </p:txBody>
      </p:sp>
      <p:sp>
        <p:nvSpPr>
          <p:cNvPr id="302" name="Google Shape;302;p17"/>
          <p:cNvSpPr txBox="1"/>
          <p:nvPr>
            <p:ph idx="1" type="body"/>
          </p:nvPr>
        </p:nvSpPr>
        <p:spPr>
          <a:xfrm>
            <a:off x="1303800" y="1505000"/>
            <a:ext cx="7030500" cy="302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・毎週金曜日にクーポンを配ったと仮定</a:t>
            </a:r>
            <a:endParaRPr/>
          </a:p>
          <a:p>
            <a:pPr indent="457200" lvl="0" marL="0" rtl="0" algn="l">
              <a:spcBef>
                <a:spcPts val="1200"/>
              </a:spcBef>
              <a:spcAft>
                <a:spcPts val="0"/>
              </a:spcAft>
              <a:buNone/>
            </a:pPr>
            <a:r>
              <a:rPr lang="ja"/>
              <a:t>・Y(1)：金曜日の売上</a:t>
            </a:r>
            <a:endParaRPr/>
          </a:p>
          <a:p>
            <a:pPr indent="457200" lvl="0" marL="0" rtl="0" algn="l">
              <a:spcBef>
                <a:spcPts val="1200"/>
              </a:spcBef>
              <a:spcAft>
                <a:spcPts val="0"/>
              </a:spcAft>
              <a:buNone/>
            </a:pPr>
            <a:r>
              <a:rPr lang="ja"/>
              <a:t>・Y(0)：金曜日以外の売上</a:t>
            </a:r>
            <a:endParaRPr/>
          </a:p>
          <a:p>
            <a:pPr indent="457200" lvl="0" marL="0" rtl="0" algn="l">
              <a:spcBef>
                <a:spcPts val="1200"/>
              </a:spcBef>
              <a:spcAft>
                <a:spcPts val="0"/>
              </a:spcAft>
              <a:buNone/>
            </a:pPr>
            <a:r>
              <a:t/>
            </a:r>
            <a:endParaRPr/>
          </a:p>
          <a:p>
            <a:pPr indent="0" lvl="0" marL="0" rtl="0" algn="l">
              <a:spcBef>
                <a:spcPts val="1200"/>
              </a:spcBef>
              <a:spcAft>
                <a:spcPts val="1200"/>
              </a:spcAft>
              <a:buNone/>
            </a:pPr>
            <a:r>
              <a:rPr lang="ja"/>
              <a:t>⇒　そもそも金曜日はお客さんが多い可能性があるのため、この推定ではクーポンの効果を過剰に見積もってしまう可能性がある（セレクションバイアス）</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因果グラフとバックドアパス</a:t>
            </a:r>
            <a:endParaRPr/>
          </a:p>
        </p:txBody>
      </p:sp>
      <p:sp>
        <p:nvSpPr>
          <p:cNvPr id="308" name="Google Shape;308;p18"/>
          <p:cNvSpPr txBox="1"/>
          <p:nvPr>
            <p:ph idx="1" type="body"/>
          </p:nvPr>
        </p:nvSpPr>
        <p:spPr>
          <a:xfrm>
            <a:off x="1303800" y="1597875"/>
            <a:ext cx="70305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因果ブラフ</a:t>
            </a:r>
            <a:endParaRPr/>
          </a:p>
          <a:p>
            <a:pPr indent="-311150" lvl="1" marL="914400" rtl="0" algn="l">
              <a:spcBef>
                <a:spcPts val="0"/>
              </a:spcBef>
              <a:spcAft>
                <a:spcPts val="0"/>
              </a:spcAft>
              <a:buSzPts val="1300"/>
              <a:buChar char="○"/>
            </a:pPr>
            <a:r>
              <a:rPr lang="ja" sz="1300"/>
              <a:t>因果関係をDAG（有向グラフ）で表したもの</a:t>
            </a:r>
            <a:endParaRPr sz="1300"/>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バックドアパス</a:t>
            </a:r>
            <a:endParaRPr/>
          </a:p>
          <a:p>
            <a:pPr indent="-298450" lvl="1" marL="914400" rtl="0" algn="l">
              <a:spcBef>
                <a:spcPts val="0"/>
              </a:spcBef>
              <a:spcAft>
                <a:spcPts val="0"/>
              </a:spcAft>
              <a:buSzPts val="1100"/>
              <a:buChar char="○"/>
            </a:pPr>
            <a:r>
              <a:rPr lang="ja"/>
              <a:t>処置と結果の両方に影響を与えるパス</a:t>
            </a:r>
            <a:endParaRPr/>
          </a:p>
          <a:p>
            <a:pPr indent="-298450" lvl="1" marL="914400" rtl="0" algn="l">
              <a:spcBef>
                <a:spcPts val="0"/>
              </a:spcBef>
              <a:spcAft>
                <a:spcPts val="0"/>
              </a:spcAft>
              <a:buSzPts val="1100"/>
              <a:buChar char="○"/>
            </a:pPr>
            <a:r>
              <a:rPr lang="ja"/>
              <a:t>曜日が処置（クーポン）と結果（売上）の両方に影響</a:t>
            </a:r>
            <a:endParaRPr/>
          </a:p>
        </p:txBody>
      </p:sp>
      <p:sp>
        <p:nvSpPr>
          <p:cNvPr id="309" name="Google Shape;309;p18"/>
          <p:cNvSpPr/>
          <p:nvPr/>
        </p:nvSpPr>
        <p:spPr>
          <a:xfrm>
            <a:off x="7227975" y="1042675"/>
            <a:ext cx="1022100" cy="70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Nunito"/>
                <a:ea typeface="Nunito"/>
                <a:cs typeface="Nunito"/>
                <a:sym typeface="Nunito"/>
              </a:rPr>
              <a:t>曜日</a:t>
            </a:r>
            <a:endParaRPr>
              <a:latin typeface="Nunito"/>
              <a:ea typeface="Nunito"/>
              <a:cs typeface="Nunito"/>
              <a:sym typeface="Nunito"/>
            </a:endParaRPr>
          </a:p>
        </p:txBody>
      </p:sp>
      <p:sp>
        <p:nvSpPr>
          <p:cNvPr id="310" name="Google Shape;310;p18"/>
          <p:cNvSpPr/>
          <p:nvPr/>
        </p:nvSpPr>
        <p:spPr>
          <a:xfrm>
            <a:off x="6243975" y="2320900"/>
            <a:ext cx="1304700" cy="88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Nunito"/>
                <a:ea typeface="Nunito"/>
                <a:cs typeface="Nunito"/>
                <a:sym typeface="Nunito"/>
              </a:rPr>
              <a:t>クーポン</a:t>
            </a:r>
            <a:endParaRPr>
              <a:latin typeface="Nunito"/>
              <a:ea typeface="Nunito"/>
              <a:cs typeface="Nunito"/>
              <a:sym typeface="Nunito"/>
            </a:endParaRPr>
          </a:p>
        </p:txBody>
      </p:sp>
      <p:sp>
        <p:nvSpPr>
          <p:cNvPr id="311" name="Google Shape;311;p18"/>
          <p:cNvSpPr/>
          <p:nvPr/>
        </p:nvSpPr>
        <p:spPr>
          <a:xfrm>
            <a:off x="7929375" y="2320900"/>
            <a:ext cx="1152600" cy="88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Nunito"/>
                <a:ea typeface="Nunito"/>
                <a:cs typeface="Nunito"/>
                <a:sym typeface="Nunito"/>
              </a:rPr>
              <a:t>売上</a:t>
            </a:r>
            <a:endParaRPr>
              <a:latin typeface="Nunito"/>
              <a:ea typeface="Nunito"/>
              <a:cs typeface="Nunito"/>
              <a:sym typeface="Nunito"/>
            </a:endParaRPr>
          </a:p>
        </p:txBody>
      </p:sp>
      <p:cxnSp>
        <p:nvCxnSpPr>
          <p:cNvPr id="312" name="Google Shape;312;p18"/>
          <p:cNvCxnSpPr>
            <a:stCxn id="309" idx="3"/>
            <a:endCxn id="310" idx="0"/>
          </p:cNvCxnSpPr>
          <p:nvPr/>
        </p:nvCxnSpPr>
        <p:spPr>
          <a:xfrm flipH="1">
            <a:off x="6896458" y="1645967"/>
            <a:ext cx="481200" cy="675000"/>
          </a:xfrm>
          <a:prstGeom prst="straightConnector1">
            <a:avLst/>
          </a:prstGeom>
          <a:noFill/>
          <a:ln cap="flat" cmpd="sng" w="9525">
            <a:solidFill>
              <a:schemeClr val="dk2"/>
            </a:solidFill>
            <a:prstDash val="solid"/>
            <a:round/>
            <a:headEnd len="med" w="med" type="none"/>
            <a:tailEnd len="med" w="med" type="triangle"/>
          </a:ln>
        </p:spPr>
      </p:cxnSp>
      <p:cxnSp>
        <p:nvCxnSpPr>
          <p:cNvPr id="313" name="Google Shape;313;p18"/>
          <p:cNvCxnSpPr>
            <a:stCxn id="309" idx="5"/>
            <a:endCxn id="311" idx="0"/>
          </p:cNvCxnSpPr>
          <p:nvPr/>
        </p:nvCxnSpPr>
        <p:spPr>
          <a:xfrm>
            <a:off x="8100392" y="1645967"/>
            <a:ext cx="405300" cy="675000"/>
          </a:xfrm>
          <a:prstGeom prst="straightConnector1">
            <a:avLst/>
          </a:prstGeom>
          <a:noFill/>
          <a:ln cap="flat" cmpd="sng" w="9525">
            <a:solidFill>
              <a:schemeClr val="dk2"/>
            </a:solidFill>
            <a:prstDash val="solid"/>
            <a:round/>
            <a:headEnd len="med" w="med" type="none"/>
            <a:tailEnd len="med" w="med" type="triangle"/>
          </a:ln>
        </p:spPr>
      </p:cxnSp>
      <p:cxnSp>
        <p:nvCxnSpPr>
          <p:cNvPr id="314" name="Google Shape;314;p18"/>
          <p:cNvCxnSpPr>
            <a:stCxn id="310" idx="6"/>
            <a:endCxn id="311" idx="2"/>
          </p:cNvCxnSpPr>
          <p:nvPr/>
        </p:nvCxnSpPr>
        <p:spPr>
          <a:xfrm>
            <a:off x="7548675" y="2761300"/>
            <a:ext cx="380700" cy="0"/>
          </a:xfrm>
          <a:prstGeom prst="straightConnector1">
            <a:avLst/>
          </a:prstGeom>
          <a:noFill/>
          <a:ln cap="flat" cmpd="sng" w="9525">
            <a:solidFill>
              <a:schemeClr val="dk2"/>
            </a:solidFill>
            <a:prstDash val="solid"/>
            <a:round/>
            <a:headEnd len="med" w="med" type="none"/>
            <a:tailEnd len="med" w="med" type="triangle"/>
          </a:ln>
        </p:spPr>
      </p:cxnSp>
      <p:sp>
        <p:nvSpPr>
          <p:cNvPr id="315" name="Google Shape;315;p18"/>
          <p:cNvSpPr txBox="1"/>
          <p:nvPr/>
        </p:nvSpPr>
        <p:spPr>
          <a:xfrm>
            <a:off x="6972375" y="598575"/>
            <a:ext cx="15333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300">
                <a:solidFill>
                  <a:schemeClr val="dk2"/>
                </a:solidFill>
                <a:latin typeface="Nunito"/>
                <a:ea typeface="Nunito"/>
                <a:cs typeface="Nunito"/>
                <a:sym typeface="Nunito"/>
              </a:rPr>
              <a:t>交絡因子</a:t>
            </a:r>
            <a:endParaRPr sz="1300">
              <a:solidFill>
                <a:schemeClr val="dk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交絡因子の調整</a:t>
            </a:r>
            <a:endParaRPr/>
          </a:p>
        </p:txBody>
      </p:sp>
      <p:sp>
        <p:nvSpPr>
          <p:cNvPr id="321" name="Google Shape;321;p19"/>
          <p:cNvSpPr txBox="1"/>
          <p:nvPr>
            <p:ph idx="1" type="body"/>
          </p:nvPr>
        </p:nvSpPr>
        <p:spPr>
          <a:xfrm>
            <a:off x="1251475" y="145770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交絡因子の影響を加味するためには、交絡因子を条件づければよい</a:t>
            </a:r>
            <a:endParaRPr/>
          </a:p>
          <a:p>
            <a:pPr indent="-311150" lvl="0" marL="457200" rtl="0" algn="l">
              <a:spcBef>
                <a:spcPts val="0"/>
              </a:spcBef>
              <a:spcAft>
                <a:spcPts val="0"/>
              </a:spcAft>
              <a:buSzPts val="1300"/>
              <a:buChar char="●"/>
            </a:pPr>
            <a:r>
              <a:rPr lang="ja"/>
              <a:t>例：曜日を固定した上で比較</a:t>
            </a:r>
            <a:endParaRPr/>
          </a:p>
          <a:p>
            <a:pPr indent="0" lvl="0" marL="457200" rtl="0" algn="l">
              <a:spcBef>
                <a:spcPts val="1200"/>
              </a:spcBef>
              <a:spcAft>
                <a:spcPts val="0"/>
              </a:spcAft>
              <a:buNone/>
            </a:pPr>
            <a:r>
              <a:rPr lang="ja"/>
              <a:t>（クーポンを配った金曜日の売上と、クーポンを配らなかった金曜日の売上の比較）</a:t>
            </a:r>
            <a:endParaRPr/>
          </a:p>
          <a:p>
            <a:pPr indent="-311150" lvl="0" marL="457200" rtl="0" algn="l">
              <a:spcBef>
                <a:spcPts val="1200"/>
              </a:spcBef>
              <a:spcAft>
                <a:spcPts val="0"/>
              </a:spcAft>
              <a:buSzPts val="1300"/>
              <a:buChar char="●"/>
            </a:pPr>
            <a:r>
              <a:rPr lang="ja"/>
              <a:t>処置と結果の両方に影響する交絡因子を条件づけて因果効果を正しく推定できる基準のことを「バックドア基準」という</a:t>
            </a:r>
            <a:endParaRPr/>
          </a:p>
        </p:txBody>
      </p:sp>
      <p:sp>
        <p:nvSpPr>
          <p:cNvPr id="322" name="Google Shape;322;p19"/>
          <p:cNvSpPr/>
          <p:nvPr/>
        </p:nvSpPr>
        <p:spPr>
          <a:xfrm>
            <a:off x="7117101" y="2907611"/>
            <a:ext cx="1022100" cy="70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Nunito"/>
                <a:ea typeface="Nunito"/>
                <a:cs typeface="Nunito"/>
                <a:sym typeface="Nunito"/>
              </a:rPr>
              <a:t>曜日</a:t>
            </a:r>
            <a:endParaRPr>
              <a:latin typeface="Nunito"/>
              <a:ea typeface="Nunito"/>
              <a:cs typeface="Nunito"/>
              <a:sym typeface="Nunito"/>
            </a:endParaRPr>
          </a:p>
        </p:txBody>
      </p:sp>
      <p:sp>
        <p:nvSpPr>
          <p:cNvPr id="323" name="Google Shape;323;p19"/>
          <p:cNvSpPr/>
          <p:nvPr/>
        </p:nvSpPr>
        <p:spPr>
          <a:xfrm>
            <a:off x="6133101" y="4185836"/>
            <a:ext cx="1304700" cy="88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Nunito"/>
                <a:ea typeface="Nunito"/>
                <a:cs typeface="Nunito"/>
                <a:sym typeface="Nunito"/>
              </a:rPr>
              <a:t>クーポン</a:t>
            </a:r>
            <a:endParaRPr>
              <a:latin typeface="Nunito"/>
              <a:ea typeface="Nunito"/>
              <a:cs typeface="Nunito"/>
              <a:sym typeface="Nunito"/>
            </a:endParaRPr>
          </a:p>
        </p:txBody>
      </p:sp>
      <p:sp>
        <p:nvSpPr>
          <p:cNvPr id="324" name="Google Shape;324;p19"/>
          <p:cNvSpPr/>
          <p:nvPr/>
        </p:nvSpPr>
        <p:spPr>
          <a:xfrm>
            <a:off x="7818501" y="4185836"/>
            <a:ext cx="1152600" cy="88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Nunito"/>
                <a:ea typeface="Nunito"/>
                <a:cs typeface="Nunito"/>
                <a:sym typeface="Nunito"/>
              </a:rPr>
              <a:t>売上</a:t>
            </a:r>
            <a:endParaRPr>
              <a:latin typeface="Nunito"/>
              <a:ea typeface="Nunito"/>
              <a:cs typeface="Nunito"/>
              <a:sym typeface="Nunito"/>
            </a:endParaRPr>
          </a:p>
        </p:txBody>
      </p:sp>
      <p:cxnSp>
        <p:nvCxnSpPr>
          <p:cNvPr id="325" name="Google Shape;325;p19"/>
          <p:cNvCxnSpPr>
            <a:stCxn id="322" idx="3"/>
            <a:endCxn id="323" idx="0"/>
          </p:cNvCxnSpPr>
          <p:nvPr/>
        </p:nvCxnSpPr>
        <p:spPr>
          <a:xfrm flipH="1">
            <a:off x="6785584" y="3510903"/>
            <a:ext cx="481200" cy="675000"/>
          </a:xfrm>
          <a:prstGeom prst="straightConnector1">
            <a:avLst/>
          </a:prstGeom>
          <a:noFill/>
          <a:ln cap="flat" cmpd="sng" w="9525">
            <a:solidFill>
              <a:schemeClr val="dk2"/>
            </a:solidFill>
            <a:prstDash val="solid"/>
            <a:round/>
            <a:headEnd len="med" w="med" type="none"/>
            <a:tailEnd len="med" w="med" type="triangle"/>
          </a:ln>
        </p:spPr>
      </p:cxnSp>
      <p:cxnSp>
        <p:nvCxnSpPr>
          <p:cNvPr id="326" name="Google Shape;326;p19"/>
          <p:cNvCxnSpPr>
            <a:stCxn id="322" idx="5"/>
            <a:endCxn id="324" idx="0"/>
          </p:cNvCxnSpPr>
          <p:nvPr/>
        </p:nvCxnSpPr>
        <p:spPr>
          <a:xfrm>
            <a:off x="7989518" y="3510903"/>
            <a:ext cx="405300" cy="675000"/>
          </a:xfrm>
          <a:prstGeom prst="straightConnector1">
            <a:avLst/>
          </a:prstGeom>
          <a:noFill/>
          <a:ln cap="flat" cmpd="sng" w="9525">
            <a:solidFill>
              <a:schemeClr val="dk2"/>
            </a:solidFill>
            <a:prstDash val="solid"/>
            <a:round/>
            <a:headEnd len="med" w="med" type="none"/>
            <a:tailEnd len="med" w="med" type="triangle"/>
          </a:ln>
        </p:spPr>
      </p:cxnSp>
      <p:cxnSp>
        <p:nvCxnSpPr>
          <p:cNvPr id="327" name="Google Shape;327;p19"/>
          <p:cNvCxnSpPr>
            <a:stCxn id="323" idx="6"/>
            <a:endCxn id="324" idx="2"/>
          </p:cNvCxnSpPr>
          <p:nvPr/>
        </p:nvCxnSpPr>
        <p:spPr>
          <a:xfrm>
            <a:off x="7437801" y="4626236"/>
            <a:ext cx="380700" cy="0"/>
          </a:xfrm>
          <a:prstGeom prst="straightConnector1">
            <a:avLst/>
          </a:prstGeom>
          <a:noFill/>
          <a:ln cap="flat" cmpd="sng" w="9525">
            <a:solidFill>
              <a:schemeClr val="dk2"/>
            </a:solidFill>
            <a:prstDash val="solid"/>
            <a:round/>
            <a:headEnd len="med" w="med" type="none"/>
            <a:tailEnd len="med" w="med" type="triangle"/>
          </a:ln>
        </p:spPr>
      </p:cxnSp>
      <p:sp>
        <p:nvSpPr>
          <p:cNvPr id="328" name="Google Shape;328;p19"/>
          <p:cNvSpPr/>
          <p:nvPr/>
        </p:nvSpPr>
        <p:spPr>
          <a:xfrm>
            <a:off x="7051851" y="2587009"/>
            <a:ext cx="1152600" cy="1174500"/>
          </a:xfrm>
          <a:prstGeom prst="mathMultiply">
            <a:avLst>
              <a:gd fmla="val 11825"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29" name="Google Shape;329;p19"/>
          <p:cNvSpPr/>
          <p:nvPr/>
        </p:nvSpPr>
        <p:spPr>
          <a:xfrm>
            <a:off x="6566876" y="3397559"/>
            <a:ext cx="918600" cy="810000"/>
          </a:xfrm>
          <a:prstGeom prst="mathMultiply">
            <a:avLst>
              <a:gd fmla="val 9435"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30" name="Google Shape;330;p19"/>
          <p:cNvSpPr/>
          <p:nvPr/>
        </p:nvSpPr>
        <p:spPr>
          <a:xfrm>
            <a:off x="7732876" y="3397559"/>
            <a:ext cx="918600" cy="810000"/>
          </a:xfrm>
          <a:prstGeom prst="mathMultiply">
            <a:avLst>
              <a:gd fmla="val 9435"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ABテスト</a:t>
            </a:r>
            <a:endParaRPr/>
          </a:p>
        </p:txBody>
      </p:sp>
      <p:sp>
        <p:nvSpPr>
          <p:cNvPr id="336" name="Google Shape;336;p20"/>
          <p:cNvSpPr txBox="1"/>
          <p:nvPr>
            <p:ph idx="1" type="body"/>
          </p:nvPr>
        </p:nvSpPr>
        <p:spPr>
          <a:xfrm>
            <a:off x="1236500" y="1597875"/>
            <a:ext cx="7030500" cy="2754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集団をA/Bの２つの群にランダムに割り当て、片方に処置を行い、効果検証するテストのこと</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例：ユーザをランダムに２つの群に分け、一方の群のみに処置を行う</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現実的にはできないことが多いため、因果推論でABテストに近い状況を作り出すことが重要</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因果効果の種類</a:t>
            </a:r>
            <a:endParaRPr/>
          </a:p>
        </p:txBody>
      </p:sp>
      <p:sp>
        <p:nvSpPr>
          <p:cNvPr id="342" name="Google Shape;342;p21"/>
          <p:cNvSpPr txBox="1"/>
          <p:nvPr>
            <p:ph idx="1" type="body"/>
          </p:nvPr>
        </p:nvSpPr>
        <p:spPr>
          <a:xfrm>
            <a:off x="1303800" y="1521775"/>
            <a:ext cx="7030500" cy="3212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ATT：Average Treatment Effect on Treated</a:t>
            </a:r>
            <a:endParaRPr/>
          </a:p>
          <a:p>
            <a:pPr indent="-311150" lvl="1" marL="914400" rtl="0" algn="l">
              <a:spcBef>
                <a:spcPts val="0"/>
              </a:spcBef>
              <a:spcAft>
                <a:spcPts val="0"/>
              </a:spcAft>
              <a:buSzPts val="1300"/>
              <a:buChar char="○"/>
            </a:pPr>
            <a:r>
              <a:rPr lang="ja" sz="1300"/>
              <a:t>処置群の因果効果　E[Y(1)-Y(0)|T=1]</a:t>
            </a:r>
            <a:endParaRPr sz="1300"/>
          </a:p>
          <a:p>
            <a:pPr indent="0" lvl="0" marL="914400" rtl="0" algn="l">
              <a:spcBef>
                <a:spcPts val="1200"/>
              </a:spcBef>
              <a:spcAft>
                <a:spcPts val="0"/>
              </a:spcAft>
              <a:buNone/>
            </a:pPr>
            <a:r>
              <a:t/>
            </a:r>
            <a:endParaRPr sz="1300"/>
          </a:p>
          <a:p>
            <a:pPr indent="-311150" lvl="0" marL="457200" rtl="0" algn="l">
              <a:spcBef>
                <a:spcPts val="1200"/>
              </a:spcBef>
              <a:spcAft>
                <a:spcPts val="0"/>
              </a:spcAft>
              <a:buSzPts val="1300"/>
              <a:buChar char="●"/>
            </a:pPr>
            <a:r>
              <a:rPr lang="ja"/>
              <a:t>ATE：Average Treatment Effect</a:t>
            </a:r>
            <a:endParaRPr/>
          </a:p>
          <a:p>
            <a:pPr indent="-311150" lvl="1" marL="914400" rtl="0" algn="l">
              <a:spcBef>
                <a:spcPts val="0"/>
              </a:spcBef>
              <a:spcAft>
                <a:spcPts val="0"/>
              </a:spcAft>
              <a:buSzPts val="1300"/>
              <a:buChar char="○"/>
            </a:pPr>
            <a:r>
              <a:rPr lang="ja" sz="1300"/>
              <a:t>全体の因果効果   E[Y(1)-Y(0)]</a:t>
            </a:r>
            <a:endParaRPr sz="1300"/>
          </a:p>
          <a:p>
            <a:pPr indent="0" lvl="0" marL="0" rtl="0" algn="l">
              <a:spcBef>
                <a:spcPts val="1200"/>
              </a:spcBef>
              <a:spcAft>
                <a:spcPts val="0"/>
              </a:spcAft>
              <a:buNone/>
            </a:pPr>
            <a:r>
              <a:t/>
            </a:r>
            <a:endParaRPr sz="1300"/>
          </a:p>
          <a:p>
            <a:pPr indent="-311150" lvl="0" marL="457200" rtl="0" algn="l">
              <a:spcBef>
                <a:spcPts val="1200"/>
              </a:spcBef>
              <a:spcAft>
                <a:spcPts val="0"/>
              </a:spcAft>
              <a:buSzPts val="1300"/>
              <a:buChar char="●"/>
            </a:pPr>
            <a:r>
              <a:rPr lang="ja"/>
              <a:t>CATE：Conditional Average Treatment Effect</a:t>
            </a:r>
            <a:endParaRPr/>
          </a:p>
          <a:p>
            <a:pPr indent="-311150" lvl="1" marL="914400" rtl="0" algn="l">
              <a:spcBef>
                <a:spcPts val="0"/>
              </a:spcBef>
              <a:spcAft>
                <a:spcPts val="0"/>
              </a:spcAft>
              <a:buSzPts val="1300"/>
              <a:buChar char="○"/>
            </a:pPr>
            <a:r>
              <a:rPr lang="ja" sz="1300"/>
              <a:t>特定属性の因果効果  E[Y(1)-Y(0)|X=0]</a:t>
            </a:r>
            <a:endParaRPr sz="1300"/>
          </a:p>
          <a:p>
            <a:pPr indent="0" lvl="0" marL="914400" rtl="0" algn="l">
              <a:spcBef>
                <a:spcPts val="1200"/>
              </a:spcBef>
              <a:spcAft>
                <a:spcPts val="1200"/>
              </a:spcAft>
              <a:buNone/>
            </a:pPr>
            <a:r>
              <a:rPr lang="ja" sz="1300"/>
              <a:t>例：祝日に限定した因果効果</a:t>
            </a:r>
            <a:endParaRPr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因果効果の推定手法の大分類</a:t>
            </a:r>
            <a:endParaRPr/>
          </a:p>
        </p:txBody>
      </p:sp>
      <p:sp>
        <p:nvSpPr>
          <p:cNvPr id="348" name="Google Shape;348;p22"/>
          <p:cNvSpPr txBox="1"/>
          <p:nvPr>
            <p:ph idx="1" type="body"/>
          </p:nvPr>
        </p:nvSpPr>
        <p:spPr>
          <a:xfrm>
            <a:off x="1303800" y="1494125"/>
            <a:ext cx="7030500" cy="33600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ja"/>
              <a:t>処置モデル</a:t>
            </a:r>
            <a:endParaRPr/>
          </a:p>
          <a:p>
            <a:pPr indent="-311150" lvl="1" marL="914400" rtl="0" algn="l">
              <a:spcBef>
                <a:spcPts val="0"/>
              </a:spcBef>
              <a:spcAft>
                <a:spcPts val="0"/>
              </a:spcAft>
              <a:buSzPts val="1300"/>
              <a:buChar char="○"/>
            </a:pPr>
            <a:r>
              <a:rPr lang="ja" sz="1300"/>
              <a:t>傾向スコア＋期待値計算</a:t>
            </a:r>
            <a:endParaRPr sz="1300"/>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アウトカムモデル</a:t>
            </a:r>
            <a:endParaRPr/>
          </a:p>
          <a:p>
            <a:pPr indent="-311150" lvl="1" marL="914400" rtl="0" algn="l">
              <a:spcBef>
                <a:spcPts val="0"/>
              </a:spcBef>
              <a:spcAft>
                <a:spcPts val="0"/>
              </a:spcAft>
              <a:buSzPts val="1300"/>
              <a:buChar char="○"/>
            </a:pPr>
            <a:r>
              <a:rPr lang="ja" sz="1300"/>
              <a:t>回帰分析を用いた手法</a:t>
            </a:r>
            <a:endParaRPr sz="1300"/>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ja"/>
              <a:t>２つを見合わせたハイブリット型の手法</a:t>
            </a:r>
            <a:endParaRPr/>
          </a:p>
          <a:p>
            <a:pPr indent="0" lvl="0" marL="914400" rtl="0" algn="l">
              <a:spcBef>
                <a:spcPts val="1200"/>
              </a:spcBef>
              <a:spcAft>
                <a:spcPts val="0"/>
              </a:spcAft>
              <a:buNone/>
            </a:pPr>
            <a:r>
              <a:t/>
            </a:r>
            <a:endParaRPr sz="1324"/>
          </a:p>
          <a:p>
            <a:pPr indent="0" lvl="0" marL="457200" rtl="0" algn="l">
              <a:spcBef>
                <a:spcPts val="1200"/>
              </a:spcBef>
              <a:spcAft>
                <a:spcPts val="0"/>
              </a:spcAft>
              <a:buNone/>
            </a:pPr>
            <a:r>
              <a:rPr lang="ja" sz="1324"/>
              <a:t>どの手法も、交絡因子をうまく調整して、交絡因子によるセレクションバイアスを取り除くことをしている</a:t>
            </a:r>
            <a:endParaRPr sz="1324"/>
          </a:p>
          <a:p>
            <a:pPr indent="0" lvl="0" marL="91440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因果効果の推定手法</a:t>
            </a:r>
            <a:endParaRPr/>
          </a:p>
        </p:txBody>
      </p:sp>
      <p:graphicFrame>
        <p:nvGraphicFramePr>
          <p:cNvPr id="354" name="Google Shape;354;p23"/>
          <p:cNvGraphicFramePr/>
          <p:nvPr/>
        </p:nvGraphicFramePr>
        <p:xfrm>
          <a:off x="952500" y="1741100"/>
          <a:ext cx="3000000" cy="3000000"/>
        </p:xfrm>
        <a:graphic>
          <a:graphicData uri="http://schemas.openxmlformats.org/drawingml/2006/table">
            <a:tbl>
              <a:tblPr>
                <a:noFill/>
                <a:tableStyleId>{74C246F6-4D6A-4FA8-88AC-AF7FF46E40DF}</a:tableStyleId>
              </a:tblPr>
              <a:tblGrid>
                <a:gridCol w="1384725"/>
                <a:gridCol w="1904275"/>
                <a:gridCol w="3950000"/>
              </a:tblGrid>
              <a:tr h="381000">
                <a:tc>
                  <a:txBody>
                    <a:bodyPr/>
                    <a:lstStyle/>
                    <a:p>
                      <a:pPr indent="0" lvl="0" marL="0" rtl="0" algn="l">
                        <a:spcBef>
                          <a:spcPts val="0"/>
                        </a:spcBef>
                        <a:spcAft>
                          <a:spcPts val="0"/>
                        </a:spcAft>
                        <a:buNone/>
                      </a:pPr>
                      <a:r>
                        <a:rPr lang="ja"/>
                        <a:t>手法</a:t>
                      </a:r>
                      <a:endParaRPr/>
                    </a:p>
                  </a:txBody>
                  <a:tcPr marT="91425" marB="91425" marR="91425" marL="91425"/>
                </a:tc>
                <a:tc>
                  <a:txBody>
                    <a:bodyPr/>
                    <a:lstStyle/>
                    <a:p>
                      <a:pPr indent="0" lvl="0" marL="0" rtl="0" algn="l">
                        <a:spcBef>
                          <a:spcPts val="0"/>
                        </a:spcBef>
                        <a:spcAft>
                          <a:spcPts val="0"/>
                        </a:spcAft>
                        <a:buNone/>
                      </a:pPr>
                      <a:r>
                        <a:rPr lang="ja"/>
                        <a:t>分類</a:t>
                      </a:r>
                      <a:endParaRPr/>
                    </a:p>
                  </a:txBody>
                  <a:tcPr marT="91425" marB="91425" marR="91425" marL="91425"/>
                </a:tc>
                <a:tc>
                  <a:txBody>
                    <a:bodyPr/>
                    <a:lstStyle/>
                    <a:p>
                      <a:pPr indent="0" lvl="0" marL="0" rtl="0" algn="l">
                        <a:spcBef>
                          <a:spcPts val="0"/>
                        </a:spcBef>
                        <a:spcAft>
                          <a:spcPts val="0"/>
                        </a:spcAft>
                        <a:buNone/>
                      </a:pPr>
                      <a:r>
                        <a:rPr lang="ja"/>
                        <a:t>特徴</a:t>
                      </a:r>
                      <a:endParaRPr/>
                    </a:p>
                  </a:txBody>
                  <a:tcPr marT="91425" marB="91425" marR="91425" marL="91425"/>
                </a:tc>
              </a:tr>
              <a:tr h="381000">
                <a:tc>
                  <a:txBody>
                    <a:bodyPr/>
                    <a:lstStyle/>
                    <a:p>
                      <a:pPr indent="0" lvl="0" marL="0" rtl="0" algn="l">
                        <a:spcBef>
                          <a:spcPts val="0"/>
                        </a:spcBef>
                        <a:spcAft>
                          <a:spcPts val="0"/>
                        </a:spcAft>
                        <a:buNone/>
                      </a:pPr>
                      <a:r>
                        <a:rPr lang="ja"/>
                        <a:t>IPW</a:t>
                      </a:r>
                      <a:endParaRPr/>
                    </a:p>
                  </a:txBody>
                  <a:tcPr marT="91425" marB="91425" marR="91425" marL="91425"/>
                </a:tc>
                <a:tc>
                  <a:txBody>
                    <a:bodyPr/>
                    <a:lstStyle/>
                    <a:p>
                      <a:pPr indent="0" lvl="0" marL="0" rtl="0" algn="l">
                        <a:spcBef>
                          <a:spcPts val="0"/>
                        </a:spcBef>
                        <a:spcAft>
                          <a:spcPts val="0"/>
                        </a:spcAft>
                        <a:buNone/>
                      </a:pPr>
                      <a:r>
                        <a:rPr lang="ja"/>
                        <a:t>処置モデル</a:t>
                      </a:r>
                      <a:endParaRPr/>
                    </a:p>
                  </a:txBody>
                  <a:tcPr marT="91425" marB="91425" marR="91425" marL="91425"/>
                </a:tc>
                <a:tc>
                  <a:txBody>
                    <a:bodyPr/>
                    <a:lstStyle/>
                    <a:p>
                      <a:pPr indent="0" lvl="0" marL="0" rtl="0" algn="l">
                        <a:spcBef>
                          <a:spcPts val="0"/>
                        </a:spcBef>
                        <a:spcAft>
                          <a:spcPts val="0"/>
                        </a:spcAft>
                        <a:buNone/>
                      </a:pPr>
                      <a:r>
                        <a:rPr lang="ja"/>
                        <a:t>傾向スコアを用いた集計ベースの手法</a:t>
                      </a:r>
                      <a:endParaRPr/>
                    </a:p>
                  </a:txBody>
                  <a:tcPr marT="91425" marB="91425" marR="91425" marL="91425"/>
                </a:tc>
              </a:tr>
              <a:tr h="381000">
                <a:tc>
                  <a:txBody>
                    <a:bodyPr/>
                    <a:lstStyle/>
                    <a:p>
                      <a:pPr indent="0" lvl="0" marL="0" rtl="0" algn="l">
                        <a:spcBef>
                          <a:spcPts val="0"/>
                        </a:spcBef>
                        <a:spcAft>
                          <a:spcPts val="0"/>
                        </a:spcAft>
                        <a:buNone/>
                      </a:pPr>
                      <a:r>
                        <a:rPr lang="ja"/>
                        <a:t>回帰分析</a:t>
                      </a:r>
                      <a:endParaRPr/>
                    </a:p>
                  </a:txBody>
                  <a:tcPr marT="91425" marB="91425" marR="91425" marL="91425"/>
                </a:tc>
                <a:tc>
                  <a:txBody>
                    <a:bodyPr/>
                    <a:lstStyle/>
                    <a:p>
                      <a:pPr indent="0" lvl="0" marL="0" rtl="0" algn="l">
                        <a:spcBef>
                          <a:spcPts val="0"/>
                        </a:spcBef>
                        <a:spcAft>
                          <a:spcPts val="0"/>
                        </a:spcAft>
                        <a:buNone/>
                      </a:pPr>
                      <a:r>
                        <a:rPr lang="ja"/>
                        <a:t>アウトカムモデル</a:t>
                      </a:r>
                      <a:endParaRPr/>
                    </a:p>
                  </a:txBody>
                  <a:tcPr marT="91425" marB="91425" marR="91425" marL="91425"/>
                </a:tc>
                <a:tc>
                  <a:txBody>
                    <a:bodyPr/>
                    <a:lstStyle/>
                    <a:p>
                      <a:pPr indent="0" lvl="0" marL="0" rtl="0" algn="l">
                        <a:spcBef>
                          <a:spcPts val="0"/>
                        </a:spcBef>
                        <a:spcAft>
                          <a:spcPts val="0"/>
                        </a:spcAft>
                        <a:buNone/>
                      </a:pPr>
                      <a:r>
                        <a:rPr lang="ja"/>
                        <a:t>処置と結果の間に線形性を仮定して回帰分析</a:t>
                      </a:r>
                      <a:endParaRPr/>
                    </a:p>
                  </a:txBody>
                  <a:tcPr marT="91425" marB="91425" marR="91425" marL="91425"/>
                </a:tc>
              </a:tr>
              <a:tr h="381000">
                <a:tc>
                  <a:txBody>
                    <a:bodyPr/>
                    <a:lstStyle/>
                    <a:p>
                      <a:pPr indent="0" lvl="0" marL="0" rtl="0" algn="l">
                        <a:spcBef>
                          <a:spcPts val="0"/>
                        </a:spcBef>
                        <a:spcAft>
                          <a:spcPts val="0"/>
                        </a:spcAft>
                        <a:buNone/>
                      </a:pPr>
                      <a:r>
                        <a:rPr lang="ja"/>
                        <a:t>Meta-learner</a:t>
                      </a:r>
                      <a:endParaRPr/>
                    </a:p>
                  </a:txBody>
                  <a:tcPr marT="91425" marB="91425" marR="91425" marL="91425"/>
                </a:tc>
                <a:tc>
                  <a:txBody>
                    <a:bodyPr/>
                    <a:lstStyle/>
                    <a:p>
                      <a:pPr indent="0" lvl="0" marL="0" rtl="0" algn="l">
                        <a:spcBef>
                          <a:spcPts val="0"/>
                        </a:spcBef>
                        <a:spcAft>
                          <a:spcPts val="0"/>
                        </a:spcAft>
                        <a:buNone/>
                      </a:pPr>
                      <a:r>
                        <a:rPr lang="ja"/>
                        <a:t>アウトカムモデル</a:t>
                      </a:r>
                      <a:endParaRPr/>
                    </a:p>
                  </a:txBody>
                  <a:tcPr marT="91425" marB="91425" marR="91425" marL="91425"/>
                </a:tc>
                <a:tc>
                  <a:txBody>
                    <a:bodyPr/>
                    <a:lstStyle/>
                    <a:p>
                      <a:pPr indent="0" lvl="0" marL="0" rtl="0" algn="l">
                        <a:spcBef>
                          <a:spcPts val="0"/>
                        </a:spcBef>
                        <a:spcAft>
                          <a:spcPts val="0"/>
                        </a:spcAft>
                        <a:buNone/>
                      </a:pPr>
                      <a:r>
                        <a:rPr lang="ja"/>
                        <a:t>機械学習により結果変数をモデル化し、差分により効果を予測</a:t>
                      </a:r>
                      <a:endParaRPr/>
                    </a:p>
                  </a:txBody>
                  <a:tcPr marT="91425" marB="91425" marR="91425" marL="91425"/>
                </a:tc>
              </a:tr>
              <a:tr h="381000">
                <a:tc>
                  <a:txBody>
                    <a:bodyPr/>
                    <a:lstStyle/>
                    <a:p>
                      <a:pPr indent="0" lvl="0" marL="0" rtl="0" algn="l">
                        <a:spcBef>
                          <a:spcPts val="0"/>
                        </a:spcBef>
                        <a:spcAft>
                          <a:spcPts val="0"/>
                        </a:spcAft>
                        <a:buNone/>
                      </a:pPr>
                      <a:r>
                        <a:rPr lang="ja"/>
                        <a:t>DML</a:t>
                      </a:r>
                      <a:endParaRPr/>
                    </a:p>
                  </a:txBody>
                  <a:tcPr marT="91425" marB="91425" marR="91425" marL="91425"/>
                </a:tc>
                <a:tc>
                  <a:txBody>
                    <a:bodyPr/>
                    <a:lstStyle/>
                    <a:p>
                      <a:pPr indent="0" lvl="0" marL="0" rtl="0" algn="l">
                        <a:spcBef>
                          <a:spcPts val="0"/>
                        </a:spcBef>
                        <a:spcAft>
                          <a:spcPts val="0"/>
                        </a:spcAft>
                        <a:buNone/>
                      </a:pPr>
                      <a:r>
                        <a:rPr lang="ja"/>
                        <a:t>ハイブリッドモデル</a:t>
                      </a:r>
                      <a:endParaRPr/>
                    </a:p>
                  </a:txBody>
                  <a:tcPr marT="91425" marB="91425" marR="91425" marL="91425"/>
                </a:tc>
                <a:tc>
                  <a:txBody>
                    <a:bodyPr/>
                    <a:lstStyle/>
                    <a:p>
                      <a:pPr indent="0" lvl="0" marL="0" rtl="0" algn="l">
                        <a:spcBef>
                          <a:spcPts val="0"/>
                        </a:spcBef>
                        <a:spcAft>
                          <a:spcPts val="0"/>
                        </a:spcAft>
                        <a:buNone/>
                      </a:pPr>
                      <a:r>
                        <a:rPr lang="ja"/>
                        <a:t>残差回帰などバイアスを除去する工夫が施された、傾向スコアも用いた回帰分析の発展モデル</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傾向スコアとIPW</a:t>
            </a:r>
            <a:endParaRPr/>
          </a:p>
        </p:txBody>
      </p:sp>
      <p:sp>
        <p:nvSpPr>
          <p:cNvPr id="360" name="Google Shape;360;p24"/>
          <p:cNvSpPr txBox="1"/>
          <p:nvPr>
            <p:ph idx="1" type="body"/>
          </p:nvPr>
        </p:nvSpPr>
        <p:spPr>
          <a:xfrm>
            <a:off x="1273875" y="1470775"/>
            <a:ext cx="7030500" cy="3158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傾向スコア：処置が割り当てられる確率e(xi)　（共変量でロジスティック回帰）</a:t>
            </a:r>
            <a:endParaRPr/>
          </a:p>
          <a:p>
            <a:pPr indent="-311150" lvl="0" marL="457200" rtl="0" algn="l">
              <a:spcBef>
                <a:spcPts val="0"/>
              </a:spcBef>
              <a:spcAft>
                <a:spcPts val="0"/>
              </a:spcAft>
              <a:buSzPts val="1300"/>
              <a:buChar char="●"/>
            </a:pPr>
            <a:r>
              <a:rPr lang="ja"/>
              <a:t>IPW：Inverse Probability Weighting</a:t>
            </a:r>
            <a:endParaRPr/>
          </a:p>
          <a:p>
            <a:pPr indent="-298450" lvl="1" marL="914400" rtl="0" algn="l">
              <a:spcBef>
                <a:spcPts val="0"/>
              </a:spcBef>
              <a:spcAft>
                <a:spcPts val="0"/>
              </a:spcAft>
              <a:buSzPts val="1100"/>
              <a:buChar char="○"/>
            </a:pPr>
            <a:r>
              <a:rPr lang="ja"/>
              <a:t>逆確率重みづけ</a:t>
            </a:r>
            <a:endParaRPr/>
          </a:p>
        </p:txBody>
      </p:sp>
      <p:pic>
        <p:nvPicPr>
          <p:cNvPr id="361" name="Google Shape;361;p24"/>
          <p:cNvPicPr preferRelativeResize="0"/>
          <p:nvPr/>
        </p:nvPicPr>
        <p:blipFill>
          <a:blip r:embed="rId3">
            <a:alphaModFix/>
          </a:blip>
          <a:stretch>
            <a:fillRect/>
          </a:stretch>
        </p:blipFill>
        <p:spPr>
          <a:xfrm>
            <a:off x="2321200" y="2604900"/>
            <a:ext cx="4343400" cy="1790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回帰分析</a:t>
            </a:r>
            <a:endParaRPr/>
          </a:p>
        </p:txBody>
      </p:sp>
      <p:sp>
        <p:nvSpPr>
          <p:cNvPr id="367" name="Google Shape;367;p25"/>
          <p:cNvSpPr txBox="1"/>
          <p:nvPr>
            <p:ph idx="1" type="body"/>
          </p:nvPr>
        </p:nvSpPr>
        <p:spPr>
          <a:xfrm>
            <a:off x="1249675" y="1524625"/>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処置変数や交絡因子を説明変数に加えて線形回帰を行う</a:t>
            </a:r>
            <a:endParaRPr/>
          </a:p>
          <a:p>
            <a:pPr indent="-311150" lvl="0" marL="457200" rtl="0" algn="l">
              <a:spcBef>
                <a:spcPts val="0"/>
              </a:spcBef>
              <a:spcAft>
                <a:spcPts val="0"/>
              </a:spcAft>
              <a:buSzPts val="1300"/>
              <a:buChar char="●"/>
            </a:pPr>
            <a:r>
              <a:rPr lang="ja"/>
              <a:t>β1が処置の効果量（ATE）となる</a:t>
            </a:r>
            <a:endParaRPr/>
          </a:p>
        </p:txBody>
      </p:sp>
      <p:pic>
        <p:nvPicPr>
          <p:cNvPr id="368" name="Google Shape;368;p25"/>
          <p:cNvPicPr preferRelativeResize="0"/>
          <p:nvPr/>
        </p:nvPicPr>
        <p:blipFill>
          <a:blip r:embed="rId3">
            <a:alphaModFix/>
          </a:blip>
          <a:stretch>
            <a:fillRect/>
          </a:stretch>
        </p:blipFill>
        <p:spPr>
          <a:xfrm>
            <a:off x="2106775" y="2757050"/>
            <a:ext cx="4324350" cy="971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Meta-Learner</a:t>
            </a:r>
            <a:endParaRPr/>
          </a:p>
        </p:txBody>
      </p:sp>
      <p:sp>
        <p:nvSpPr>
          <p:cNvPr id="374" name="Google Shape;374;p26"/>
          <p:cNvSpPr txBox="1"/>
          <p:nvPr>
            <p:ph idx="1" type="body"/>
          </p:nvPr>
        </p:nvSpPr>
        <p:spPr>
          <a:xfrm>
            <a:off x="1163100" y="1597875"/>
            <a:ext cx="7030500" cy="2757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処置あり/処置なし　の結果変数を予測するモデルを作成する</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ja"/>
              <a:t>S-Learner：１つのモデルで予測</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ja"/>
              <a:t>T-Learner：処置群とコントロール群で分けて、２つのモデルで予測</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ja"/>
              <a:t>X-Learner：T-Learnerをさらに発展させて、傾向スコアで重みづけ</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DML（Double/debiased Machine Learning）</a:t>
            </a:r>
            <a:endParaRPr/>
          </a:p>
        </p:txBody>
      </p:sp>
      <p:sp>
        <p:nvSpPr>
          <p:cNvPr id="380" name="Google Shape;380;p27"/>
          <p:cNvSpPr txBox="1"/>
          <p:nvPr>
            <p:ph idx="1" type="body"/>
          </p:nvPr>
        </p:nvSpPr>
        <p:spPr>
          <a:xfrm>
            <a:off x="1303800" y="1515625"/>
            <a:ext cx="74223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交絡因子の影響が非線形だった場合にも対応可能</a:t>
            </a:r>
            <a:endParaRPr/>
          </a:p>
          <a:p>
            <a:pPr indent="0" lvl="0" marL="0" rtl="0" algn="l">
              <a:spcBef>
                <a:spcPts val="1200"/>
              </a:spcBef>
              <a:spcAft>
                <a:spcPts val="0"/>
              </a:spcAft>
              <a:buNone/>
            </a:pPr>
            <a:r>
              <a:rPr lang="ja"/>
              <a:t>①交絡因子を説明変数として、結果変数yと処置Tのそれぞれを予測するモデルを作成する</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②それぞれの残差を計算する</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ja"/>
              <a:t>③残差同士で線形回帰する（τハットがATE）</a:t>
            </a:r>
            <a:endParaRPr/>
          </a:p>
        </p:txBody>
      </p:sp>
      <p:pic>
        <p:nvPicPr>
          <p:cNvPr id="381" name="Google Shape;381;p27"/>
          <p:cNvPicPr preferRelativeResize="0"/>
          <p:nvPr/>
        </p:nvPicPr>
        <p:blipFill>
          <a:blip r:embed="rId3">
            <a:alphaModFix/>
          </a:blip>
          <a:stretch>
            <a:fillRect/>
          </a:stretch>
        </p:blipFill>
        <p:spPr>
          <a:xfrm>
            <a:off x="2652725" y="2302005"/>
            <a:ext cx="3592027" cy="307125"/>
          </a:xfrm>
          <a:prstGeom prst="rect">
            <a:avLst/>
          </a:prstGeom>
          <a:noFill/>
          <a:ln>
            <a:noFill/>
          </a:ln>
        </p:spPr>
      </p:pic>
      <p:pic>
        <p:nvPicPr>
          <p:cNvPr id="382" name="Google Shape;382;p27"/>
          <p:cNvPicPr preferRelativeResize="0"/>
          <p:nvPr/>
        </p:nvPicPr>
        <p:blipFill>
          <a:blip r:embed="rId4">
            <a:alphaModFix/>
          </a:blip>
          <a:stretch>
            <a:fillRect/>
          </a:stretch>
        </p:blipFill>
        <p:spPr>
          <a:xfrm>
            <a:off x="2652725" y="3079725"/>
            <a:ext cx="3378375" cy="307125"/>
          </a:xfrm>
          <a:prstGeom prst="rect">
            <a:avLst/>
          </a:prstGeom>
          <a:noFill/>
          <a:ln>
            <a:noFill/>
          </a:ln>
        </p:spPr>
      </p:pic>
      <p:pic>
        <p:nvPicPr>
          <p:cNvPr id="383" name="Google Shape;383;p27"/>
          <p:cNvPicPr preferRelativeResize="0"/>
          <p:nvPr/>
        </p:nvPicPr>
        <p:blipFill>
          <a:blip r:embed="rId5">
            <a:alphaModFix/>
          </a:blip>
          <a:stretch>
            <a:fillRect/>
          </a:stretch>
        </p:blipFill>
        <p:spPr>
          <a:xfrm>
            <a:off x="2652725" y="3915475"/>
            <a:ext cx="1228500" cy="307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例：テクニカル指標</a:t>
            </a:r>
            <a:endParaRPr/>
          </a:p>
        </p:txBody>
      </p:sp>
      <p:sp>
        <p:nvSpPr>
          <p:cNvPr id="389" name="Google Shape;389;p28"/>
          <p:cNvSpPr txBox="1"/>
          <p:nvPr>
            <p:ph idx="1" type="body"/>
          </p:nvPr>
        </p:nvSpPr>
        <p:spPr>
          <a:xfrm>
            <a:off x="1303800" y="1386450"/>
            <a:ext cx="7030500" cy="1185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ドル円（2005/1～2025/8）のデータを用いて、テクニカル指標を評価</a:t>
            </a:r>
            <a:endParaRPr/>
          </a:p>
          <a:p>
            <a:pPr indent="-311150" lvl="0" marL="457200" rtl="0" algn="l">
              <a:spcBef>
                <a:spcPts val="0"/>
              </a:spcBef>
              <a:spcAft>
                <a:spcPts val="0"/>
              </a:spcAft>
              <a:buSzPts val="1300"/>
              <a:buChar char="●"/>
            </a:pPr>
            <a:r>
              <a:rPr lang="ja"/>
              <a:t>イベント：ゴールデンクロス/デッドクロス（20日と60日）の発生（48回ずつ発生）</a:t>
            </a:r>
            <a:endParaRPr/>
          </a:p>
          <a:p>
            <a:pPr indent="-311150" lvl="0" marL="457200" rtl="0" algn="l">
              <a:spcBef>
                <a:spcPts val="0"/>
              </a:spcBef>
              <a:spcAft>
                <a:spcPts val="0"/>
              </a:spcAft>
              <a:buSzPts val="1300"/>
              <a:buChar char="●"/>
            </a:pPr>
            <a:r>
              <a:rPr lang="ja"/>
              <a:t>共変量：RSI(14), vol(20), mom(5), mom(20)・・・</a:t>
            </a:r>
            <a:endParaRPr/>
          </a:p>
          <a:p>
            <a:pPr indent="-311150" lvl="0" marL="457200" rtl="0" algn="l">
              <a:spcBef>
                <a:spcPts val="0"/>
              </a:spcBef>
              <a:spcAft>
                <a:spcPts val="0"/>
              </a:spcAft>
              <a:buSzPts val="1300"/>
              <a:buChar char="●"/>
            </a:pPr>
            <a:r>
              <a:rPr lang="ja"/>
              <a:t>予測対象：5日累積対数リターン</a:t>
            </a:r>
            <a:endParaRPr/>
          </a:p>
        </p:txBody>
      </p:sp>
      <p:graphicFrame>
        <p:nvGraphicFramePr>
          <p:cNvPr id="390" name="Google Shape;390;p28"/>
          <p:cNvGraphicFramePr/>
          <p:nvPr/>
        </p:nvGraphicFramePr>
        <p:xfrm>
          <a:off x="787475" y="2659750"/>
          <a:ext cx="3000000" cy="3000000"/>
        </p:xfrm>
        <a:graphic>
          <a:graphicData uri="http://schemas.openxmlformats.org/drawingml/2006/table">
            <a:tbl>
              <a:tblPr>
                <a:noFill/>
                <a:tableStyleId>{74C246F6-4D6A-4FA8-88AC-AF7FF46E40DF}</a:tableStyleId>
              </a:tblPr>
              <a:tblGrid>
                <a:gridCol w="1727375"/>
                <a:gridCol w="1879625"/>
              </a:tblGrid>
              <a:tr h="381000">
                <a:tc>
                  <a:txBody>
                    <a:bodyPr/>
                    <a:lstStyle/>
                    <a:p>
                      <a:pPr indent="0" lvl="0" marL="0" rtl="0" algn="l">
                        <a:spcBef>
                          <a:spcPts val="0"/>
                        </a:spcBef>
                        <a:spcAft>
                          <a:spcPts val="0"/>
                        </a:spcAft>
                        <a:buNone/>
                      </a:pPr>
                      <a:r>
                        <a:rPr lang="ja"/>
                        <a:t>ATT</a:t>
                      </a:r>
                      <a:endParaRPr/>
                    </a:p>
                  </a:txBody>
                  <a:tcPr marT="91425" marB="91425" marR="91425" marL="91425"/>
                </a:tc>
                <a:tc>
                  <a:txBody>
                    <a:bodyPr/>
                    <a:lstStyle/>
                    <a:p>
                      <a:pPr indent="0" lvl="0" marL="0" rtl="0" algn="l">
                        <a:spcBef>
                          <a:spcPts val="0"/>
                        </a:spcBef>
                        <a:spcAft>
                          <a:spcPts val="0"/>
                        </a:spcAft>
                        <a:buNone/>
                      </a:pPr>
                      <a:r>
                        <a:rPr lang="ja"/>
                        <a:t>0.222 ± 0.187 %</a:t>
                      </a:r>
                      <a:endParaRPr/>
                    </a:p>
                  </a:txBody>
                  <a:tcPr marT="91425" marB="91425" marR="91425" marL="91425"/>
                </a:tc>
              </a:tr>
              <a:tr h="381000">
                <a:tc>
                  <a:txBody>
                    <a:bodyPr/>
                    <a:lstStyle/>
                    <a:p>
                      <a:pPr indent="0" lvl="0" marL="0" rtl="0" algn="l">
                        <a:spcBef>
                          <a:spcPts val="0"/>
                        </a:spcBef>
                        <a:spcAft>
                          <a:spcPts val="0"/>
                        </a:spcAft>
                        <a:buNone/>
                      </a:pPr>
                      <a:r>
                        <a:rPr lang="ja"/>
                        <a:t>ATE（IPW）</a:t>
                      </a:r>
                      <a:endParaRPr/>
                    </a:p>
                  </a:txBody>
                  <a:tcPr marT="91425" marB="91425" marR="91425" marL="91425"/>
                </a:tc>
                <a:tc>
                  <a:txBody>
                    <a:bodyPr/>
                    <a:lstStyle/>
                    <a:p>
                      <a:pPr indent="0" lvl="0" marL="0" rtl="0" algn="l">
                        <a:spcBef>
                          <a:spcPts val="0"/>
                        </a:spcBef>
                        <a:spcAft>
                          <a:spcPts val="0"/>
                        </a:spcAft>
                        <a:buNone/>
                      </a:pPr>
                      <a:r>
                        <a:rPr lang="ja"/>
                        <a:t>0.417 ± 0.211 % *</a:t>
                      </a:r>
                      <a:endParaRPr/>
                    </a:p>
                  </a:txBody>
                  <a:tcPr marT="91425" marB="91425" marR="91425" marL="91425"/>
                </a:tc>
              </a:tr>
              <a:tr h="381000">
                <a:tc>
                  <a:txBody>
                    <a:bodyPr/>
                    <a:lstStyle/>
                    <a:p>
                      <a:pPr indent="0" lvl="0" marL="0" rtl="0" algn="l">
                        <a:spcBef>
                          <a:spcPts val="0"/>
                        </a:spcBef>
                        <a:spcAft>
                          <a:spcPts val="0"/>
                        </a:spcAft>
                        <a:buNone/>
                      </a:pPr>
                      <a:r>
                        <a:rPr lang="ja"/>
                        <a:t>ATE（回帰）</a:t>
                      </a:r>
                      <a:endParaRPr/>
                    </a:p>
                  </a:txBody>
                  <a:tcPr marT="91425" marB="91425" marR="91425" marL="91425"/>
                </a:tc>
                <a:tc>
                  <a:txBody>
                    <a:bodyPr/>
                    <a:lstStyle/>
                    <a:p>
                      <a:pPr indent="0" lvl="0" marL="0" rtl="0" algn="l">
                        <a:spcBef>
                          <a:spcPts val="0"/>
                        </a:spcBef>
                        <a:spcAft>
                          <a:spcPts val="0"/>
                        </a:spcAft>
                        <a:buNone/>
                      </a:pPr>
                      <a:r>
                        <a:rPr lang="ja"/>
                        <a:t>0.852 ± 0.390 % *</a:t>
                      </a:r>
                      <a:endParaRPr/>
                    </a:p>
                  </a:txBody>
                  <a:tcPr marT="91425" marB="91425" marR="91425" marL="91425"/>
                </a:tc>
              </a:tr>
            </a:tbl>
          </a:graphicData>
        </a:graphic>
      </p:graphicFrame>
      <p:graphicFrame>
        <p:nvGraphicFramePr>
          <p:cNvPr id="391" name="Google Shape;391;p28"/>
          <p:cNvGraphicFramePr/>
          <p:nvPr/>
        </p:nvGraphicFramePr>
        <p:xfrm>
          <a:off x="5080300" y="2659750"/>
          <a:ext cx="3000000" cy="3000000"/>
        </p:xfrm>
        <a:graphic>
          <a:graphicData uri="http://schemas.openxmlformats.org/drawingml/2006/table">
            <a:tbl>
              <a:tblPr>
                <a:noFill/>
                <a:tableStyleId>{74C246F6-4D6A-4FA8-88AC-AF7FF46E40DF}</a:tableStyleId>
              </a:tblPr>
              <a:tblGrid>
                <a:gridCol w="1727375"/>
                <a:gridCol w="1879625"/>
              </a:tblGrid>
              <a:tr h="381000">
                <a:tc>
                  <a:txBody>
                    <a:bodyPr/>
                    <a:lstStyle/>
                    <a:p>
                      <a:pPr indent="0" lvl="0" marL="0" rtl="0" algn="l">
                        <a:spcBef>
                          <a:spcPts val="0"/>
                        </a:spcBef>
                        <a:spcAft>
                          <a:spcPts val="0"/>
                        </a:spcAft>
                        <a:buNone/>
                      </a:pPr>
                      <a:r>
                        <a:rPr lang="ja"/>
                        <a:t>ATT</a:t>
                      </a:r>
                      <a:endParaRPr/>
                    </a:p>
                  </a:txBody>
                  <a:tcPr marT="91425" marB="91425" marR="91425" marL="91425"/>
                </a:tc>
                <a:tc>
                  <a:txBody>
                    <a:bodyPr/>
                    <a:lstStyle/>
                    <a:p>
                      <a:pPr indent="0" lvl="0" marL="0" rtl="0" algn="l">
                        <a:spcBef>
                          <a:spcPts val="0"/>
                        </a:spcBef>
                        <a:spcAft>
                          <a:spcPts val="0"/>
                        </a:spcAft>
                        <a:buNone/>
                      </a:pPr>
                      <a:r>
                        <a:rPr lang="ja"/>
                        <a:t>-0.552 ± 0.228 % *</a:t>
                      </a:r>
                      <a:endParaRPr/>
                    </a:p>
                  </a:txBody>
                  <a:tcPr marT="91425" marB="91425" marR="91425" marL="91425"/>
                </a:tc>
              </a:tr>
              <a:tr h="381000">
                <a:tc>
                  <a:txBody>
                    <a:bodyPr/>
                    <a:lstStyle/>
                    <a:p>
                      <a:pPr indent="0" lvl="0" marL="0" rtl="0" algn="l">
                        <a:spcBef>
                          <a:spcPts val="0"/>
                        </a:spcBef>
                        <a:spcAft>
                          <a:spcPts val="0"/>
                        </a:spcAft>
                        <a:buNone/>
                      </a:pPr>
                      <a:r>
                        <a:rPr lang="ja"/>
                        <a:t>ATE（IPW）</a:t>
                      </a:r>
                      <a:endParaRPr/>
                    </a:p>
                  </a:txBody>
                  <a:tcPr marT="91425" marB="91425" marR="91425" marL="91425"/>
                </a:tc>
                <a:tc>
                  <a:txBody>
                    <a:bodyPr/>
                    <a:lstStyle/>
                    <a:p>
                      <a:pPr indent="0" lvl="0" marL="0" rtl="0" algn="l">
                        <a:spcBef>
                          <a:spcPts val="0"/>
                        </a:spcBef>
                        <a:spcAft>
                          <a:spcPts val="0"/>
                        </a:spcAft>
                        <a:buNone/>
                      </a:pPr>
                      <a:r>
                        <a:rPr lang="ja"/>
                        <a:t>3.77 ± 2.20 %</a:t>
                      </a:r>
                      <a:endParaRPr/>
                    </a:p>
                  </a:txBody>
                  <a:tcPr marT="91425" marB="91425" marR="91425" marL="91425"/>
                </a:tc>
              </a:tr>
              <a:tr h="381000">
                <a:tc>
                  <a:txBody>
                    <a:bodyPr/>
                    <a:lstStyle/>
                    <a:p>
                      <a:pPr indent="0" lvl="0" marL="0" rtl="0" algn="l">
                        <a:spcBef>
                          <a:spcPts val="0"/>
                        </a:spcBef>
                        <a:spcAft>
                          <a:spcPts val="0"/>
                        </a:spcAft>
                        <a:buNone/>
                      </a:pPr>
                      <a:r>
                        <a:rPr lang="ja"/>
                        <a:t>ATE（回帰）</a:t>
                      </a:r>
                      <a:endParaRPr/>
                    </a:p>
                  </a:txBody>
                  <a:tcPr marT="91425" marB="91425" marR="91425" marL="91425"/>
                </a:tc>
                <a:tc>
                  <a:txBody>
                    <a:bodyPr/>
                    <a:lstStyle/>
                    <a:p>
                      <a:pPr indent="0" lvl="0" marL="0" rtl="0" algn="l">
                        <a:spcBef>
                          <a:spcPts val="0"/>
                        </a:spcBef>
                        <a:spcAft>
                          <a:spcPts val="0"/>
                        </a:spcAft>
                        <a:buNone/>
                      </a:pPr>
                      <a:r>
                        <a:rPr lang="ja"/>
                        <a:t>異常値</a:t>
                      </a:r>
                      <a:endParaRPr/>
                    </a:p>
                  </a:txBody>
                  <a:tcPr marT="91425" marB="91425" marR="91425" marL="91425"/>
                </a:tc>
              </a:tr>
            </a:tbl>
          </a:graphicData>
        </a:graphic>
      </p:graphicFrame>
      <p:sp>
        <p:nvSpPr>
          <p:cNvPr id="392" name="Google Shape;392;p28"/>
          <p:cNvSpPr txBox="1"/>
          <p:nvPr/>
        </p:nvSpPr>
        <p:spPr>
          <a:xfrm>
            <a:off x="578400" y="4040725"/>
            <a:ext cx="7755900" cy="8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300">
                <a:solidFill>
                  <a:schemeClr val="dk2"/>
                </a:solidFill>
                <a:latin typeface="Nunito"/>
                <a:ea typeface="Nunito"/>
                <a:cs typeface="Nunito"/>
                <a:sym typeface="Nunito"/>
              </a:rPr>
              <a:t>「まぐれ」対策のロバストネス</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ja" sz="1300">
                <a:solidFill>
                  <a:schemeClr val="dk2"/>
                </a:solidFill>
                <a:latin typeface="Nunito"/>
                <a:ea typeface="Nunito"/>
                <a:cs typeface="Nunito"/>
                <a:sym typeface="Nunito"/>
              </a:rPr>
              <a:t>・偽イベントテスト：イベント「前週同曜日」に移して効果がないことを確認</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ja" sz="1300">
                <a:solidFill>
                  <a:schemeClr val="dk2"/>
                </a:solidFill>
                <a:latin typeface="Nunito"/>
                <a:ea typeface="Nunito"/>
                <a:cs typeface="Nunito"/>
                <a:sym typeface="Nunito"/>
              </a:rPr>
              <a:t>・パーミュテーション：ラベルをシャッフルして帰無分布を作り、観測値のp値を見る</a:t>
            </a:r>
            <a:endParaRPr sz="1300">
              <a:solidFill>
                <a:schemeClr val="dk2"/>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参考</a:t>
            </a:r>
            <a:endParaRPr/>
          </a:p>
        </p:txBody>
      </p:sp>
      <p:sp>
        <p:nvSpPr>
          <p:cNvPr id="398" name="Google Shape;398;p2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ja"/>
              <a:t>「データサイエンスのための因果推論入門」（Udemy）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